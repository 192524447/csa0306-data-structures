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8B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Steps (relative, n=10)</c:v>
                </c:pt>
              </c:strCache>
            </c:strRef>
          </c:tx>
          <c:spPr>
            <a:solidFill>
              <a:srgbClr val="0B5FA5"/>
            </a:solidFill>
            <a:effectLst/>
          </c:spPr>
          <c:invertIfNegative val="0"/>
          <c:dPt>
            <c:idx val="0"/>
            <c:invertIfNegative val="0"/>
            <c:bubble3D val="0"/>
            <c:extLst>
              <c:ext xmlns:c16="http://schemas.microsoft.com/office/drawing/2014/chart" uri="{C3380CC4-5D6E-409C-BE32-E72D297353CC}">
                <c16:uniqueId val="{00000001-D7BF-468E-AB90-BF510F10A403}"/>
              </c:ext>
            </c:extLst>
          </c:dPt>
          <c:dPt>
            <c:idx val="1"/>
            <c:invertIfNegative val="0"/>
            <c:bubble3D val="0"/>
            <c:spPr>
              <a:solidFill>
                <a:srgbClr val="0B3D5C"/>
              </a:solidFill>
              <a:effectLst/>
            </c:spPr>
            <c:extLst>
              <c:ext xmlns:c16="http://schemas.microsoft.com/office/drawing/2014/chart" uri="{C3380CC4-5D6E-409C-BE32-E72D297353CC}">
                <c16:uniqueId val="{00000003-D7BF-468E-AB90-BF510F10A403}"/>
              </c:ext>
            </c:extLst>
          </c:dPt>
          <c:dPt>
            <c:idx val="2"/>
            <c:invertIfNegative val="0"/>
            <c:bubble3D val="0"/>
            <c:spPr>
              <a:solidFill>
                <a:srgbClr val="0E9594"/>
              </a:solidFill>
              <a:effectLst/>
            </c:spPr>
            <c:extLst>
              <c:ext xmlns:c16="http://schemas.microsoft.com/office/drawing/2014/chart" uri="{C3380CC4-5D6E-409C-BE32-E72D297353CC}">
                <c16:uniqueId val="{00000005-D7BF-468E-AB90-BF510F10A403}"/>
              </c:ext>
            </c:extLst>
          </c:dPt>
          <c:dPt>
            <c:idx val="3"/>
            <c:invertIfNegative val="0"/>
            <c:bubble3D val="0"/>
            <c:spPr>
              <a:solidFill>
                <a:srgbClr val="17C3A2"/>
              </a:solidFill>
              <a:effectLst/>
            </c:spPr>
            <c:extLst>
              <c:ext xmlns:c16="http://schemas.microsoft.com/office/drawing/2014/chart" uri="{C3380CC4-5D6E-409C-BE32-E72D297353CC}">
                <c16:uniqueId val="{00000007-D7BF-468E-AB90-BF510F10A403}"/>
              </c:ext>
            </c:extLst>
          </c:dPt>
          <c:dLbls>
            <c:numFmt formatCode="#,##0" sourceLinked="0"/>
            <c:spPr>
              <a:noFill/>
              <a:ln>
                <a:noFill/>
              </a:ln>
              <a:effectLst/>
            </c:spPr>
            <c:txPr>
              <a:bodyPr/>
              <a:lstStyle/>
              <a:p>
                <a:pPr>
                  <a:defRPr sz="1000" b="1" i="0" u="none" strike="noStrike">
                    <a:solidFill>
                      <a:srgbClr val="0B3D5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Insert</c:v>
                </c:pt>
                <c:pt idx="1">
                  <c:v>Delete</c:v>
                </c:pt>
                <c:pt idx="2">
                  <c:v>Search</c:v>
                </c:pt>
                <c:pt idx="3">
                  <c:v>Update</c:v>
                </c:pt>
              </c:strCache>
            </c:strRef>
          </c:cat>
          <c:val>
            <c:numRef>
              <c:f>Sheet1!$B$2:$B$5</c:f>
              <c:numCache>
                <c:formatCode>General</c:formatCode>
                <c:ptCount val="4"/>
                <c:pt idx="0">
                  <c:v>1</c:v>
                </c:pt>
                <c:pt idx="1">
                  <c:v>6</c:v>
                </c:pt>
                <c:pt idx="2">
                  <c:v>10</c:v>
                </c:pt>
                <c:pt idx="3">
                  <c:v>10</c:v>
                </c:pt>
              </c:numCache>
            </c:numRef>
          </c:val>
          <c:extLst>
            <c:ext xmlns:c16="http://schemas.microsoft.com/office/drawing/2014/chart" uri="{C3380CC4-5D6E-409C-BE32-E72D297353CC}">
              <c16:uniqueId val="{00000008-D7BF-468E-AB90-BF510F10A403}"/>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title>
          <c:tx>
            <c:rich>
              <a:bodyPr/>
              <a:lstStyle/>
              <a:p>
                <a:pPr>
                  <a:defRPr sz="900" b="0" i="0" u="none" strike="noStrike">
                    <a:solidFill>
                      <a:srgbClr val="5B6B79"/>
                    </a:solidFill>
                    <a:latin typeface="Arial"/>
                  </a:defRPr>
                </a:pPr>
                <a:r>
                  <a:rPr lang="en-US" sz="900" b="0" i="0" u="none" strike="noStrike">
                    <a:solidFill>
                      <a:srgbClr val="5B6B79"/>
                    </a:solidFill>
                    <a:latin typeface="Arial"/>
                  </a:rPr>
                  <a:t>Operation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9"/>
                </a:solidFill>
                <a:latin typeface="Arial"/>
              </a:defRPr>
            </a:pPr>
            <a:endParaRPr lang="en-US"/>
          </a:p>
        </c:txPr>
        <c:crossAx val="2094734552"/>
        <c:crosses val="autoZero"/>
        <c:auto val="1"/>
        <c:lblAlgn val="ctr"/>
        <c:lblOffset val="100"/>
        <c:noMultiLvlLbl val="1"/>
      </c:catAx>
      <c:valAx>
        <c:axId val="2094734552"/>
        <c:scaling>
          <c:orientation val="minMax"/>
          <c:max val="12"/>
        </c:scaling>
        <c:delete val="0"/>
        <c:axPos val="l"/>
        <c:majorGridlines>
          <c:spPr>
            <a:ln w="12700" cap="flat">
              <a:solidFill>
                <a:srgbClr val="D7E3ED"/>
              </a:solidFill>
              <a:prstDash val="solid"/>
              <a:round/>
            </a:ln>
          </c:spPr>
        </c:majorGridlines>
        <c:title>
          <c:tx>
            <c:rich>
              <a:bodyPr/>
              <a:lstStyle/>
              <a:p>
                <a:pPr>
                  <a:defRPr sz="900" b="0" i="0" u="none" strike="noStrike">
                    <a:solidFill>
                      <a:srgbClr val="5B6B79"/>
                    </a:solidFill>
                    <a:latin typeface="Arial"/>
                  </a:defRPr>
                </a:pPr>
                <a:r>
                  <a:rPr lang="en-US" sz="900" b="0" i="0" u="none" strike="noStrike">
                    <a:solidFill>
                      <a:srgbClr val="5B6B79"/>
                    </a:solidFill>
                    <a:latin typeface="Arial"/>
                  </a:rPr>
                  <a:t>Relative Steps</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3133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Greet the panel, introduce the topic: designing a dynamic waiting-list system for railway reservations using a linked list, and state that the talk will justify the choice with a full complexity analysis. Mention course code CSA03, assessment CO1-AT3, and introduce yourself with registration number.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railway waiting lists assign passengers sequential ranks once berths are full. Cancellations can occur at any position and at any time, so every passenger below the cancelled rank must be promoted by one position immediately. The small illustration shows passengers queuing at the reservation counter — a reminder that this is a real, everyday system. Emphasize the need for a data structure that supports fast mid-sequence deletion and automatic renumbering without shifting large blocks of memory, since the list length is unpredictable.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objectives: identifying a suitable structure, explaining its working mechanism, presenting an algorithm, performing a formal complexity analysis, and justifying the choice against alternative structures. Keep this brief — it is a roadmap for the rest of the talk.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singly linked list as the chosen data structure. Justify the choice: the waiting list size is unknown and constantly changing, deletions occur at arbitrary positions, and a linked list handles both through simple pointer re-linking rather than bulk shifting. Walk through the diagram: each node holds passenger details and a pointer to the next node, HEAD marks WL1, and the chain ends in NULL. Show the node structure definition.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working principle using the flowchart: a new booking is appended at the tail of the list; a cancellation triggers a traversal to locate and unlink the affected node; in both cases the list is then traversed once to renumber remaining passengers so ranks stay contiguous. If a confirmed seat frees up, the head of the waiting list is promoted.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CancelBooking procedure: locate the node before the cancelled position, re-link pointers to skip it, free the memory, then call RenumberList to reassign sequential positions in one pass. Use the worked example — Priya at WL2 cancels, Kabir and Sailaja each move up by one position — to make the pseudocode concrete.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complexity table. For deletion, explain it precisely: the unlinking operation itself is O(1), but locating the node requires traversing up to n nodes, so the overall deletion complexity becomes O(n). The same reasoning applies to search and update. Insertion is O(1) only with a maintained tail pointer. Space complexity for all operations is O(1) extra, with total structure space O(n). Use the bar chart — insertion in blue, deletion in navy, search in teal, update in mint — to visually show that insertion is by far the cheapest operation relative to the others.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arrays, linked lists, and array-based queues across insertion, mid-list deletion, memory usage, and flexibility. Arrays require costly shifting and fixed pre-allocation. Queues only support front/rear operations, so they cannot handle arbitrary-position cancellations natively. The linked list handles dynamic growth and mid-list deletion efficiently, making it the strongest fit for this problem.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a balanced evaluation. Advantages: dynamic sizing, efficient mid-list deletion, no bulk shifting, and a natural fit for sequential ranks. Limitations: no random access, extra pointer memory per node, O(n) search and update, and weaker cache locality than arrays. Acknowledging limitations honestly strengthens the technical credibility of the justification.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that the insert-and-dynamically-reorder pattern extends well beyond railways: hospital bed and procedure waiting lists, customer service call queues, and operating-system job scheduling all rely on the same underlying idea — a dynamically changing ordered list where entries are added, removed, and renumbered in real time.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argument: the waiting list's unpredictable, dynamic nature is best matched by a singly linked list, which achieves O(1) insertion and efficient cancellation through pointer re-linking, at O(n) total space. Reiterate that among array, linked list, and queue, only the linked list balances flexibility, memory economy, and correctness for this specific problem.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academic integrity declaration aloud, confirming that the presentation is original work prepared according to SIMATS assessment guidelines. Leave the signature and date lines for physical or digital signing before submission.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5C"/>
        </a:solidFill>
        <a:effectLst/>
      </p:bgPr>
    </p:bg>
    <p:spTree>
      <p:nvGrpSpPr>
        <p:cNvPr id="1" name=""/>
        <p:cNvGrpSpPr/>
        <p:nvPr/>
      </p:nvGrpSpPr>
      <p:grpSpPr>
        <a:xfrm>
          <a:off x="0" y="0"/>
          <a:ext cx="0" cy="0"/>
          <a:chOff x="0" y="0"/>
          <a:chExt cx="0" cy="0"/>
        </a:xfrm>
      </p:grpSpPr>
      <p:sp>
        <p:nvSpPr>
          <p:cNvPr id="2" name="Shape 0"/>
          <p:cNvSpPr/>
          <p:nvPr/>
        </p:nvSpPr>
        <p:spPr>
          <a:xfrm>
            <a:off x="8778240" y="-1463040"/>
            <a:ext cx="4754880" cy="4754880"/>
          </a:xfrm>
          <a:prstGeom prst="ellipse">
            <a:avLst/>
          </a:prstGeom>
          <a:solidFill>
            <a:srgbClr val="0B5FA5">
              <a:alpha val="70000"/>
            </a:srgbClr>
          </a:solidFill>
          <a:ln/>
        </p:spPr>
      </p:sp>
      <p:sp>
        <p:nvSpPr>
          <p:cNvPr id="3" name="Shape 1"/>
          <p:cNvSpPr/>
          <p:nvPr/>
        </p:nvSpPr>
        <p:spPr>
          <a:xfrm>
            <a:off x="10241280" y="4206240"/>
            <a:ext cx="3657600" cy="3657600"/>
          </a:xfrm>
          <a:prstGeom prst="ellipse">
            <a:avLst/>
          </a:prstGeom>
          <a:solidFill>
            <a:srgbClr val="0E9594">
              <a:alpha val="75000"/>
            </a:srgbClr>
          </a:solidFill>
          <a:ln/>
        </p:spPr>
      </p:sp>
      <p:sp>
        <p:nvSpPr>
          <p:cNvPr id="4" name="Shape 2"/>
          <p:cNvSpPr/>
          <p:nvPr/>
        </p:nvSpPr>
        <p:spPr>
          <a:xfrm>
            <a:off x="-1097280" y="5120640"/>
            <a:ext cx="4114800" cy="4114800"/>
          </a:xfrm>
          <a:prstGeom prst="roundRect">
            <a:avLst>
              <a:gd name="adj" fmla="val 8889"/>
            </a:avLst>
          </a:prstGeom>
          <a:solidFill>
            <a:srgbClr val="0E9594">
              <a:alpha val="45000"/>
            </a:srgbClr>
          </a:solidFill>
          <a:ln/>
        </p:spPr>
      </p:sp>
      <p:sp>
        <p:nvSpPr>
          <p:cNvPr id="5" name="Text 3"/>
          <p:cNvSpPr/>
          <p:nvPr/>
        </p:nvSpPr>
        <p:spPr>
          <a:xfrm>
            <a:off x="822960" y="1417320"/>
            <a:ext cx="7315200" cy="365760"/>
          </a:xfrm>
          <a:prstGeom prst="rect">
            <a:avLst/>
          </a:prstGeom>
          <a:noFill/>
          <a:ln/>
        </p:spPr>
        <p:txBody>
          <a:bodyPr wrap="square" lIns="0" tIns="0" rIns="0" bIns="0" rtlCol="0" anchor="ctr"/>
          <a:lstStyle/>
          <a:p>
            <a:pPr marL="0" indent="0">
              <a:buNone/>
            </a:pPr>
            <a:r>
              <a:rPr lang="en-US" sz="1400" b="1" kern="0" spc="300" dirty="0">
                <a:solidFill>
                  <a:srgbClr val="8FD6CC"/>
                </a:solidFill>
                <a:latin typeface="Times New Roman" pitchFamily="34" charset="0"/>
                <a:ea typeface="Times New Roman" pitchFamily="34" charset="-122"/>
                <a:cs typeface="Times New Roman" pitchFamily="34" charset="-120"/>
              </a:rPr>
              <a:t>CSA0306  •  DATA STRUCTURES</a:t>
            </a:r>
            <a:endParaRPr lang="en-US" sz="1400" dirty="0"/>
          </a:p>
        </p:txBody>
      </p:sp>
      <p:sp>
        <p:nvSpPr>
          <p:cNvPr id="6" name="Text 4"/>
          <p:cNvSpPr/>
          <p:nvPr/>
        </p:nvSpPr>
        <p:spPr>
          <a:xfrm>
            <a:off x="822960" y="1874520"/>
            <a:ext cx="8778240" cy="1737360"/>
          </a:xfrm>
          <a:prstGeom prst="rect">
            <a:avLst/>
          </a:prstGeom>
          <a:noFill/>
          <a:ln/>
        </p:spPr>
        <p:txBody>
          <a:bodyPr wrap="square" lIns="0" tIns="0" rIns="0" bIns="0" rtlCol="0" anchor="ctr"/>
          <a:lstStyle/>
          <a:p>
            <a:pPr marL="0" indent="0">
              <a:lnSpc>
                <a:spcPts val="4400"/>
              </a:lnSpc>
              <a:buNone/>
            </a:pPr>
            <a:r>
              <a:rPr lang="en-US" sz="3800" b="1" dirty="0">
                <a:solidFill>
                  <a:srgbClr val="FFFFFF"/>
                </a:solidFill>
                <a:latin typeface="Times New Roman" pitchFamily="34" charset="0"/>
                <a:ea typeface="Times New Roman" pitchFamily="34" charset="-122"/>
                <a:cs typeface="Times New Roman" pitchFamily="34" charset="-120"/>
              </a:rPr>
              <a:t>Dynamic Waiting List Management</a:t>
            </a:r>
            <a:endParaRPr lang="en-US" sz="3800" dirty="0"/>
          </a:p>
          <a:p>
            <a:pPr marL="0" indent="0">
              <a:lnSpc>
                <a:spcPts val="4400"/>
              </a:lnSpc>
              <a:buNone/>
            </a:pPr>
            <a:r>
              <a:rPr lang="en-US" sz="3800" b="1" dirty="0">
                <a:solidFill>
                  <a:srgbClr val="FFFFFF"/>
                </a:solidFill>
                <a:latin typeface="Times New Roman" pitchFamily="34" charset="0"/>
                <a:ea typeface="Times New Roman" pitchFamily="34" charset="-122"/>
                <a:cs typeface="Times New Roman" pitchFamily="34" charset="-120"/>
              </a:rPr>
              <a:t>for Railway Reservation Systems</a:t>
            </a:r>
            <a:endParaRPr lang="en-US" sz="3800" dirty="0"/>
          </a:p>
        </p:txBody>
      </p:sp>
      <p:sp>
        <p:nvSpPr>
          <p:cNvPr id="7" name="Text 5"/>
          <p:cNvSpPr/>
          <p:nvPr/>
        </p:nvSpPr>
        <p:spPr>
          <a:xfrm>
            <a:off x="822960" y="3611880"/>
            <a:ext cx="8412480" cy="457200"/>
          </a:xfrm>
          <a:prstGeom prst="rect">
            <a:avLst/>
          </a:prstGeom>
          <a:noFill/>
          <a:ln/>
        </p:spPr>
        <p:txBody>
          <a:bodyPr wrap="square" lIns="0" tIns="0" rIns="0" bIns="0" rtlCol="0" anchor="ctr"/>
          <a:lstStyle/>
          <a:p>
            <a:pPr marL="0" indent="0">
              <a:buNone/>
            </a:pPr>
            <a:r>
              <a:rPr lang="en-US" sz="1600" i="1" dirty="0">
                <a:solidFill>
                  <a:srgbClr val="C9DCEA"/>
                </a:solidFill>
                <a:latin typeface="Times New Roman" pitchFamily="34" charset="0"/>
                <a:ea typeface="Times New Roman" pitchFamily="34" charset="-122"/>
                <a:cs typeface="Times New Roman" pitchFamily="34" charset="-120"/>
              </a:rPr>
              <a:t>A Linked-List Based Approach — Complexity Analysis &amp; Justification</a:t>
            </a:r>
            <a:endParaRPr lang="en-US" sz="1600" dirty="0"/>
          </a:p>
        </p:txBody>
      </p:sp>
      <p:sp>
        <p:nvSpPr>
          <p:cNvPr id="8" name="Shape 6"/>
          <p:cNvSpPr/>
          <p:nvPr/>
        </p:nvSpPr>
        <p:spPr>
          <a:xfrm>
            <a:off x="822960" y="4251960"/>
            <a:ext cx="2011680" cy="0"/>
          </a:xfrm>
          <a:prstGeom prst="line">
            <a:avLst/>
          </a:prstGeom>
          <a:noFill/>
          <a:ln w="31750">
            <a:solidFill>
              <a:srgbClr val="17C3A2"/>
            </a:solidFill>
            <a:prstDash val="solid"/>
          </a:ln>
        </p:spPr>
      </p:sp>
      <p:sp>
        <p:nvSpPr>
          <p:cNvPr id="9" name="Text 7"/>
          <p:cNvSpPr/>
          <p:nvPr/>
        </p:nvSpPr>
        <p:spPr>
          <a:xfrm>
            <a:off x="822960" y="4434840"/>
            <a:ext cx="7315200" cy="320040"/>
          </a:xfrm>
          <a:prstGeom prst="rect">
            <a:avLst/>
          </a:prstGeom>
          <a:noFill/>
          <a:ln/>
        </p:spPr>
        <p:txBody>
          <a:bodyPr wrap="square" lIns="0" tIns="0" rIns="0" bIns="0" rtlCol="0" anchor="ctr"/>
          <a:lstStyle/>
          <a:p>
            <a:pPr marL="0" indent="0">
              <a:buNone/>
            </a:pPr>
            <a:r>
              <a:rPr lang="en-US" sz="1600" dirty="0">
                <a:solidFill>
                  <a:srgbClr val="C9DCEA"/>
                </a:solidFill>
                <a:latin typeface="Times New Roman" pitchFamily="34" charset="0"/>
                <a:ea typeface="Times New Roman" pitchFamily="34" charset="-122"/>
                <a:cs typeface="Times New Roman" pitchFamily="34" charset="-120"/>
              </a:rPr>
              <a:t>CO1 – Assessment Tool 3 – Technical Presentation</a:t>
            </a:r>
            <a:endParaRPr lang="en-US" sz="1600" dirty="0"/>
          </a:p>
        </p:txBody>
      </p:sp>
      <p:sp>
        <p:nvSpPr>
          <p:cNvPr id="10" name="Shape 8"/>
          <p:cNvSpPr/>
          <p:nvPr/>
        </p:nvSpPr>
        <p:spPr>
          <a:xfrm>
            <a:off x="822960" y="4983480"/>
            <a:ext cx="5120640" cy="1234440"/>
          </a:xfrm>
          <a:prstGeom prst="roundRect">
            <a:avLst>
              <a:gd name="adj" fmla="val 8889"/>
            </a:avLst>
          </a:prstGeom>
          <a:solidFill>
            <a:srgbClr val="FFFFFF">
              <a:alpha val="94000"/>
            </a:srgbClr>
          </a:solidFill>
          <a:ln w="12700">
            <a:solidFill>
              <a:srgbClr val="3E6A8A"/>
            </a:solidFill>
            <a:prstDash val="solid"/>
          </a:ln>
        </p:spPr>
      </p:sp>
      <p:pic>
        <p:nvPicPr>
          <p:cNvPr id="11" name="Image 0" descr="icons/signature_white.png"/>
          <p:cNvPicPr>
            <a:picLocks noChangeAspect="1"/>
          </p:cNvPicPr>
          <p:nvPr/>
        </p:nvPicPr>
        <p:blipFill>
          <a:blip r:embed="rId3"/>
          <a:stretch>
            <a:fillRect/>
          </a:stretch>
        </p:blipFill>
        <p:spPr>
          <a:xfrm>
            <a:off x="1051560" y="5230368"/>
            <a:ext cx="502920" cy="502920"/>
          </a:xfrm>
          <a:prstGeom prst="rect">
            <a:avLst/>
          </a:prstGeom>
        </p:spPr>
      </p:pic>
      <p:sp>
        <p:nvSpPr>
          <p:cNvPr id="12" name="Text 9"/>
          <p:cNvSpPr/>
          <p:nvPr/>
        </p:nvSpPr>
        <p:spPr>
          <a:xfrm>
            <a:off x="1737360" y="5120640"/>
            <a:ext cx="4023360" cy="320040"/>
          </a:xfrm>
          <a:prstGeom prst="rect">
            <a:avLst/>
          </a:prstGeom>
          <a:noFill/>
          <a:ln/>
        </p:spPr>
        <p:txBody>
          <a:bodyPr wrap="square" lIns="0" tIns="0" rIns="0" bIns="0" rtlCol="0" anchor="ctr"/>
          <a:lstStyle/>
          <a:p>
            <a:pPr marL="0" indent="0">
              <a:buNone/>
            </a:pPr>
            <a:r>
              <a:rPr lang="en-US" sz="1450" b="1" dirty="0">
                <a:solidFill>
                  <a:srgbClr val="8FD6CC"/>
                </a:solidFill>
                <a:latin typeface="Times New Roman" pitchFamily="34" charset="0"/>
                <a:ea typeface="Times New Roman" pitchFamily="34" charset="-122"/>
                <a:cs typeface="Times New Roman" pitchFamily="34" charset="-120"/>
              </a:rPr>
              <a:t>Presented By:  </a:t>
            </a:r>
            <a:r>
              <a:rPr lang="en-US" sz="1450" b="1" dirty="0">
                <a:solidFill>
                  <a:schemeClr val="accent1">
                    <a:lumMod val="75000"/>
                  </a:schemeClr>
                </a:solidFill>
                <a:latin typeface="Times New Roman" pitchFamily="34" charset="0"/>
                <a:ea typeface="Times New Roman" pitchFamily="34" charset="-122"/>
                <a:cs typeface="Times New Roman" pitchFamily="34" charset="-120"/>
              </a:rPr>
              <a:t>Variganji Sumanth Babu</a:t>
            </a:r>
            <a:endParaRPr lang="en-US" sz="1450" dirty="0">
              <a:solidFill>
                <a:schemeClr val="accent1">
                  <a:lumMod val="75000"/>
                </a:schemeClr>
              </a:solidFill>
            </a:endParaRPr>
          </a:p>
        </p:txBody>
      </p:sp>
      <p:sp>
        <p:nvSpPr>
          <p:cNvPr id="13" name="Text 10"/>
          <p:cNvSpPr/>
          <p:nvPr/>
        </p:nvSpPr>
        <p:spPr>
          <a:xfrm>
            <a:off x="1737360" y="5486400"/>
            <a:ext cx="4023360" cy="320040"/>
          </a:xfrm>
          <a:prstGeom prst="rect">
            <a:avLst/>
          </a:prstGeom>
          <a:noFill/>
          <a:ln/>
        </p:spPr>
        <p:txBody>
          <a:bodyPr wrap="square" lIns="0" tIns="0" rIns="0" bIns="0" rtlCol="0" anchor="ctr"/>
          <a:lstStyle/>
          <a:p>
            <a:pPr marL="0" indent="0">
              <a:buNone/>
            </a:pPr>
            <a:r>
              <a:rPr lang="en-US" sz="1450" b="1" dirty="0">
                <a:solidFill>
                  <a:srgbClr val="8FD6CC"/>
                </a:solidFill>
                <a:latin typeface="Times New Roman" pitchFamily="34" charset="0"/>
                <a:ea typeface="Times New Roman" pitchFamily="34" charset="-122"/>
                <a:cs typeface="Times New Roman" pitchFamily="34" charset="-120"/>
              </a:rPr>
              <a:t>Reg No:  </a:t>
            </a:r>
            <a:r>
              <a:rPr lang="en-US" sz="1450" b="1" dirty="0">
                <a:solidFill>
                  <a:schemeClr val="accent1">
                    <a:lumMod val="75000"/>
                  </a:schemeClr>
                </a:solidFill>
                <a:latin typeface="Times New Roman" pitchFamily="34" charset="0"/>
                <a:ea typeface="Times New Roman" pitchFamily="34" charset="-122"/>
                <a:cs typeface="Times New Roman" pitchFamily="34" charset="-120"/>
              </a:rPr>
              <a:t>192524447</a:t>
            </a:r>
            <a:endParaRPr lang="en-US" sz="1450" dirty="0">
              <a:solidFill>
                <a:schemeClr val="accent1">
                  <a:lumMod val="75000"/>
                </a:schemeClr>
              </a:solidFill>
            </a:endParaRPr>
          </a:p>
        </p:txBody>
      </p:sp>
      <p:sp>
        <p:nvSpPr>
          <p:cNvPr id="14" name="Text 11"/>
          <p:cNvSpPr/>
          <p:nvPr/>
        </p:nvSpPr>
        <p:spPr>
          <a:xfrm>
            <a:off x="1737360" y="5852160"/>
            <a:ext cx="4023360" cy="274320"/>
          </a:xfrm>
          <a:prstGeom prst="rect">
            <a:avLst/>
          </a:prstGeom>
          <a:noFill/>
          <a:ln/>
        </p:spPr>
        <p:txBody>
          <a:bodyPr wrap="square" lIns="0" tIns="0" rIns="0" bIns="0" rtlCol="0" anchor="ctr"/>
          <a:lstStyle/>
          <a:p>
            <a:pPr marL="0" indent="0">
              <a:buNone/>
            </a:pPr>
            <a:r>
              <a:rPr lang="en-US" sz="1100" i="1" dirty="0">
                <a:solidFill>
                  <a:schemeClr val="accent1">
                    <a:lumMod val="75000"/>
                  </a:schemeClr>
                </a:solidFill>
                <a:latin typeface="Times New Roman" pitchFamily="34" charset="0"/>
                <a:ea typeface="Times New Roman" pitchFamily="34" charset="-122"/>
                <a:cs typeface="Times New Roman" pitchFamily="34" charset="-120"/>
              </a:rPr>
              <a:t>SIMATS Engineering</a:t>
            </a:r>
            <a:endParaRPr lang="en-US" sz="1100" dirty="0">
              <a:solidFill>
                <a:schemeClr val="accent1">
                  <a:lumMod val="75000"/>
                </a:schemeClr>
              </a:solidFill>
            </a:endParaRPr>
          </a:p>
        </p:txBody>
      </p:sp>
      <p:sp>
        <p:nvSpPr>
          <p:cNvPr id="15" name="Shape 12"/>
          <p:cNvSpPr/>
          <p:nvPr/>
        </p:nvSpPr>
        <p:spPr>
          <a:xfrm>
            <a:off x="10561320" y="173736"/>
            <a:ext cx="1289304" cy="507676"/>
          </a:xfrm>
          <a:prstGeom prst="roundRect">
            <a:avLst>
              <a:gd name="adj" fmla="val 10807"/>
            </a:avLst>
          </a:prstGeom>
          <a:solidFill>
            <a:srgbClr val="FFFFFF">
              <a:alpha val="94000"/>
            </a:srgbClr>
          </a:solidFill>
          <a:ln/>
        </p:spPr>
      </p:sp>
      <p:pic>
        <p:nvPicPr>
          <p:cNvPr id="16" name="Image 1" descr="assets/simats_logo.png"/>
          <p:cNvPicPr>
            <a:picLocks noChangeAspect="1"/>
          </p:cNvPicPr>
          <p:nvPr/>
        </p:nvPicPr>
        <p:blipFill>
          <a:blip r:embed="rId4"/>
          <a:stretch>
            <a:fillRect/>
          </a:stretch>
        </p:blipFill>
        <p:spPr>
          <a:xfrm>
            <a:off x="10680192" y="292608"/>
            <a:ext cx="1051560" cy="269932"/>
          </a:xfrm>
          <a:prstGeom prst="rect">
            <a:avLst/>
          </a:prstGeom>
        </p:spPr>
      </p:pic>
      <p:sp>
        <p:nvSpPr>
          <p:cNvPr id="17" name="Text 13"/>
          <p:cNvSpPr/>
          <p:nvPr/>
        </p:nvSpPr>
        <p:spPr>
          <a:xfrm>
            <a:off x="457200" y="6411517"/>
            <a:ext cx="7772400" cy="274320"/>
          </a:xfrm>
          <a:prstGeom prst="rect">
            <a:avLst/>
          </a:prstGeom>
          <a:noFill/>
          <a:ln/>
        </p:spPr>
        <p:txBody>
          <a:bodyPr wrap="square" lIns="0" tIns="0" rIns="0" bIns="0" rtlCol="0" anchor="ctr"/>
          <a:lstStyle/>
          <a:p>
            <a:pPr marL="0" indent="0" algn="l">
              <a:buNone/>
            </a:pPr>
            <a:r>
              <a:rPr lang="en-US" sz="1200" dirty="0">
                <a:solidFill>
                  <a:srgbClr val="AFC6D8"/>
                </a:solidFill>
                <a:latin typeface="Times New Roman" pitchFamily="34" charset="0"/>
                <a:ea typeface="Times New Roman" pitchFamily="34" charset="-122"/>
                <a:cs typeface="Times New Roman" pitchFamily="34" charset="-120"/>
              </a:rPr>
              <a:t>CSA0306 | CO1 – AT3 | Variganji Sumanth Babu | Reg No: 192524447</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marL="0" indent="0">
              <a:buNone/>
            </a:pPr>
            <a:r>
              <a:rPr lang="en-US" sz="1400" b="1" kern="0" spc="200" dirty="0">
                <a:solidFill>
                  <a:srgbClr val="0E9594"/>
                </a:solidFill>
                <a:latin typeface="Times New Roman" pitchFamily="34" charset="0"/>
                <a:ea typeface="Times New Roman" pitchFamily="34" charset="-122"/>
                <a:cs typeface="Times New Roman" pitchFamily="34" charset="-120"/>
              </a:rPr>
              <a:t>PROBLEM STATEMENT</a:t>
            </a:r>
            <a:endParaRPr lang="en-US" sz="1400" dirty="0"/>
          </a:p>
        </p:txBody>
      </p:sp>
      <p:sp>
        <p:nvSpPr>
          <p:cNvPr id="3" name="Text 1"/>
          <p:cNvSpPr/>
          <p:nvPr/>
        </p:nvSpPr>
        <p:spPr>
          <a:xfrm>
            <a:off x="548640" y="658368"/>
            <a:ext cx="9464040" cy="640080"/>
          </a:xfrm>
          <a:prstGeom prst="rect">
            <a:avLst/>
          </a:prstGeom>
          <a:noFill/>
          <a:ln/>
        </p:spPr>
        <p:txBody>
          <a:bodyPr wrap="square" lIns="0" tIns="0" rIns="0" bIns="0" rtlCol="0" anchor="ctr"/>
          <a:lstStyle/>
          <a:p>
            <a:pPr marL="0" indent="0">
              <a:buNone/>
            </a:pPr>
            <a:r>
              <a:rPr lang="en-US" sz="3000" b="1" dirty="0">
                <a:solidFill>
                  <a:srgbClr val="0B3D5C"/>
                </a:solidFill>
                <a:latin typeface="Times New Roman" pitchFamily="34" charset="0"/>
                <a:ea typeface="Times New Roman" pitchFamily="34" charset="-122"/>
                <a:cs typeface="Times New Roman" pitchFamily="34" charset="-120"/>
              </a:rPr>
              <a:t>The Railway Waiting-List Challenge</a:t>
            </a:r>
            <a:endParaRPr lang="en-US" sz="3000" dirty="0"/>
          </a:p>
        </p:txBody>
      </p:sp>
      <p:sp>
        <p:nvSpPr>
          <p:cNvPr id="4" name="Shape 2"/>
          <p:cNvSpPr/>
          <p:nvPr/>
        </p:nvSpPr>
        <p:spPr>
          <a:xfrm>
            <a:off x="548640" y="1508760"/>
            <a:ext cx="6492240" cy="4617720"/>
          </a:xfrm>
          <a:prstGeom prst="roundRect">
            <a:avLst>
              <a:gd name="adj" fmla="val 2376"/>
            </a:avLst>
          </a:prstGeom>
          <a:solidFill>
            <a:srgbClr val="EAF3FB"/>
          </a:solidFill>
          <a:ln/>
        </p:spPr>
      </p:sp>
      <p:sp>
        <p:nvSpPr>
          <p:cNvPr id="5" name="Text 3"/>
          <p:cNvSpPr/>
          <p:nvPr/>
        </p:nvSpPr>
        <p:spPr>
          <a:xfrm>
            <a:off x="868680" y="1691640"/>
            <a:ext cx="4572000" cy="292608"/>
          </a:xfrm>
          <a:prstGeom prst="rect">
            <a:avLst/>
          </a:prstGeom>
          <a:noFill/>
          <a:ln/>
        </p:spPr>
        <p:txBody>
          <a:bodyPr wrap="square" lIns="0" tIns="0" rIns="0" bIns="0" rtlCol="0" anchor="ctr"/>
          <a:lstStyle/>
          <a:p>
            <a:pPr marL="0" indent="0">
              <a:buNone/>
            </a:pPr>
            <a:r>
              <a:rPr lang="en-US" sz="1500" b="1" dirty="0">
                <a:solidFill>
                  <a:srgbClr val="0B3D5C"/>
                </a:solidFill>
                <a:latin typeface="Times New Roman" pitchFamily="34" charset="0"/>
                <a:ea typeface="Times New Roman" pitchFamily="34" charset="-122"/>
                <a:cs typeface="Times New Roman" pitchFamily="34" charset="-120"/>
              </a:rPr>
              <a:t>Scenario</a:t>
            </a:r>
            <a:endParaRPr lang="en-US" sz="1500" dirty="0"/>
          </a:p>
        </p:txBody>
      </p:sp>
      <p:sp>
        <p:nvSpPr>
          <p:cNvPr id="6" name="Text 4"/>
          <p:cNvSpPr/>
          <p:nvPr/>
        </p:nvSpPr>
        <p:spPr>
          <a:xfrm>
            <a:off x="868680" y="2011680"/>
            <a:ext cx="5852160" cy="914400"/>
          </a:xfrm>
          <a:prstGeom prst="rect">
            <a:avLst/>
          </a:prstGeom>
          <a:noFill/>
          <a:ln/>
        </p:spPr>
        <p:txBody>
          <a:bodyPr wrap="square" lIns="0" tIns="0" rIns="0" bIns="0" rtlCol="0" anchor="ctr"/>
          <a:lstStyle/>
          <a:p>
            <a:pPr marL="0" indent="0">
              <a:lnSpc>
                <a:spcPts val="1750"/>
              </a:lnSpc>
              <a:buNone/>
            </a:pPr>
            <a:r>
              <a:rPr lang="en-US" sz="1600" dirty="0">
                <a:solidFill>
                  <a:srgbClr val="1F2A37"/>
                </a:solidFill>
                <a:latin typeface="Times New Roman" pitchFamily="34" charset="0"/>
                <a:ea typeface="Times New Roman" pitchFamily="34" charset="-122"/>
                <a:cs typeface="Times New Roman" pitchFamily="34" charset="-120"/>
              </a:rPr>
              <a:t>When train tickets are fully booked, new passengers are placed on a Waiting List (WL) in the order they book. As confirmed passengers cancel, every waiting passenger below them must move up by exactly one position — instantly and correctly.</a:t>
            </a:r>
            <a:endParaRPr lang="en-US" sz="1600" dirty="0"/>
          </a:p>
        </p:txBody>
      </p:sp>
      <p:sp>
        <p:nvSpPr>
          <p:cNvPr id="7" name="Text 5"/>
          <p:cNvSpPr/>
          <p:nvPr/>
        </p:nvSpPr>
        <p:spPr>
          <a:xfrm>
            <a:off x="868680" y="2999232"/>
            <a:ext cx="5486400" cy="292608"/>
          </a:xfrm>
          <a:prstGeom prst="rect">
            <a:avLst/>
          </a:prstGeom>
          <a:noFill/>
          <a:ln/>
        </p:spPr>
        <p:txBody>
          <a:bodyPr wrap="square" lIns="0" tIns="0" rIns="0" bIns="0" rtlCol="0" anchor="ctr"/>
          <a:lstStyle/>
          <a:p>
            <a:pPr marL="0" indent="0">
              <a:buNone/>
            </a:pPr>
            <a:r>
              <a:rPr lang="en-US" sz="1500" b="1" dirty="0">
                <a:solidFill>
                  <a:srgbClr val="0B3D5C"/>
                </a:solidFill>
                <a:latin typeface="Times New Roman" pitchFamily="34" charset="0"/>
                <a:ea typeface="Times New Roman" pitchFamily="34" charset="-122"/>
                <a:cs typeface="Times New Roman" pitchFamily="34" charset="-120"/>
              </a:rPr>
              <a:t>Why Dynamic Updates Are Required</a:t>
            </a:r>
            <a:endParaRPr lang="en-US" sz="1500" dirty="0"/>
          </a:p>
        </p:txBody>
      </p:sp>
      <p:sp>
        <p:nvSpPr>
          <p:cNvPr id="8" name="Text 6"/>
          <p:cNvSpPr/>
          <p:nvPr/>
        </p:nvSpPr>
        <p:spPr>
          <a:xfrm>
            <a:off x="868680" y="3319272"/>
            <a:ext cx="5852160" cy="1783080"/>
          </a:xfrm>
          <a:prstGeom prst="rect">
            <a:avLst/>
          </a:prstGeom>
          <a:noFill/>
          <a:ln/>
        </p:spPr>
        <p:txBody>
          <a:bodyPr wrap="square" lIns="0" tIns="0" rIns="0" bIns="0" rtlCol="0" anchor="ctr"/>
          <a:lstStyle/>
          <a:p>
            <a:pPr marL="177800" indent="-177800">
              <a:lnSpc>
                <a:spcPts val="1750"/>
              </a:lnSpc>
              <a:spcAft>
                <a:spcPts val="400"/>
              </a:spcAft>
              <a:buSzPct val="100000"/>
              <a:buChar char="•"/>
            </a:pPr>
            <a:r>
              <a:rPr lang="en-US" sz="1600" dirty="0">
                <a:solidFill>
                  <a:srgbClr val="1F2A37"/>
                </a:solidFill>
                <a:latin typeface="Times New Roman" pitchFamily="34" charset="0"/>
                <a:ea typeface="Times New Roman" pitchFamily="34" charset="-122"/>
                <a:cs typeface="Times New Roman" pitchFamily="34" charset="-120"/>
              </a:rPr>
              <a:t>Cancellations happen at random positions, at any time, in real time.</a:t>
            </a:r>
            <a:endParaRPr lang="en-US" sz="1600" dirty="0"/>
          </a:p>
          <a:p>
            <a:pPr marL="177800" indent="-177800">
              <a:lnSpc>
                <a:spcPts val="1750"/>
              </a:lnSpc>
              <a:spcAft>
                <a:spcPts val="400"/>
              </a:spcAft>
              <a:buSzPct val="100000"/>
              <a:buChar char="•"/>
            </a:pPr>
            <a:r>
              <a:rPr lang="en-US" sz="1600" dirty="0">
                <a:solidFill>
                  <a:srgbClr val="1F2A37"/>
                </a:solidFill>
                <a:latin typeface="Times New Roman" pitchFamily="34" charset="0"/>
                <a:ea typeface="Times New Roman" pitchFamily="34" charset="-122"/>
                <a:cs typeface="Times New Roman" pitchFamily="34" charset="-120"/>
              </a:rPr>
              <a:t>Every passenger below the cancelled position must shift up by one rank.</a:t>
            </a:r>
            <a:endParaRPr lang="en-US" sz="1600" dirty="0"/>
          </a:p>
          <a:p>
            <a:pPr marL="177800" indent="-177800">
              <a:lnSpc>
                <a:spcPts val="1750"/>
              </a:lnSpc>
              <a:spcAft>
                <a:spcPts val="400"/>
              </a:spcAft>
              <a:buSzPct val="100000"/>
              <a:buChar char="•"/>
            </a:pPr>
            <a:r>
              <a:rPr lang="en-US" sz="1600" dirty="0">
                <a:solidFill>
                  <a:srgbClr val="1F2A37"/>
                </a:solidFill>
                <a:latin typeface="Times New Roman" pitchFamily="34" charset="0"/>
                <a:ea typeface="Times New Roman" pitchFamily="34" charset="-122"/>
                <a:cs typeface="Times New Roman" pitchFamily="34" charset="-120"/>
              </a:rPr>
              <a:t>The list size is unpredictable — it grows and shrinks continuously.</a:t>
            </a:r>
            <a:endParaRPr lang="en-US" sz="1600" dirty="0"/>
          </a:p>
          <a:p>
            <a:pPr marL="177800" indent="-177800">
              <a:lnSpc>
                <a:spcPts val="1750"/>
              </a:lnSpc>
              <a:spcAft>
                <a:spcPts val="400"/>
              </a:spcAft>
              <a:buSzPct val="100000"/>
              <a:buChar char="•"/>
            </a:pPr>
            <a:r>
              <a:rPr lang="en-US" sz="1600" dirty="0">
                <a:solidFill>
                  <a:srgbClr val="1F2A37"/>
                </a:solidFill>
                <a:latin typeface="Times New Roman" pitchFamily="34" charset="0"/>
                <a:ea typeface="Times New Roman" pitchFamily="34" charset="-122"/>
                <a:cs typeface="Times New Roman" pitchFamily="34" charset="-120"/>
              </a:rPr>
              <a:t>Position lookups and updates must stay fast even as WL length varies.</a:t>
            </a:r>
            <a:endParaRPr lang="en-US" sz="1600" dirty="0"/>
          </a:p>
          <a:p>
            <a:pPr marL="177800" indent="-177800">
              <a:lnSpc>
                <a:spcPts val="1750"/>
              </a:lnSpc>
              <a:spcAft>
                <a:spcPts val="400"/>
              </a:spcAft>
              <a:buSzPct val="100000"/>
              <a:buChar char="•"/>
            </a:pPr>
            <a:r>
              <a:rPr lang="en-US" sz="1600" dirty="0">
                <a:solidFill>
                  <a:srgbClr val="1F2A37"/>
                </a:solidFill>
                <a:latin typeface="Times New Roman" pitchFamily="34" charset="0"/>
                <a:ea typeface="Times New Roman" pitchFamily="34" charset="-122"/>
                <a:cs typeface="Times New Roman" pitchFamily="34" charset="-120"/>
              </a:rPr>
              <a:t>Wrong or delayed updates cause incorrect boarding/refund decisions.</a:t>
            </a:r>
            <a:endParaRPr lang="en-US" sz="1600" dirty="0"/>
          </a:p>
        </p:txBody>
      </p:sp>
      <p:sp>
        <p:nvSpPr>
          <p:cNvPr id="9" name="Shape 7"/>
          <p:cNvSpPr/>
          <p:nvPr/>
        </p:nvSpPr>
        <p:spPr>
          <a:xfrm>
            <a:off x="868680" y="5285232"/>
            <a:ext cx="5852160" cy="685800"/>
          </a:xfrm>
          <a:prstGeom prst="roundRect">
            <a:avLst>
              <a:gd name="adj" fmla="val 12000"/>
            </a:avLst>
          </a:prstGeom>
          <a:solidFill>
            <a:srgbClr val="FFFFFF"/>
          </a:solidFill>
          <a:ln/>
        </p:spPr>
      </p:sp>
      <p:sp>
        <p:nvSpPr>
          <p:cNvPr id="10" name="Shape 8"/>
          <p:cNvSpPr/>
          <p:nvPr/>
        </p:nvSpPr>
        <p:spPr>
          <a:xfrm>
            <a:off x="1024128" y="5376672"/>
            <a:ext cx="502920" cy="502920"/>
          </a:xfrm>
          <a:prstGeom prst="ellipse">
            <a:avLst/>
          </a:prstGeom>
          <a:solidFill>
            <a:srgbClr val="0B5FA5"/>
          </a:solidFill>
          <a:ln/>
        </p:spPr>
      </p:sp>
      <p:pic>
        <p:nvPicPr>
          <p:cNvPr id="11" name="Image 0" descr="icons/train_white.png"/>
          <p:cNvPicPr>
            <a:picLocks noChangeAspect="1"/>
          </p:cNvPicPr>
          <p:nvPr/>
        </p:nvPicPr>
        <p:blipFill>
          <a:blip r:embed="rId3"/>
          <a:stretch>
            <a:fillRect/>
          </a:stretch>
        </p:blipFill>
        <p:spPr>
          <a:xfrm>
            <a:off x="1084478" y="5437022"/>
            <a:ext cx="382219" cy="382219"/>
          </a:xfrm>
          <a:prstGeom prst="rect">
            <a:avLst/>
          </a:prstGeom>
        </p:spPr>
      </p:pic>
      <p:sp>
        <p:nvSpPr>
          <p:cNvPr id="12" name="Shape 9"/>
          <p:cNvSpPr/>
          <p:nvPr/>
        </p:nvSpPr>
        <p:spPr>
          <a:xfrm>
            <a:off x="1874520" y="5815584"/>
            <a:ext cx="4480560" cy="0"/>
          </a:xfrm>
          <a:prstGeom prst="line">
            <a:avLst/>
          </a:prstGeom>
          <a:noFill/>
          <a:ln w="15875">
            <a:solidFill>
              <a:srgbClr val="C7D8E4"/>
            </a:solidFill>
            <a:prstDash val="dash"/>
          </a:ln>
        </p:spPr>
      </p:sp>
      <p:sp>
        <p:nvSpPr>
          <p:cNvPr id="13" name="Shape 10"/>
          <p:cNvSpPr/>
          <p:nvPr/>
        </p:nvSpPr>
        <p:spPr>
          <a:xfrm>
            <a:off x="2123054" y="5413248"/>
            <a:ext cx="161300" cy="161300"/>
          </a:xfrm>
          <a:prstGeom prst="ellipse">
            <a:avLst/>
          </a:prstGeom>
          <a:solidFill>
            <a:srgbClr val="0E9594"/>
          </a:solidFill>
          <a:ln/>
        </p:spPr>
      </p:sp>
      <p:sp>
        <p:nvSpPr>
          <p:cNvPr id="14" name="Shape 11"/>
          <p:cNvSpPr/>
          <p:nvPr/>
        </p:nvSpPr>
        <p:spPr>
          <a:xfrm>
            <a:off x="2053925" y="5545514"/>
            <a:ext cx="299557" cy="192024"/>
          </a:xfrm>
          <a:prstGeom prst="roundRect">
            <a:avLst>
              <a:gd name="adj" fmla="val 46800"/>
            </a:avLst>
          </a:prstGeom>
          <a:solidFill>
            <a:srgbClr val="0E9594"/>
          </a:solidFill>
          <a:ln/>
        </p:spPr>
      </p:sp>
      <p:sp>
        <p:nvSpPr>
          <p:cNvPr id="15" name="Shape 12"/>
          <p:cNvSpPr/>
          <p:nvPr/>
        </p:nvSpPr>
        <p:spPr>
          <a:xfrm>
            <a:off x="2689982" y="5413248"/>
            <a:ext cx="161300" cy="161300"/>
          </a:xfrm>
          <a:prstGeom prst="ellipse">
            <a:avLst/>
          </a:prstGeom>
          <a:solidFill>
            <a:srgbClr val="0B5FA5"/>
          </a:solidFill>
          <a:ln/>
        </p:spPr>
      </p:sp>
      <p:sp>
        <p:nvSpPr>
          <p:cNvPr id="16" name="Shape 13"/>
          <p:cNvSpPr/>
          <p:nvPr/>
        </p:nvSpPr>
        <p:spPr>
          <a:xfrm>
            <a:off x="2620853" y="5545514"/>
            <a:ext cx="299557" cy="192024"/>
          </a:xfrm>
          <a:prstGeom prst="roundRect">
            <a:avLst>
              <a:gd name="adj" fmla="val 46800"/>
            </a:avLst>
          </a:prstGeom>
          <a:solidFill>
            <a:srgbClr val="0B5FA5"/>
          </a:solidFill>
          <a:ln/>
        </p:spPr>
      </p:sp>
      <p:sp>
        <p:nvSpPr>
          <p:cNvPr id="17" name="Shape 14"/>
          <p:cNvSpPr/>
          <p:nvPr/>
        </p:nvSpPr>
        <p:spPr>
          <a:xfrm>
            <a:off x="3256910" y="5413248"/>
            <a:ext cx="161300" cy="161300"/>
          </a:xfrm>
          <a:prstGeom prst="ellipse">
            <a:avLst/>
          </a:prstGeom>
          <a:solidFill>
            <a:srgbClr val="0E9594"/>
          </a:solidFill>
          <a:ln/>
        </p:spPr>
      </p:sp>
      <p:sp>
        <p:nvSpPr>
          <p:cNvPr id="18" name="Shape 15"/>
          <p:cNvSpPr/>
          <p:nvPr/>
        </p:nvSpPr>
        <p:spPr>
          <a:xfrm>
            <a:off x="3187781" y="5545514"/>
            <a:ext cx="299557" cy="192024"/>
          </a:xfrm>
          <a:prstGeom prst="roundRect">
            <a:avLst>
              <a:gd name="adj" fmla="val 46800"/>
            </a:avLst>
          </a:prstGeom>
          <a:solidFill>
            <a:srgbClr val="0E9594"/>
          </a:solidFill>
          <a:ln/>
        </p:spPr>
      </p:sp>
      <p:sp>
        <p:nvSpPr>
          <p:cNvPr id="19" name="Shape 16"/>
          <p:cNvSpPr/>
          <p:nvPr/>
        </p:nvSpPr>
        <p:spPr>
          <a:xfrm>
            <a:off x="3823838" y="5413248"/>
            <a:ext cx="161300" cy="161300"/>
          </a:xfrm>
          <a:prstGeom prst="ellipse">
            <a:avLst/>
          </a:prstGeom>
          <a:solidFill>
            <a:srgbClr val="9AB6C9"/>
          </a:solidFill>
          <a:ln/>
        </p:spPr>
      </p:sp>
      <p:sp>
        <p:nvSpPr>
          <p:cNvPr id="20" name="Shape 17"/>
          <p:cNvSpPr/>
          <p:nvPr/>
        </p:nvSpPr>
        <p:spPr>
          <a:xfrm>
            <a:off x="3754709" y="5545514"/>
            <a:ext cx="299557" cy="192024"/>
          </a:xfrm>
          <a:prstGeom prst="roundRect">
            <a:avLst>
              <a:gd name="adj" fmla="val 46800"/>
            </a:avLst>
          </a:prstGeom>
          <a:solidFill>
            <a:srgbClr val="9AB6C9"/>
          </a:solidFill>
          <a:ln/>
        </p:spPr>
      </p:sp>
      <p:sp>
        <p:nvSpPr>
          <p:cNvPr id="21" name="Text 18"/>
          <p:cNvSpPr/>
          <p:nvPr/>
        </p:nvSpPr>
        <p:spPr>
          <a:xfrm>
            <a:off x="4343400" y="5407761"/>
            <a:ext cx="2331720" cy="411480"/>
          </a:xfrm>
          <a:prstGeom prst="rect">
            <a:avLst/>
          </a:prstGeom>
          <a:noFill/>
          <a:ln/>
        </p:spPr>
        <p:txBody>
          <a:bodyPr wrap="square" lIns="0" tIns="0" rIns="0" bIns="0" rtlCol="0" anchor="ctr"/>
          <a:lstStyle/>
          <a:p>
            <a:pPr marL="0" indent="0">
              <a:lnSpc>
                <a:spcPts val="1200"/>
              </a:lnSpc>
              <a:buNone/>
            </a:pPr>
            <a:r>
              <a:rPr lang="en-US" sz="1200" i="1" dirty="0">
                <a:solidFill>
                  <a:srgbClr val="5B6B79"/>
                </a:solidFill>
                <a:latin typeface="Times New Roman" pitchFamily="34" charset="0"/>
                <a:ea typeface="Times New Roman" pitchFamily="34" charset="-122"/>
                <a:cs typeface="Times New Roman" pitchFamily="34" charset="-120"/>
              </a:rPr>
              <a:t>Passengers form a waiting queue at the reservation counter</a:t>
            </a:r>
            <a:endParaRPr lang="en-US" sz="1200" dirty="0"/>
          </a:p>
        </p:txBody>
      </p:sp>
      <p:sp>
        <p:nvSpPr>
          <p:cNvPr id="22" name="Shape 19"/>
          <p:cNvSpPr/>
          <p:nvPr/>
        </p:nvSpPr>
        <p:spPr>
          <a:xfrm>
            <a:off x="7413521" y="1508760"/>
            <a:ext cx="4343400" cy="4617720"/>
          </a:xfrm>
          <a:prstGeom prst="roundRect">
            <a:avLst>
              <a:gd name="adj" fmla="val 2526"/>
            </a:avLst>
          </a:prstGeom>
          <a:solidFill>
            <a:srgbClr val="0B3D5C"/>
          </a:solidFill>
          <a:ln/>
        </p:spPr>
      </p:sp>
      <p:sp>
        <p:nvSpPr>
          <p:cNvPr id="23" name="Text 20"/>
          <p:cNvSpPr/>
          <p:nvPr/>
        </p:nvSpPr>
        <p:spPr>
          <a:xfrm>
            <a:off x="7589520" y="1719072"/>
            <a:ext cx="3749040" cy="292608"/>
          </a:xfrm>
          <a:prstGeom prst="rect">
            <a:avLst/>
          </a:prstGeom>
          <a:noFill/>
          <a:ln/>
        </p:spPr>
        <p:txBody>
          <a:bodyPr wrap="square" lIns="0" tIns="0" rIns="0" bIns="0" rtlCol="0" anchor="ctr"/>
          <a:lstStyle/>
          <a:p>
            <a:pPr marL="0" indent="0">
              <a:buNone/>
            </a:pPr>
            <a:r>
              <a:rPr lang="en-US" sz="1400" b="1" dirty="0">
                <a:solidFill>
                  <a:srgbClr val="8FD6CC"/>
                </a:solidFill>
                <a:latin typeface="Times New Roman" pitchFamily="34" charset="0"/>
                <a:ea typeface="Times New Roman" pitchFamily="34" charset="-122"/>
                <a:cs typeface="Times New Roman" pitchFamily="34" charset="-120"/>
              </a:rPr>
              <a:t>Position Shift Example</a:t>
            </a:r>
            <a:endParaRPr lang="en-US" sz="1400" dirty="0"/>
          </a:p>
        </p:txBody>
      </p:sp>
      <p:sp>
        <p:nvSpPr>
          <p:cNvPr id="24" name="Shape 21"/>
          <p:cNvSpPr/>
          <p:nvPr/>
        </p:nvSpPr>
        <p:spPr>
          <a:xfrm>
            <a:off x="7589520" y="2148840"/>
            <a:ext cx="1783080" cy="420624"/>
          </a:xfrm>
          <a:prstGeom prst="roundRect">
            <a:avLst>
              <a:gd name="adj" fmla="val 17391"/>
            </a:avLst>
          </a:prstGeom>
          <a:solidFill>
            <a:srgbClr val="0B5FA5"/>
          </a:solidFill>
          <a:ln/>
        </p:spPr>
      </p:sp>
      <p:sp>
        <p:nvSpPr>
          <p:cNvPr id="25" name="Text 22"/>
          <p:cNvSpPr/>
          <p:nvPr/>
        </p:nvSpPr>
        <p:spPr>
          <a:xfrm>
            <a:off x="7699248" y="2167128"/>
            <a:ext cx="1600200" cy="384048"/>
          </a:xfrm>
          <a:prstGeom prst="rect">
            <a:avLst/>
          </a:prstGeom>
          <a:noFill/>
          <a:ln/>
        </p:spPr>
        <p:txBody>
          <a:bodyPr wrap="square" lIns="0" tIns="0" rIns="0" bIns="0" rtlCol="0" anchor="ctr"/>
          <a:lstStyle/>
          <a:p>
            <a:pPr marL="0" indent="0">
              <a:buNone/>
            </a:pPr>
            <a:r>
              <a:rPr lang="en-US" sz="1200" dirty="0">
                <a:solidFill>
                  <a:srgbClr val="FFFFFF"/>
                </a:solidFill>
                <a:latin typeface="Times New Roman" pitchFamily="34" charset="0"/>
                <a:ea typeface="Times New Roman" pitchFamily="34" charset="-122"/>
                <a:cs typeface="Times New Roman" pitchFamily="34" charset="-120"/>
              </a:rPr>
              <a:t>WL1 – Arjun</a:t>
            </a:r>
            <a:endParaRPr lang="en-US" sz="1200" dirty="0"/>
          </a:p>
        </p:txBody>
      </p:sp>
      <p:sp>
        <p:nvSpPr>
          <p:cNvPr id="26" name="Shape 23"/>
          <p:cNvSpPr/>
          <p:nvPr/>
        </p:nvSpPr>
        <p:spPr>
          <a:xfrm>
            <a:off x="7589520" y="2715768"/>
            <a:ext cx="1783080" cy="420624"/>
          </a:xfrm>
          <a:prstGeom prst="roundRect">
            <a:avLst>
              <a:gd name="adj" fmla="val 17391"/>
            </a:avLst>
          </a:prstGeom>
          <a:solidFill>
            <a:srgbClr val="8A3B3B">
              <a:alpha val="75000"/>
            </a:srgbClr>
          </a:solidFill>
          <a:ln/>
        </p:spPr>
      </p:sp>
      <p:sp>
        <p:nvSpPr>
          <p:cNvPr id="27" name="Text 24"/>
          <p:cNvSpPr/>
          <p:nvPr/>
        </p:nvSpPr>
        <p:spPr>
          <a:xfrm>
            <a:off x="7699248" y="2734056"/>
            <a:ext cx="1600200" cy="384048"/>
          </a:xfrm>
          <a:prstGeom prst="rect">
            <a:avLst/>
          </a:prstGeom>
          <a:noFill/>
          <a:ln/>
        </p:spPr>
        <p:txBody>
          <a:bodyPr wrap="square" lIns="0" tIns="0" rIns="0" bIns="0" rtlCol="0" anchor="ctr"/>
          <a:lstStyle/>
          <a:p>
            <a:pPr marL="0" indent="0">
              <a:buNone/>
            </a:pPr>
            <a:r>
              <a:rPr lang="en-US" sz="1200" strike="sngStrike" dirty="0">
                <a:solidFill>
                  <a:srgbClr val="FFFFFF"/>
                </a:solidFill>
                <a:latin typeface="Times New Roman" pitchFamily="34" charset="0"/>
                <a:ea typeface="Times New Roman" pitchFamily="34" charset="-122"/>
                <a:cs typeface="Times New Roman" pitchFamily="34" charset="-120"/>
              </a:rPr>
              <a:t>WL2 – Priya</a:t>
            </a:r>
            <a:endParaRPr lang="en-US" sz="1200" dirty="0"/>
          </a:p>
        </p:txBody>
      </p:sp>
      <p:sp>
        <p:nvSpPr>
          <p:cNvPr id="28" name="Shape 25"/>
          <p:cNvSpPr/>
          <p:nvPr/>
        </p:nvSpPr>
        <p:spPr>
          <a:xfrm>
            <a:off x="7589520" y="3282696"/>
            <a:ext cx="1783080" cy="420624"/>
          </a:xfrm>
          <a:prstGeom prst="roundRect">
            <a:avLst>
              <a:gd name="adj" fmla="val 17391"/>
            </a:avLst>
          </a:prstGeom>
          <a:solidFill>
            <a:srgbClr val="0B5FA5"/>
          </a:solidFill>
          <a:ln/>
        </p:spPr>
      </p:sp>
      <p:sp>
        <p:nvSpPr>
          <p:cNvPr id="29" name="Text 26"/>
          <p:cNvSpPr/>
          <p:nvPr/>
        </p:nvSpPr>
        <p:spPr>
          <a:xfrm>
            <a:off x="7699248" y="3300984"/>
            <a:ext cx="1600200" cy="384048"/>
          </a:xfrm>
          <a:prstGeom prst="rect">
            <a:avLst/>
          </a:prstGeom>
          <a:noFill/>
          <a:ln/>
        </p:spPr>
        <p:txBody>
          <a:bodyPr wrap="square" lIns="0" tIns="0" rIns="0" bIns="0" rtlCol="0" anchor="ctr"/>
          <a:lstStyle/>
          <a:p>
            <a:pPr marL="0" indent="0">
              <a:buNone/>
            </a:pPr>
            <a:r>
              <a:rPr lang="en-US" sz="1200" dirty="0">
                <a:solidFill>
                  <a:srgbClr val="FFFFFF"/>
                </a:solidFill>
                <a:latin typeface="Times New Roman" pitchFamily="34" charset="0"/>
                <a:ea typeface="Times New Roman" pitchFamily="34" charset="-122"/>
                <a:cs typeface="Times New Roman" pitchFamily="34" charset="-120"/>
              </a:rPr>
              <a:t>WL3 – Kabir</a:t>
            </a:r>
            <a:endParaRPr lang="en-US" sz="1200" dirty="0"/>
          </a:p>
        </p:txBody>
      </p:sp>
      <p:sp>
        <p:nvSpPr>
          <p:cNvPr id="30" name="Shape 27"/>
          <p:cNvSpPr/>
          <p:nvPr/>
        </p:nvSpPr>
        <p:spPr>
          <a:xfrm>
            <a:off x="7589520" y="3849624"/>
            <a:ext cx="1783080" cy="420624"/>
          </a:xfrm>
          <a:prstGeom prst="roundRect">
            <a:avLst>
              <a:gd name="adj" fmla="val 17391"/>
            </a:avLst>
          </a:prstGeom>
          <a:solidFill>
            <a:srgbClr val="0B5FA5"/>
          </a:solidFill>
          <a:ln/>
        </p:spPr>
      </p:sp>
      <p:sp>
        <p:nvSpPr>
          <p:cNvPr id="31" name="Text 28"/>
          <p:cNvSpPr/>
          <p:nvPr/>
        </p:nvSpPr>
        <p:spPr>
          <a:xfrm>
            <a:off x="7699248" y="3867912"/>
            <a:ext cx="1600200" cy="384048"/>
          </a:xfrm>
          <a:prstGeom prst="rect">
            <a:avLst/>
          </a:prstGeom>
          <a:noFill/>
          <a:ln/>
        </p:spPr>
        <p:txBody>
          <a:bodyPr wrap="square" lIns="0" tIns="0" rIns="0" bIns="0" rtlCol="0" anchor="ctr"/>
          <a:lstStyle/>
          <a:p>
            <a:pPr marL="0" indent="0">
              <a:buNone/>
            </a:pPr>
            <a:r>
              <a:rPr lang="en-US" sz="1200" dirty="0">
                <a:solidFill>
                  <a:srgbClr val="FFFFFF"/>
                </a:solidFill>
                <a:latin typeface="Times New Roman" pitchFamily="34" charset="0"/>
                <a:ea typeface="Times New Roman" pitchFamily="34" charset="-122"/>
                <a:cs typeface="Times New Roman" pitchFamily="34" charset="-120"/>
              </a:rPr>
              <a:t>WL4 – Sailaja</a:t>
            </a:r>
            <a:endParaRPr lang="en-US" sz="1200" dirty="0"/>
          </a:p>
        </p:txBody>
      </p:sp>
      <p:sp>
        <p:nvSpPr>
          <p:cNvPr id="32" name="Shape 29"/>
          <p:cNvSpPr/>
          <p:nvPr/>
        </p:nvSpPr>
        <p:spPr>
          <a:xfrm>
            <a:off x="7589520" y="4489704"/>
            <a:ext cx="1783080" cy="0"/>
          </a:xfrm>
          <a:prstGeom prst="line">
            <a:avLst/>
          </a:prstGeom>
          <a:noFill/>
          <a:ln w="12700">
            <a:solidFill>
              <a:srgbClr val="3E6A8A"/>
            </a:solidFill>
            <a:prstDash val="solid"/>
          </a:ln>
        </p:spPr>
      </p:sp>
      <p:sp>
        <p:nvSpPr>
          <p:cNvPr id="33" name="Shape 30"/>
          <p:cNvSpPr/>
          <p:nvPr/>
        </p:nvSpPr>
        <p:spPr>
          <a:xfrm>
            <a:off x="9528048" y="3063240"/>
            <a:ext cx="502920" cy="365760"/>
          </a:xfrm>
          <a:prstGeom prst="rightArrow">
            <a:avLst/>
          </a:prstGeom>
          <a:solidFill>
            <a:srgbClr val="17C3A2"/>
          </a:solidFill>
          <a:ln/>
        </p:spPr>
      </p:sp>
      <p:sp>
        <p:nvSpPr>
          <p:cNvPr id="34" name="Text 31"/>
          <p:cNvSpPr/>
          <p:nvPr/>
        </p:nvSpPr>
        <p:spPr>
          <a:xfrm>
            <a:off x="10149840" y="1874520"/>
            <a:ext cx="1463040" cy="256032"/>
          </a:xfrm>
          <a:prstGeom prst="rect">
            <a:avLst/>
          </a:prstGeom>
          <a:noFill/>
          <a:ln/>
        </p:spPr>
        <p:txBody>
          <a:bodyPr wrap="square" lIns="0" tIns="0" rIns="0" bIns="0" rtlCol="0" anchor="ctr"/>
          <a:lstStyle/>
          <a:p>
            <a:pPr marL="0" indent="0">
              <a:buNone/>
            </a:pPr>
            <a:r>
              <a:rPr lang="en-US" sz="1200" b="1" dirty="0">
                <a:solidFill>
                  <a:srgbClr val="8FD6CC"/>
                </a:solidFill>
                <a:latin typeface="Times New Roman" pitchFamily="34" charset="0"/>
                <a:ea typeface="Times New Roman" pitchFamily="34" charset="-122"/>
                <a:cs typeface="Times New Roman" pitchFamily="34" charset="-120"/>
              </a:rPr>
              <a:t>After Cancellation</a:t>
            </a:r>
            <a:endParaRPr lang="en-US" sz="1200" dirty="0"/>
          </a:p>
        </p:txBody>
      </p:sp>
      <p:sp>
        <p:nvSpPr>
          <p:cNvPr id="35" name="Shape 32"/>
          <p:cNvSpPr/>
          <p:nvPr/>
        </p:nvSpPr>
        <p:spPr>
          <a:xfrm>
            <a:off x="10104120" y="2148840"/>
            <a:ext cx="1536192" cy="420624"/>
          </a:xfrm>
          <a:prstGeom prst="roundRect">
            <a:avLst>
              <a:gd name="adj" fmla="val 17391"/>
            </a:avLst>
          </a:prstGeom>
          <a:solidFill>
            <a:srgbClr val="0E9594"/>
          </a:solidFill>
          <a:ln/>
        </p:spPr>
      </p:sp>
      <p:sp>
        <p:nvSpPr>
          <p:cNvPr id="36" name="Text 33"/>
          <p:cNvSpPr/>
          <p:nvPr/>
        </p:nvSpPr>
        <p:spPr>
          <a:xfrm>
            <a:off x="10177272" y="2167128"/>
            <a:ext cx="1417320" cy="384048"/>
          </a:xfrm>
          <a:prstGeom prst="rect">
            <a:avLst/>
          </a:prstGeom>
          <a:noFill/>
          <a:ln/>
        </p:spPr>
        <p:txBody>
          <a:bodyPr wrap="square" lIns="0" tIns="0" rIns="0" bIns="0" rtlCol="0" anchor="ctr"/>
          <a:lstStyle/>
          <a:p>
            <a:pPr marL="0" indent="0">
              <a:buNone/>
            </a:pPr>
            <a:r>
              <a:rPr lang="en-US" sz="1200" dirty="0">
                <a:solidFill>
                  <a:srgbClr val="FFFFFF"/>
                </a:solidFill>
                <a:latin typeface="Times New Roman" pitchFamily="34" charset="0"/>
                <a:ea typeface="Times New Roman" pitchFamily="34" charset="-122"/>
                <a:cs typeface="Times New Roman" pitchFamily="34" charset="-120"/>
              </a:rPr>
              <a:t>WL1 – Arjun</a:t>
            </a:r>
            <a:endParaRPr lang="en-US" sz="1200" dirty="0"/>
          </a:p>
        </p:txBody>
      </p:sp>
      <p:sp>
        <p:nvSpPr>
          <p:cNvPr id="37" name="Shape 34"/>
          <p:cNvSpPr/>
          <p:nvPr/>
        </p:nvSpPr>
        <p:spPr>
          <a:xfrm>
            <a:off x="10104120" y="2715768"/>
            <a:ext cx="1536192" cy="420624"/>
          </a:xfrm>
          <a:prstGeom prst="roundRect">
            <a:avLst>
              <a:gd name="adj" fmla="val 17391"/>
            </a:avLst>
          </a:prstGeom>
          <a:solidFill>
            <a:srgbClr val="0E9594"/>
          </a:solidFill>
          <a:ln/>
        </p:spPr>
      </p:sp>
      <p:sp>
        <p:nvSpPr>
          <p:cNvPr id="38" name="Text 35"/>
          <p:cNvSpPr/>
          <p:nvPr/>
        </p:nvSpPr>
        <p:spPr>
          <a:xfrm>
            <a:off x="10177272" y="2734056"/>
            <a:ext cx="1417320" cy="384048"/>
          </a:xfrm>
          <a:prstGeom prst="rect">
            <a:avLst/>
          </a:prstGeom>
          <a:noFill/>
          <a:ln/>
        </p:spPr>
        <p:txBody>
          <a:bodyPr wrap="square" lIns="0" tIns="0" rIns="0" bIns="0" rtlCol="0" anchor="ctr"/>
          <a:lstStyle/>
          <a:p>
            <a:pPr marL="0" indent="0">
              <a:buNone/>
            </a:pPr>
            <a:r>
              <a:rPr lang="en-US" sz="1200" dirty="0">
                <a:solidFill>
                  <a:srgbClr val="FFFFFF"/>
                </a:solidFill>
                <a:latin typeface="Times New Roman" pitchFamily="34" charset="0"/>
                <a:ea typeface="Times New Roman" pitchFamily="34" charset="-122"/>
                <a:cs typeface="Times New Roman" pitchFamily="34" charset="-120"/>
              </a:rPr>
              <a:t>WL2 – Kabir</a:t>
            </a:r>
            <a:endParaRPr lang="en-US" sz="1200" dirty="0"/>
          </a:p>
        </p:txBody>
      </p:sp>
      <p:sp>
        <p:nvSpPr>
          <p:cNvPr id="39" name="Shape 36"/>
          <p:cNvSpPr/>
          <p:nvPr/>
        </p:nvSpPr>
        <p:spPr>
          <a:xfrm>
            <a:off x="10104120" y="3282696"/>
            <a:ext cx="1536192" cy="420624"/>
          </a:xfrm>
          <a:prstGeom prst="roundRect">
            <a:avLst>
              <a:gd name="adj" fmla="val 17391"/>
            </a:avLst>
          </a:prstGeom>
          <a:solidFill>
            <a:srgbClr val="0E9594"/>
          </a:solidFill>
          <a:ln/>
        </p:spPr>
      </p:sp>
      <p:sp>
        <p:nvSpPr>
          <p:cNvPr id="40" name="Text 37"/>
          <p:cNvSpPr/>
          <p:nvPr/>
        </p:nvSpPr>
        <p:spPr>
          <a:xfrm>
            <a:off x="10177272" y="3300984"/>
            <a:ext cx="1417320" cy="384048"/>
          </a:xfrm>
          <a:prstGeom prst="rect">
            <a:avLst/>
          </a:prstGeom>
          <a:noFill/>
          <a:ln/>
        </p:spPr>
        <p:txBody>
          <a:bodyPr wrap="square" lIns="0" tIns="0" rIns="0" bIns="0" rtlCol="0" anchor="ctr"/>
          <a:lstStyle/>
          <a:p>
            <a:pPr marL="0" indent="0">
              <a:buNone/>
            </a:pPr>
            <a:r>
              <a:rPr lang="en-US" sz="1200" dirty="0">
                <a:solidFill>
                  <a:srgbClr val="FFFFFF"/>
                </a:solidFill>
                <a:latin typeface="Times New Roman" pitchFamily="34" charset="0"/>
                <a:ea typeface="Times New Roman" pitchFamily="34" charset="-122"/>
                <a:cs typeface="Times New Roman" pitchFamily="34" charset="-120"/>
              </a:rPr>
              <a:t>WL3 – Sailaja</a:t>
            </a:r>
            <a:endParaRPr lang="en-US" sz="1200" dirty="0"/>
          </a:p>
        </p:txBody>
      </p:sp>
      <p:sp>
        <p:nvSpPr>
          <p:cNvPr id="41" name="Text 38"/>
          <p:cNvSpPr/>
          <p:nvPr/>
        </p:nvSpPr>
        <p:spPr>
          <a:xfrm>
            <a:off x="7589520" y="5074920"/>
            <a:ext cx="3794760" cy="822960"/>
          </a:xfrm>
          <a:prstGeom prst="rect">
            <a:avLst/>
          </a:prstGeom>
          <a:noFill/>
          <a:ln/>
        </p:spPr>
        <p:txBody>
          <a:bodyPr wrap="square" lIns="0" tIns="0" rIns="0" bIns="0" rtlCol="0" anchor="ctr"/>
          <a:lstStyle/>
          <a:p>
            <a:pPr marL="0" indent="0">
              <a:lnSpc>
                <a:spcPts val="1500"/>
              </a:lnSpc>
              <a:buNone/>
            </a:pPr>
            <a:r>
              <a:rPr lang="en-US" sz="1400" i="1" dirty="0">
                <a:solidFill>
                  <a:srgbClr val="C9DCEA"/>
                </a:solidFill>
                <a:latin typeface="Times New Roman" pitchFamily="34" charset="0"/>
                <a:ea typeface="Times New Roman" pitchFamily="34" charset="-122"/>
                <a:cs typeface="Times New Roman" pitchFamily="34" charset="-120"/>
              </a:rPr>
              <a:t>Every passenger below WL2 shifts up by one position instantly.</a:t>
            </a:r>
            <a:endParaRPr lang="en-US" sz="1400" dirty="0"/>
          </a:p>
        </p:txBody>
      </p:sp>
      <p:pic>
        <p:nvPicPr>
          <p:cNvPr id="42" name="Image 1" descr="assets/simats_logo.png"/>
          <p:cNvPicPr>
            <a:picLocks noChangeAspect="1"/>
          </p:cNvPicPr>
          <p:nvPr/>
        </p:nvPicPr>
        <p:blipFill>
          <a:blip r:embed="rId4"/>
          <a:stretch>
            <a:fillRect/>
          </a:stretch>
        </p:blipFill>
        <p:spPr>
          <a:xfrm>
            <a:off x="10680192" y="292608"/>
            <a:ext cx="1051560" cy="269932"/>
          </a:xfrm>
          <a:prstGeom prst="rect">
            <a:avLst/>
          </a:prstGeom>
        </p:spPr>
      </p:pic>
      <p:sp>
        <p:nvSpPr>
          <p:cNvPr id="46" name="Text 39">
            <a:extLst>
              <a:ext uri="{FF2B5EF4-FFF2-40B4-BE49-F238E27FC236}">
                <a16:creationId xmlns:a16="http://schemas.microsoft.com/office/drawing/2014/main" id="{AB706788-FC8C-EFA3-BCC7-317256BABC2B}"/>
              </a:ext>
            </a:extLst>
          </p:cNvPr>
          <p:cNvSpPr/>
          <p:nvPr/>
        </p:nvSpPr>
        <p:spPr>
          <a:xfrm>
            <a:off x="502920" y="6419973"/>
            <a:ext cx="7772400" cy="274320"/>
          </a:xfrm>
          <a:prstGeom prst="rect">
            <a:avLst/>
          </a:prstGeom>
          <a:noFill/>
          <a:ln/>
        </p:spPr>
        <p:txBody>
          <a:bodyPr wrap="square" lIns="0" tIns="0" rIns="0" bIns="0" rtlCol="0" anchor="ctr"/>
          <a:lstStyle/>
          <a:p>
            <a:pPr marL="0" indent="0" algn="l">
              <a:buNone/>
            </a:pPr>
            <a:r>
              <a:rPr lang="en-US" sz="1200" dirty="0">
                <a:solidFill>
                  <a:srgbClr val="5B6B79"/>
                </a:solidFill>
                <a:latin typeface="Times New Roman" pitchFamily="34" charset="0"/>
                <a:ea typeface="Times New Roman" pitchFamily="34" charset="-122"/>
                <a:cs typeface="Times New Roman" pitchFamily="34" charset="-120"/>
              </a:rPr>
              <a:t>CSA0306 | CO1 – AT3 | Variganji Sumanth Babu | Reg No: 192524447</a:t>
            </a:r>
            <a:endParaRPr lang="en-US" sz="1200" dirty="0"/>
          </a:p>
        </p:txBody>
      </p:sp>
      <p:sp>
        <p:nvSpPr>
          <p:cNvPr id="48" name="Text 40">
            <a:extLst>
              <a:ext uri="{FF2B5EF4-FFF2-40B4-BE49-F238E27FC236}">
                <a16:creationId xmlns:a16="http://schemas.microsoft.com/office/drawing/2014/main" id="{3E1B5DF9-96E3-E383-5F55-A622F8513DB2}"/>
              </a:ext>
            </a:extLst>
          </p:cNvPr>
          <p:cNvSpPr/>
          <p:nvPr/>
        </p:nvSpPr>
        <p:spPr>
          <a:xfrm>
            <a:off x="10680192" y="6419973"/>
            <a:ext cx="1097280" cy="274320"/>
          </a:xfrm>
          <a:prstGeom prst="rect">
            <a:avLst/>
          </a:prstGeom>
          <a:noFill/>
          <a:ln/>
        </p:spPr>
        <p:txBody>
          <a:bodyPr wrap="square" lIns="0" tIns="0" rIns="0" bIns="0" rtlCol="0" anchor="ctr"/>
          <a:lstStyle/>
          <a:p>
            <a:pPr marL="0" indent="0" algn="r">
              <a:buNone/>
            </a:pPr>
            <a:r>
              <a:rPr lang="en-US" sz="1200" dirty="0">
                <a:solidFill>
                  <a:srgbClr val="5B6B79"/>
                </a:solidFill>
                <a:latin typeface="Times New Roman" pitchFamily="34" charset="0"/>
                <a:ea typeface="Times New Roman" pitchFamily="34" charset="-122"/>
                <a:cs typeface="Times New Roman" pitchFamily="34" charset="-120"/>
              </a:rPr>
              <a:t>Slide 1 of 11</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marL="0" indent="0">
              <a:buNone/>
            </a:pPr>
            <a:r>
              <a:rPr lang="en-US" sz="1400" b="1" kern="0" spc="200" dirty="0">
                <a:solidFill>
                  <a:srgbClr val="0E9594"/>
                </a:solidFill>
                <a:latin typeface="Times New Roman" pitchFamily="34" charset="0"/>
                <a:ea typeface="Times New Roman" pitchFamily="34" charset="-122"/>
                <a:cs typeface="Times New Roman" pitchFamily="34" charset="-120"/>
              </a:rPr>
              <a:t>OBJECTIVES</a:t>
            </a:r>
            <a:endParaRPr lang="en-US" sz="1400" dirty="0"/>
          </a:p>
        </p:txBody>
      </p:sp>
      <p:sp>
        <p:nvSpPr>
          <p:cNvPr id="3" name="Text 1"/>
          <p:cNvSpPr/>
          <p:nvPr/>
        </p:nvSpPr>
        <p:spPr>
          <a:xfrm>
            <a:off x="548640" y="658368"/>
            <a:ext cx="9464040" cy="640080"/>
          </a:xfrm>
          <a:prstGeom prst="rect">
            <a:avLst/>
          </a:prstGeom>
          <a:noFill/>
          <a:ln/>
        </p:spPr>
        <p:txBody>
          <a:bodyPr wrap="square" lIns="0" tIns="0" rIns="0" bIns="0" rtlCol="0" anchor="ctr"/>
          <a:lstStyle/>
          <a:p>
            <a:pPr marL="0" indent="0">
              <a:buNone/>
            </a:pPr>
            <a:r>
              <a:rPr lang="en-US" sz="3000" b="1" dirty="0">
                <a:solidFill>
                  <a:srgbClr val="0B3D5C"/>
                </a:solidFill>
                <a:latin typeface="Times New Roman" pitchFamily="34" charset="0"/>
                <a:ea typeface="Times New Roman" pitchFamily="34" charset="-122"/>
                <a:cs typeface="Times New Roman" pitchFamily="34" charset="-120"/>
              </a:rPr>
              <a:t>What This Presentation Aims To Do</a:t>
            </a:r>
            <a:endParaRPr lang="en-US" sz="3000" dirty="0"/>
          </a:p>
        </p:txBody>
      </p:sp>
      <p:sp>
        <p:nvSpPr>
          <p:cNvPr id="4" name="Shape 2"/>
          <p:cNvSpPr/>
          <p:nvPr/>
        </p:nvSpPr>
        <p:spPr>
          <a:xfrm>
            <a:off x="548640" y="1645920"/>
            <a:ext cx="3520440" cy="1965960"/>
          </a:xfrm>
          <a:prstGeom prst="roundRect">
            <a:avLst>
              <a:gd name="adj" fmla="val 4651"/>
            </a:avLst>
          </a:prstGeom>
          <a:solidFill>
            <a:srgbClr val="EAF3FB"/>
          </a:solidFill>
          <a:ln/>
        </p:spPr>
      </p:sp>
      <p:sp>
        <p:nvSpPr>
          <p:cNvPr id="5" name="Shape 3"/>
          <p:cNvSpPr/>
          <p:nvPr/>
        </p:nvSpPr>
        <p:spPr>
          <a:xfrm>
            <a:off x="777240" y="1874520"/>
            <a:ext cx="502920" cy="502920"/>
          </a:xfrm>
          <a:prstGeom prst="ellipse">
            <a:avLst/>
          </a:prstGeom>
          <a:solidFill>
            <a:srgbClr val="0B5FA5"/>
          </a:solidFill>
          <a:ln/>
        </p:spPr>
      </p:sp>
      <p:pic>
        <p:nvPicPr>
          <p:cNvPr id="6" name="Image 0" descr="icons/objectives_white.png"/>
          <p:cNvPicPr>
            <a:picLocks noChangeAspect="1"/>
          </p:cNvPicPr>
          <p:nvPr/>
        </p:nvPicPr>
        <p:blipFill>
          <a:blip r:embed="rId3"/>
          <a:stretch>
            <a:fillRect/>
          </a:stretch>
        </p:blipFill>
        <p:spPr>
          <a:xfrm>
            <a:off x="837590" y="1934870"/>
            <a:ext cx="382219" cy="382219"/>
          </a:xfrm>
          <a:prstGeom prst="rect">
            <a:avLst/>
          </a:prstGeom>
        </p:spPr>
      </p:pic>
      <p:sp>
        <p:nvSpPr>
          <p:cNvPr id="7" name="Text 4"/>
          <p:cNvSpPr/>
          <p:nvPr/>
        </p:nvSpPr>
        <p:spPr>
          <a:xfrm>
            <a:off x="3474720" y="1810512"/>
            <a:ext cx="457200" cy="365760"/>
          </a:xfrm>
          <a:prstGeom prst="rect">
            <a:avLst/>
          </a:prstGeom>
          <a:noFill/>
          <a:ln/>
        </p:spPr>
        <p:txBody>
          <a:bodyPr wrap="square" lIns="0" tIns="0" rIns="0" bIns="0" rtlCol="0" anchor="ctr"/>
          <a:lstStyle/>
          <a:p>
            <a:pPr marL="0" indent="0" algn="r">
              <a:buNone/>
            </a:pPr>
            <a:r>
              <a:rPr lang="en-US" sz="1800" b="1" dirty="0">
                <a:solidFill>
                  <a:srgbClr val="B9CBD8"/>
                </a:solidFill>
                <a:latin typeface="Times New Roman" pitchFamily="34" charset="0"/>
                <a:ea typeface="Times New Roman" pitchFamily="34" charset="-122"/>
                <a:cs typeface="Times New Roman" pitchFamily="34" charset="-120"/>
              </a:rPr>
              <a:t>01</a:t>
            </a:r>
            <a:endParaRPr lang="en-US" sz="1800" dirty="0"/>
          </a:p>
        </p:txBody>
      </p:sp>
      <p:sp>
        <p:nvSpPr>
          <p:cNvPr id="8" name="Text 5"/>
          <p:cNvSpPr/>
          <p:nvPr/>
        </p:nvSpPr>
        <p:spPr>
          <a:xfrm>
            <a:off x="777240" y="2514600"/>
            <a:ext cx="3063240" cy="411480"/>
          </a:xfrm>
          <a:prstGeom prst="rect">
            <a:avLst/>
          </a:prstGeom>
          <a:noFill/>
          <a:ln/>
        </p:spPr>
        <p:txBody>
          <a:bodyPr wrap="square" lIns="0" tIns="0" rIns="0" bIns="0" rtlCol="0" anchor="ctr"/>
          <a:lstStyle/>
          <a:p>
            <a:pPr marL="0" indent="0">
              <a:buNone/>
            </a:pPr>
            <a:r>
              <a:rPr lang="en-US" sz="1600" b="1" dirty="0">
                <a:solidFill>
                  <a:srgbClr val="0B3D5C"/>
                </a:solidFill>
                <a:latin typeface="Times New Roman" pitchFamily="34" charset="0"/>
                <a:ea typeface="Times New Roman" pitchFamily="34" charset="-122"/>
                <a:cs typeface="Times New Roman" pitchFamily="34" charset="-120"/>
              </a:rPr>
              <a:t>Identify the Right Structure</a:t>
            </a:r>
            <a:endParaRPr lang="en-US" sz="1600" dirty="0"/>
          </a:p>
        </p:txBody>
      </p:sp>
      <p:sp>
        <p:nvSpPr>
          <p:cNvPr id="9" name="Text 6"/>
          <p:cNvSpPr/>
          <p:nvPr/>
        </p:nvSpPr>
        <p:spPr>
          <a:xfrm>
            <a:off x="777240" y="2907792"/>
            <a:ext cx="3063240" cy="640080"/>
          </a:xfrm>
          <a:prstGeom prst="rect">
            <a:avLst/>
          </a:prstGeom>
          <a:noFill/>
          <a:ln/>
        </p:spPr>
        <p:txBody>
          <a:bodyPr wrap="square" lIns="0" tIns="0" rIns="0" bIns="0" rtlCol="0" anchor="ctr"/>
          <a:lstStyle/>
          <a:p>
            <a:pPr marL="0" indent="0">
              <a:lnSpc>
                <a:spcPts val="1400"/>
              </a:lnSpc>
              <a:buNone/>
            </a:pPr>
            <a:r>
              <a:rPr lang="en-US" sz="1400" dirty="0">
                <a:solidFill>
                  <a:srgbClr val="5B6B79"/>
                </a:solidFill>
                <a:latin typeface="Times New Roman" pitchFamily="34" charset="0"/>
                <a:ea typeface="Times New Roman" pitchFamily="34" charset="-122"/>
                <a:cs typeface="Times New Roman" pitchFamily="34" charset="-120"/>
              </a:rPr>
              <a:t>Select a data structure that models a real-time, size-varying railway waiting list.</a:t>
            </a:r>
            <a:endParaRPr lang="en-US" sz="1400" dirty="0"/>
          </a:p>
        </p:txBody>
      </p:sp>
      <p:sp>
        <p:nvSpPr>
          <p:cNvPr id="10" name="Shape 7"/>
          <p:cNvSpPr/>
          <p:nvPr/>
        </p:nvSpPr>
        <p:spPr>
          <a:xfrm>
            <a:off x="4297680" y="1645920"/>
            <a:ext cx="3520440" cy="1965960"/>
          </a:xfrm>
          <a:prstGeom prst="roundRect">
            <a:avLst>
              <a:gd name="adj" fmla="val 4651"/>
            </a:avLst>
          </a:prstGeom>
          <a:solidFill>
            <a:srgbClr val="E6F7F6"/>
          </a:solidFill>
          <a:ln/>
        </p:spPr>
      </p:sp>
      <p:sp>
        <p:nvSpPr>
          <p:cNvPr id="11" name="Shape 8"/>
          <p:cNvSpPr/>
          <p:nvPr/>
        </p:nvSpPr>
        <p:spPr>
          <a:xfrm>
            <a:off x="4526280" y="1874520"/>
            <a:ext cx="502920" cy="502920"/>
          </a:xfrm>
          <a:prstGeom prst="ellipse">
            <a:avLst/>
          </a:prstGeom>
          <a:solidFill>
            <a:srgbClr val="0E9594"/>
          </a:solidFill>
          <a:ln/>
        </p:spPr>
      </p:sp>
      <p:pic>
        <p:nvPicPr>
          <p:cNvPr id="12" name="Image 1" descr="icons/flow_white.png"/>
          <p:cNvPicPr>
            <a:picLocks noChangeAspect="1"/>
          </p:cNvPicPr>
          <p:nvPr/>
        </p:nvPicPr>
        <p:blipFill>
          <a:blip r:embed="rId4"/>
          <a:stretch>
            <a:fillRect/>
          </a:stretch>
        </p:blipFill>
        <p:spPr>
          <a:xfrm>
            <a:off x="4586630" y="1934870"/>
            <a:ext cx="382219" cy="382219"/>
          </a:xfrm>
          <a:prstGeom prst="rect">
            <a:avLst/>
          </a:prstGeom>
        </p:spPr>
      </p:pic>
      <p:sp>
        <p:nvSpPr>
          <p:cNvPr id="13" name="Text 9"/>
          <p:cNvSpPr/>
          <p:nvPr/>
        </p:nvSpPr>
        <p:spPr>
          <a:xfrm>
            <a:off x="7223760" y="1810512"/>
            <a:ext cx="457200" cy="365760"/>
          </a:xfrm>
          <a:prstGeom prst="rect">
            <a:avLst/>
          </a:prstGeom>
          <a:noFill/>
          <a:ln/>
        </p:spPr>
        <p:txBody>
          <a:bodyPr wrap="square" lIns="0" tIns="0" rIns="0" bIns="0" rtlCol="0" anchor="ctr"/>
          <a:lstStyle/>
          <a:p>
            <a:pPr marL="0" indent="0" algn="r">
              <a:buNone/>
            </a:pPr>
            <a:r>
              <a:rPr lang="en-US" sz="1800" b="1" dirty="0">
                <a:solidFill>
                  <a:srgbClr val="B9CBD8"/>
                </a:solidFill>
                <a:latin typeface="Times New Roman" pitchFamily="34" charset="0"/>
                <a:ea typeface="Times New Roman" pitchFamily="34" charset="-122"/>
                <a:cs typeface="Times New Roman" pitchFamily="34" charset="-120"/>
              </a:rPr>
              <a:t>02</a:t>
            </a:r>
            <a:endParaRPr lang="en-US" sz="1800" dirty="0"/>
          </a:p>
        </p:txBody>
      </p:sp>
      <p:sp>
        <p:nvSpPr>
          <p:cNvPr id="14" name="Text 10"/>
          <p:cNvSpPr/>
          <p:nvPr/>
        </p:nvSpPr>
        <p:spPr>
          <a:xfrm>
            <a:off x="4526280" y="2514600"/>
            <a:ext cx="3063240" cy="411480"/>
          </a:xfrm>
          <a:prstGeom prst="rect">
            <a:avLst/>
          </a:prstGeom>
          <a:noFill/>
          <a:ln/>
        </p:spPr>
        <p:txBody>
          <a:bodyPr wrap="square" lIns="0" tIns="0" rIns="0" bIns="0" rtlCol="0" anchor="ctr"/>
          <a:lstStyle/>
          <a:p>
            <a:pPr marL="0" indent="0">
              <a:buNone/>
            </a:pPr>
            <a:r>
              <a:rPr lang="en-US" sz="1600" b="1" dirty="0">
                <a:solidFill>
                  <a:srgbClr val="0B3D5C"/>
                </a:solidFill>
                <a:latin typeface="Times New Roman" pitchFamily="34" charset="0"/>
                <a:ea typeface="Times New Roman" pitchFamily="34" charset="-122"/>
                <a:cs typeface="Times New Roman" pitchFamily="34" charset="-120"/>
              </a:rPr>
              <a:t>Explain the Working Mechanism</a:t>
            </a:r>
            <a:endParaRPr lang="en-US" sz="1600" dirty="0"/>
          </a:p>
        </p:txBody>
      </p:sp>
      <p:sp>
        <p:nvSpPr>
          <p:cNvPr id="15" name="Text 11"/>
          <p:cNvSpPr/>
          <p:nvPr/>
        </p:nvSpPr>
        <p:spPr>
          <a:xfrm>
            <a:off x="4526280" y="2907792"/>
            <a:ext cx="3063240" cy="640080"/>
          </a:xfrm>
          <a:prstGeom prst="rect">
            <a:avLst/>
          </a:prstGeom>
          <a:noFill/>
          <a:ln/>
        </p:spPr>
        <p:txBody>
          <a:bodyPr wrap="square" lIns="0" tIns="0" rIns="0" bIns="0" rtlCol="0" anchor="ctr"/>
          <a:lstStyle/>
          <a:p>
            <a:pPr marL="0" indent="0">
              <a:lnSpc>
                <a:spcPts val="1400"/>
              </a:lnSpc>
              <a:buNone/>
            </a:pPr>
            <a:r>
              <a:rPr lang="en-US" sz="1400" dirty="0">
                <a:solidFill>
                  <a:srgbClr val="5B6B79"/>
                </a:solidFill>
                <a:latin typeface="Times New Roman" pitchFamily="34" charset="0"/>
                <a:ea typeface="Times New Roman" pitchFamily="34" charset="-122"/>
                <a:cs typeface="Times New Roman" pitchFamily="34" charset="-120"/>
              </a:rPr>
              <a:t>Describe how insertion, cancellation and position updates operate on the structure.</a:t>
            </a:r>
            <a:endParaRPr lang="en-US" sz="1400" dirty="0"/>
          </a:p>
        </p:txBody>
      </p:sp>
      <p:sp>
        <p:nvSpPr>
          <p:cNvPr id="16" name="Shape 12"/>
          <p:cNvSpPr/>
          <p:nvPr/>
        </p:nvSpPr>
        <p:spPr>
          <a:xfrm>
            <a:off x="8046720" y="1645920"/>
            <a:ext cx="3520440" cy="1965960"/>
          </a:xfrm>
          <a:prstGeom prst="roundRect">
            <a:avLst>
              <a:gd name="adj" fmla="val 4651"/>
            </a:avLst>
          </a:prstGeom>
          <a:solidFill>
            <a:srgbClr val="EAF3FB"/>
          </a:solidFill>
          <a:ln/>
        </p:spPr>
      </p:sp>
      <p:sp>
        <p:nvSpPr>
          <p:cNvPr id="17" name="Shape 13"/>
          <p:cNvSpPr/>
          <p:nvPr/>
        </p:nvSpPr>
        <p:spPr>
          <a:xfrm>
            <a:off x="8275320" y="1874520"/>
            <a:ext cx="502920" cy="502920"/>
          </a:xfrm>
          <a:prstGeom prst="ellipse">
            <a:avLst/>
          </a:prstGeom>
          <a:solidFill>
            <a:srgbClr val="0B5FA5"/>
          </a:solidFill>
          <a:ln/>
        </p:spPr>
      </p:sp>
      <p:pic>
        <p:nvPicPr>
          <p:cNvPr id="18" name="Image 2" descr="icons/code_white.png"/>
          <p:cNvPicPr>
            <a:picLocks noChangeAspect="1"/>
          </p:cNvPicPr>
          <p:nvPr/>
        </p:nvPicPr>
        <p:blipFill>
          <a:blip r:embed="rId5"/>
          <a:stretch>
            <a:fillRect/>
          </a:stretch>
        </p:blipFill>
        <p:spPr>
          <a:xfrm>
            <a:off x="8335670" y="1934870"/>
            <a:ext cx="382219" cy="382219"/>
          </a:xfrm>
          <a:prstGeom prst="rect">
            <a:avLst/>
          </a:prstGeom>
        </p:spPr>
      </p:pic>
      <p:sp>
        <p:nvSpPr>
          <p:cNvPr id="19" name="Text 14"/>
          <p:cNvSpPr/>
          <p:nvPr/>
        </p:nvSpPr>
        <p:spPr>
          <a:xfrm>
            <a:off x="10972800" y="1810512"/>
            <a:ext cx="457200" cy="365760"/>
          </a:xfrm>
          <a:prstGeom prst="rect">
            <a:avLst/>
          </a:prstGeom>
          <a:noFill/>
          <a:ln/>
        </p:spPr>
        <p:txBody>
          <a:bodyPr wrap="square" lIns="0" tIns="0" rIns="0" bIns="0" rtlCol="0" anchor="ctr"/>
          <a:lstStyle/>
          <a:p>
            <a:pPr marL="0" indent="0" algn="r">
              <a:buNone/>
            </a:pPr>
            <a:r>
              <a:rPr lang="en-US" sz="1800" b="1" dirty="0">
                <a:solidFill>
                  <a:srgbClr val="B9CBD8"/>
                </a:solidFill>
                <a:latin typeface="Times New Roman" pitchFamily="34" charset="0"/>
                <a:ea typeface="Times New Roman" pitchFamily="34" charset="-122"/>
                <a:cs typeface="Times New Roman" pitchFamily="34" charset="-120"/>
              </a:rPr>
              <a:t>03</a:t>
            </a:r>
            <a:endParaRPr lang="en-US" sz="1800" dirty="0"/>
          </a:p>
        </p:txBody>
      </p:sp>
      <p:sp>
        <p:nvSpPr>
          <p:cNvPr id="20" name="Text 15"/>
          <p:cNvSpPr/>
          <p:nvPr/>
        </p:nvSpPr>
        <p:spPr>
          <a:xfrm>
            <a:off x="8275320" y="2514600"/>
            <a:ext cx="3063240" cy="411480"/>
          </a:xfrm>
          <a:prstGeom prst="rect">
            <a:avLst/>
          </a:prstGeom>
          <a:noFill/>
          <a:ln/>
        </p:spPr>
        <p:txBody>
          <a:bodyPr wrap="square" lIns="0" tIns="0" rIns="0" bIns="0" rtlCol="0" anchor="ctr"/>
          <a:lstStyle/>
          <a:p>
            <a:pPr marL="0" indent="0">
              <a:buNone/>
            </a:pPr>
            <a:r>
              <a:rPr lang="en-US" sz="1600" b="1" dirty="0">
                <a:solidFill>
                  <a:srgbClr val="0B3D5C"/>
                </a:solidFill>
                <a:latin typeface="Times New Roman" pitchFamily="34" charset="0"/>
                <a:ea typeface="Times New Roman" pitchFamily="34" charset="-122"/>
                <a:cs typeface="Times New Roman" pitchFamily="34" charset="-120"/>
              </a:rPr>
              <a:t>Present a Working Algorithm</a:t>
            </a:r>
            <a:endParaRPr lang="en-US" sz="1600" dirty="0"/>
          </a:p>
        </p:txBody>
      </p:sp>
      <p:sp>
        <p:nvSpPr>
          <p:cNvPr id="21" name="Text 16"/>
          <p:cNvSpPr/>
          <p:nvPr/>
        </p:nvSpPr>
        <p:spPr>
          <a:xfrm>
            <a:off x="8275320" y="2907792"/>
            <a:ext cx="3063240" cy="640080"/>
          </a:xfrm>
          <a:prstGeom prst="rect">
            <a:avLst/>
          </a:prstGeom>
          <a:noFill/>
          <a:ln/>
        </p:spPr>
        <p:txBody>
          <a:bodyPr wrap="square" lIns="0" tIns="0" rIns="0" bIns="0" rtlCol="0" anchor="ctr"/>
          <a:lstStyle/>
          <a:p>
            <a:pPr marL="0" indent="0">
              <a:lnSpc>
                <a:spcPts val="1400"/>
              </a:lnSpc>
              <a:buNone/>
            </a:pPr>
            <a:r>
              <a:rPr lang="en-US" sz="1400" dirty="0">
                <a:solidFill>
                  <a:srgbClr val="5B6B79"/>
                </a:solidFill>
                <a:latin typeface="Times New Roman" pitchFamily="34" charset="0"/>
                <a:ea typeface="Times New Roman" pitchFamily="34" charset="-122"/>
                <a:cs typeface="Times New Roman" pitchFamily="34" charset="-120"/>
              </a:rPr>
              <a:t>Provide clean pseudocode with a worked cancellation example.</a:t>
            </a:r>
            <a:endParaRPr lang="en-US" sz="1400" dirty="0"/>
          </a:p>
        </p:txBody>
      </p:sp>
      <p:sp>
        <p:nvSpPr>
          <p:cNvPr id="22" name="Shape 17"/>
          <p:cNvSpPr/>
          <p:nvPr/>
        </p:nvSpPr>
        <p:spPr>
          <a:xfrm>
            <a:off x="548640" y="3931920"/>
            <a:ext cx="3520440" cy="1965960"/>
          </a:xfrm>
          <a:prstGeom prst="roundRect">
            <a:avLst>
              <a:gd name="adj" fmla="val 4651"/>
            </a:avLst>
          </a:prstGeom>
          <a:solidFill>
            <a:srgbClr val="E6F7F6"/>
          </a:solidFill>
          <a:ln/>
        </p:spPr>
      </p:sp>
      <p:sp>
        <p:nvSpPr>
          <p:cNvPr id="23" name="Shape 18"/>
          <p:cNvSpPr/>
          <p:nvPr/>
        </p:nvSpPr>
        <p:spPr>
          <a:xfrm>
            <a:off x="777240" y="4160520"/>
            <a:ext cx="502920" cy="502920"/>
          </a:xfrm>
          <a:prstGeom prst="ellipse">
            <a:avLst/>
          </a:prstGeom>
          <a:solidFill>
            <a:srgbClr val="0E9594"/>
          </a:solidFill>
          <a:ln/>
        </p:spPr>
      </p:sp>
      <p:pic>
        <p:nvPicPr>
          <p:cNvPr id="24" name="Image 3" descr="icons/table_white.png"/>
          <p:cNvPicPr>
            <a:picLocks noChangeAspect="1"/>
          </p:cNvPicPr>
          <p:nvPr/>
        </p:nvPicPr>
        <p:blipFill>
          <a:blip r:embed="rId6"/>
          <a:stretch>
            <a:fillRect/>
          </a:stretch>
        </p:blipFill>
        <p:spPr>
          <a:xfrm>
            <a:off x="837590" y="4220870"/>
            <a:ext cx="382219" cy="382219"/>
          </a:xfrm>
          <a:prstGeom prst="rect">
            <a:avLst/>
          </a:prstGeom>
        </p:spPr>
      </p:pic>
      <p:sp>
        <p:nvSpPr>
          <p:cNvPr id="25" name="Text 19"/>
          <p:cNvSpPr/>
          <p:nvPr/>
        </p:nvSpPr>
        <p:spPr>
          <a:xfrm>
            <a:off x="3474720" y="4096512"/>
            <a:ext cx="457200" cy="365760"/>
          </a:xfrm>
          <a:prstGeom prst="rect">
            <a:avLst/>
          </a:prstGeom>
          <a:noFill/>
          <a:ln/>
        </p:spPr>
        <p:txBody>
          <a:bodyPr wrap="square" lIns="0" tIns="0" rIns="0" bIns="0" rtlCol="0" anchor="ctr"/>
          <a:lstStyle/>
          <a:p>
            <a:pPr marL="0" indent="0" algn="r">
              <a:buNone/>
            </a:pPr>
            <a:r>
              <a:rPr lang="en-US" sz="1800" b="1" dirty="0">
                <a:solidFill>
                  <a:srgbClr val="B9CBD8"/>
                </a:solidFill>
                <a:latin typeface="Times New Roman" pitchFamily="34" charset="0"/>
                <a:ea typeface="Times New Roman" pitchFamily="34" charset="-122"/>
                <a:cs typeface="Times New Roman" pitchFamily="34" charset="-120"/>
              </a:rPr>
              <a:t>04</a:t>
            </a:r>
            <a:endParaRPr lang="en-US" sz="1800" dirty="0"/>
          </a:p>
        </p:txBody>
      </p:sp>
      <p:sp>
        <p:nvSpPr>
          <p:cNvPr id="26" name="Text 20"/>
          <p:cNvSpPr/>
          <p:nvPr/>
        </p:nvSpPr>
        <p:spPr>
          <a:xfrm>
            <a:off x="777240" y="4800600"/>
            <a:ext cx="3063240" cy="411480"/>
          </a:xfrm>
          <a:prstGeom prst="rect">
            <a:avLst/>
          </a:prstGeom>
          <a:noFill/>
          <a:ln/>
        </p:spPr>
        <p:txBody>
          <a:bodyPr wrap="square" lIns="0" tIns="0" rIns="0" bIns="0" rtlCol="0" anchor="ctr"/>
          <a:lstStyle/>
          <a:p>
            <a:pPr marL="0" indent="0">
              <a:buNone/>
            </a:pPr>
            <a:r>
              <a:rPr lang="en-US" sz="1600" b="1" dirty="0">
                <a:solidFill>
                  <a:srgbClr val="0B3D5C"/>
                </a:solidFill>
                <a:latin typeface="Times New Roman" pitchFamily="34" charset="0"/>
                <a:ea typeface="Times New Roman" pitchFamily="34" charset="-122"/>
                <a:cs typeface="Times New Roman" pitchFamily="34" charset="-120"/>
              </a:rPr>
              <a:t>Perform Complexity Analysis</a:t>
            </a:r>
            <a:endParaRPr lang="en-US" sz="1600" dirty="0"/>
          </a:p>
        </p:txBody>
      </p:sp>
      <p:sp>
        <p:nvSpPr>
          <p:cNvPr id="27" name="Text 21"/>
          <p:cNvSpPr/>
          <p:nvPr/>
        </p:nvSpPr>
        <p:spPr>
          <a:xfrm>
            <a:off x="777240" y="5193792"/>
            <a:ext cx="3063240" cy="640080"/>
          </a:xfrm>
          <a:prstGeom prst="rect">
            <a:avLst/>
          </a:prstGeom>
          <a:noFill/>
          <a:ln/>
        </p:spPr>
        <p:txBody>
          <a:bodyPr wrap="square" lIns="0" tIns="0" rIns="0" bIns="0" rtlCol="0" anchor="ctr"/>
          <a:lstStyle/>
          <a:p>
            <a:pPr marL="0" indent="0">
              <a:lnSpc>
                <a:spcPts val="1400"/>
              </a:lnSpc>
              <a:buNone/>
            </a:pPr>
            <a:r>
              <a:rPr lang="en-US" sz="1400" dirty="0">
                <a:solidFill>
                  <a:srgbClr val="5B6B79"/>
                </a:solidFill>
                <a:latin typeface="Times New Roman" pitchFamily="34" charset="0"/>
                <a:ea typeface="Times New Roman" pitchFamily="34" charset="-122"/>
                <a:cs typeface="Times New Roman" pitchFamily="34" charset="-120"/>
              </a:rPr>
              <a:t>Derive time and space complexity for insertion, deletion, search and update.</a:t>
            </a:r>
            <a:endParaRPr lang="en-US" sz="1400" dirty="0"/>
          </a:p>
        </p:txBody>
      </p:sp>
      <p:sp>
        <p:nvSpPr>
          <p:cNvPr id="28" name="Shape 22"/>
          <p:cNvSpPr/>
          <p:nvPr/>
        </p:nvSpPr>
        <p:spPr>
          <a:xfrm>
            <a:off x="4297680" y="3931920"/>
            <a:ext cx="3520440" cy="1965960"/>
          </a:xfrm>
          <a:prstGeom prst="roundRect">
            <a:avLst>
              <a:gd name="adj" fmla="val 4651"/>
            </a:avLst>
          </a:prstGeom>
          <a:solidFill>
            <a:srgbClr val="EAF3FB"/>
          </a:solidFill>
          <a:ln/>
        </p:spPr>
      </p:sp>
      <p:sp>
        <p:nvSpPr>
          <p:cNvPr id="29" name="Shape 23"/>
          <p:cNvSpPr/>
          <p:nvPr/>
        </p:nvSpPr>
        <p:spPr>
          <a:xfrm>
            <a:off x="4526280" y="4160520"/>
            <a:ext cx="502920" cy="502920"/>
          </a:xfrm>
          <a:prstGeom prst="ellipse">
            <a:avLst/>
          </a:prstGeom>
          <a:solidFill>
            <a:srgbClr val="0B5FA5"/>
          </a:solidFill>
          <a:ln/>
        </p:spPr>
      </p:sp>
      <p:pic>
        <p:nvPicPr>
          <p:cNvPr id="30" name="Image 4" descr="icons/balance_white.png"/>
          <p:cNvPicPr>
            <a:picLocks noChangeAspect="1"/>
          </p:cNvPicPr>
          <p:nvPr/>
        </p:nvPicPr>
        <p:blipFill>
          <a:blip r:embed="rId7"/>
          <a:stretch>
            <a:fillRect/>
          </a:stretch>
        </p:blipFill>
        <p:spPr>
          <a:xfrm>
            <a:off x="4586630" y="4220870"/>
            <a:ext cx="382219" cy="382219"/>
          </a:xfrm>
          <a:prstGeom prst="rect">
            <a:avLst/>
          </a:prstGeom>
        </p:spPr>
      </p:pic>
      <p:sp>
        <p:nvSpPr>
          <p:cNvPr id="31" name="Text 24"/>
          <p:cNvSpPr/>
          <p:nvPr/>
        </p:nvSpPr>
        <p:spPr>
          <a:xfrm>
            <a:off x="7223760" y="4096512"/>
            <a:ext cx="457200" cy="365760"/>
          </a:xfrm>
          <a:prstGeom prst="rect">
            <a:avLst/>
          </a:prstGeom>
          <a:noFill/>
          <a:ln/>
        </p:spPr>
        <p:txBody>
          <a:bodyPr wrap="square" lIns="0" tIns="0" rIns="0" bIns="0" rtlCol="0" anchor="ctr"/>
          <a:lstStyle/>
          <a:p>
            <a:pPr marL="0" indent="0" algn="r">
              <a:buNone/>
            </a:pPr>
            <a:r>
              <a:rPr lang="en-US" sz="1800" b="1" dirty="0">
                <a:solidFill>
                  <a:srgbClr val="B9CBD8"/>
                </a:solidFill>
                <a:latin typeface="Times New Roman" pitchFamily="34" charset="0"/>
                <a:ea typeface="Times New Roman" pitchFamily="34" charset="-122"/>
                <a:cs typeface="Times New Roman" pitchFamily="34" charset="-120"/>
              </a:rPr>
              <a:t>05</a:t>
            </a:r>
            <a:endParaRPr lang="en-US" sz="1800" dirty="0"/>
          </a:p>
        </p:txBody>
      </p:sp>
      <p:sp>
        <p:nvSpPr>
          <p:cNvPr id="32" name="Text 25"/>
          <p:cNvSpPr/>
          <p:nvPr/>
        </p:nvSpPr>
        <p:spPr>
          <a:xfrm>
            <a:off x="4526280" y="4800600"/>
            <a:ext cx="3063240" cy="411480"/>
          </a:xfrm>
          <a:prstGeom prst="rect">
            <a:avLst/>
          </a:prstGeom>
          <a:noFill/>
          <a:ln/>
        </p:spPr>
        <p:txBody>
          <a:bodyPr wrap="square" lIns="0" tIns="0" rIns="0" bIns="0" rtlCol="0" anchor="ctr"/>
          <a:lstStyle/>
          <a:p>
            <a:pPr marL="0" indent="0">
              <a:buNone/>
            </a:pPr>
            <a:r>
              <a:rPr lang="en-US" sz="1600" b="1" dirty="0">
                <a:solidFill>
                  <a:srgbClr val="0B3D5C"/>
                </a:solidFill>
                <a:latin typeface="Times New Roman" pitchFamily="34" charset="0"/>
                <a:ea typeface="Times New Roman" pitchFamily="34" charset="-122"/>
                <a:cs typeface="Times New Roman" pitchFamily="34" charset="-120"/>
              </a:rPr>
              <a:t>Justify the Choice</a:t>
            </a:r>
            <a:endParaRPr lang="en-US" sz="1600" dirty="0"/>
          </a:p>
        </p:txBody>
      </p:sp>
      <p:sp>
        <p:nvSpPr>
          <p:cNvPr id="33" name="Text 26"/>
          <p:cNvSpPr/>
          <p:nvPr/>
        </p:nvSpPr>
        <p:spPr>
          <a:xfrm>
            <a:off x="4526280" y="5193792"/>
            <a:ext cx="3063240" cy="640080"/>
          </a:xfrm>
          <a:prstGeom prst="rect">
            <a:avLst/>
          </a:prstGeom>
          <a:noFill/>
          <a:ln/>
        </p:spPr>
        <p:txBody>
          <a:bodyPr wrap="square" lIns="0" tIns="0" rIns="0" bIns="0" rtlCol="0" anchor="ctr"/>
          <a:lstStyle/>
          <a:p>
            <a:pPr marL="0" indent="0">
              <a:lnSpc>
                <a:spcPts val="1400"/>
              </a:lnSpc>
              <a:buNone/>
            </a:pPr>
            <a:r>
              <a:rPr lang="en-US" sz="1400" dirty="0">
                <a:solidFill>
                  <a:srgbClr val="5B6B79"/>
                </a:solidFill>
                <a:latin typeface="Times New Roman" pitchFamily="34" charset="0"/>
                <a:ea typeface="Times New Roman" pitchFamily="34" charset="-122"/>
                <a:cs typeface="Times New Roman" pitchFamily="34" charset="-120"/>
              </a:rPr>
              <a:t>Compare against Array and Queue to prove the structure is the best fit.</a:t>
            </a:r>
            <a:endParaRPr lang="en-US" sz="1400" dirty="0"/>
          </a:p>
        </p:txBody>
      </p:sp>
      <p:pic>
        <p:nvPicPr>
          <p:cNvPr id="34" name="Image 5" descr="assets/simats_logo.png"/>
          <p:cNvPicPr>
            <a:picLocks noChangeAspect="1"/>
          </p:cNvPicPr>
          <p:nvPr/>
        </p:nvPicPr>
        <p:blipFill>
          <a:blip r:embed="rId8"/>
          <a:stretch>
            <a:fillRect/>
          </a:stretch>
        </p:blipFill>
        <p:spPr>
          <a:xfrm>
            <a:off x="10680192" y="292608"/>
            <a:ext cx="1051560" cy="269932"/>
          </a:xfrm>
          <a:prstGeom prst="rect">
            <a:avLst/>
          </a:prstGeom>
        </p:spPr>
      </p:pic>
      <p:sp>
        <p:nvSpPr>
          <p:cNvPr id="38" name="Text 39">
            <a:extLst>
              <a:ext uri="{FF2B5EF4-FFF2-40B4-BE49-F238E27FC236}">
                <a16:creationId xmlns:a16="http://schemas.microsoft.com/office/drawing/2014/main" id="{46705B5B-2314-04D4-AE8A-343EBE7E8FA4}"/>
              </a:ext>
            </a:extLst>
          </p:cNvPr>
          <p:cNvSpPr/>
          <p:nvPr/>
        </p:nvSpPr>
        <p:spPr>
          <a:xfrm>
            <a:off x="502920" y="6419973"/>
            <a:ext cx="7772400" cy="274320"/>
          </a:xfrm>
          <a:prstGeom prst="rect">
            <a:avLst/>
          </a:prstGeom>
          <a:noFill/>
          <a:ln/>
        </p:spPr>
        <p:txBody>
          <a:bodyPr wrap="square" lIns="0" tIns="0" rIns="0" bIns="0" rtlCol="0" anchor="ctr"/>
          <a:lstStyle/>
          <a:p>
            <a:pPr marL="0" indent="0" algn="l">
              <a:buNone/>
            </a:pPr>
            <a:r>
              <a:rPr lang="en-US" sz="1200" dirty="0">
                <a:solidFill>
                  <a:srgbClr val="5B6B79"/>
                </a:solidFill>
                <a:latin typeface="Times New Roman" pitchFamily="34" charset="0"/>
                <a:ea typeface="Times New Roman" pitchFamily="34" charset="-122"/>
                <a:cs typeface="Times New Roman" pitchFamily="34" charset="-120"/>
              </a:rPr>
              <a:t>CSA0306 | CO1 – AT3 | Variganji Sumanth Babu | Reg No: 192524447</a:t>
            </a:r>
            <a:endParaRPr lang="en-US" sz="1200" dirty="0"/>
          </a:p>
        </p:txBody>
      </p:sp>
      <p:sp>
        <p:nvSpPr>
          <p:cNvPr id="40" name="Text 40">
            <a:extLst>
              <a:ext uri="{FF2B5EF4-FFF2-40B4-BE49-F238E27FC236}">
                <a16:creationId xmlns:a16="http://schemas.microsoft.com/office/drawing/2014/main" id="{CABBC2EA-AD0B-107F-08DE-18839588ED68}"/>
              </a:ext>
            </a:extLst>
          </p:cNvPr>
          <p:cNvSpPr/>
          <p:nvPr/>
        </p:nvSpPr>
        <p:spPr>
          <a:xfrm>
            <a:off x="10680192" y="6419973"/>
            <a:ext cx="1097280" cy="274320"/>
          </a:xfrm>
          <a:prstGeom prst="rect">
            <a:avLst/>
          </a:prstGeom>
          <a:noFill/>
          <a:ln/>
        </p:spPr>
        <p:txBody>
          <a:bodyPr wrap="square" lIns="0" tIns="0" rIns="0" bIns="0" rtlCol="0" anchor="ctr"/>
          <a:lstStyle/>
          <a:p>
            <a:pPr marL="0" indent="0" algn="r">
              <a:buNone/>
            </a:pPr>
            <a:r>
              <a:rPr lang="en-US" sz="1200" dirty="0">
                <a:solidFill>
                  <a:srgbClr val="5B6B79"/>
                </a:solidFill>
                <a:latin typeface="Times New Roman" pitchFamily="34" charset="0"/>
                <a:ea typeface="Times New Roman" pitchFamily="34" charset="-122"/>
                <a:cs typeface="Times New Roman" pitchFamily="34" charset="-120"/>
              </a:rPr>
              <a:t>Slide 2 of 11</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marL="0" indent="0">
              <a:buNone/>
            </a:pPr>
            <a:r>
              <a:rPr lang="en-US" sz="1400" b="1" kern="0" spc="200" dirty="0">
                <a:solidFill>
                  <a:srgbClr val="0E9594"/>
                </a:solidFill>
                <a:latin typeface="Times New Roman" pitchFamily="34" charset="0"/>
                <a:ea typeface="Times New Roman" pitchFamily="34" charset="-122"/>
                <a:cs typeface="Times New Roman" pitchFamily="34" charset="-120"/>
              </a:rPr>
              <a:t>SUITABLE DATA STRUCTURE</a:t>
            </a:r>
            <a:endParaRPr lang="en-US" sz="1400" dirty="0"/>
          </a:p>
        </p:txBody>
      </p:sp>
      <p:sp>
        <p:nvSpPr>
          <p:cNvPr id="3" name="Text 1"/>
          <p:cNvSpPr/>
          <p:nvPr/>
        </p:nvSpPr>
        <p:spPr>
          <a:xfrm>
            <a:off x="548640" y="658368"/>
            <a:ext cx="9464040" cy="640080"/>
          </a:xfrm>
          <a:prstGeom prst="rect">
            <a:avLst/>
          </a:prstGeom>
          <a:noFill/>
          <a:ln/>
        </p:spPr>
        <p:txBody>
          <a:bodyPr wrap="square" lIns="0" tIns="0" rIns="0" bIns="0" rtlCol="0" anchor="ctr"/>
          <a:lstStyle/>
          <a:p>
            <a:pPr marL="0" indent="0">
              <a:buNone/>
            </a:pPr>
            <a:r>
              <a:rPr lang="en-US" sz="3000" b="1" dirty="0">
                <a:solidFill>
                  <a:srgbClr val="0B3D5C"/>
                </a:solidFill>
                <a:latin typeface="Times New Roman" pitchFamily="34" charset="0"/>
                <a:ea typeface="Times New Roman" pitchFamily="34" charset="-122"/>
                <a:cs typeface="Times New Roman" pitchFamily="34" charset="-120"/>
              </a:rPr>
              <a:t>Singly Linked List</a:t>
            </a:r>
            <a:endParaRPr lang="en-US" sz="3000" dirty="0"/>
          </a:p>
        </p:txBody>
      </p:sp>
      <p:sp>
        <p:nvSpPr>
          <p:cNvPr id="4" name="Shape 2"/>
          <p:cNvSpPr/>
          <p:nvPr/>
        </p:nvSpPr>
        <p:spPr>
          <a:xfrm>
            <a:off x="548640" y="1554480"/>
            <a:ext cx="5212080" cy="4572000"/>
          </a:xfrm>
          <a:prstGeom prst="roundRect">
            <a:avLst>
              <a:gd name="adj" fmla="val 2400"/>
            </a:avLst>
          </a:prstGeom>
          <a:solidFill>
            <a:srgbClr val="EAF3FB"/>
          </a:solidFill>
          <a:ln/>
        </p:spPr>
      </p:sp>
      <p:sp>
        <p:nvSpPr>
          <p:cNvPr id="5" name="Shape 3"/>
          <p:cNvSpPr/>
          <p:nvPr/>
        </p:nvSpPr>
        <p:spPr>
          <a:xfrm>
            <a:off x="822960" y="1810512"/>
            <a:ext cx="548640" cy="548640"/>
          </a:xfrm>
          <a:prstGeom prst="ellipse">
            <a:avLst/>
          </a:prstGeom>
          <a:solidFill>
            <a:srgbClr val="0B5FA5"/>
          </a:solidFill>
          <a:ln/>
        </p:spPr>
      </p:sp>
      <p:pic>
        <p:nvPicPr>
          <p:cNvPr id="6" name="Image 0" descr="icons/link_white.png"/>
          <p:cNvPicPr>
            <a:picLocks noChangeAspect="1"/>
          </p:cNvPicPr>
          <p:nvPr/>
        </p:nvPicPr>
        <p:blipFill>
          <a:blip r:embed="rId3"/>
          <a:stretch>
            <a:fillRect/>
          </a:stretch>
        </p:blipFill>
        <p:spPr>
          <a:xfrm>
            <a:off x="888797" y="1876349"/>
            <a:ext cx="416966" cy="416966"/>
          </a:xfrm>
          <a:prstGeom prst="rect">
            <a:avLst/>
          </a:prstGeom>
        </p:spPr>
      </p:pic>
      <p:sp>
        <p:nvSpPr>
          <p:cNvPr id="7" name="Text 4"/>
          <p:cNvSpPr/>
          <p:nvPr/>
        </p:nvSpPr>
        <p:spPr>
          <a:xfrm>
            <a:off x="1508760" y="1874520"/>
            <a:ext cx="4023360" cy="411480"/>
          </a:xfrm>
          <a:prstGeom prst="rect">
            <a:avLst/>
          </a:prstGeom>
          <a:noFill/>
          <a:ln/>
        </p:spPr>
        <p:txBody>
          <a:bodyPr wrap="square" lIns="0" tIns="0" rIns="0" bIns="0" rtlCol="0" anchor="ctr"/>
          <a:lstStyle/>
          <a:p>
            <a:pPr marL="0" indent="0">
              <a:buNone/>
            </a:pPr>
            <a:r>
              <a:rPr lang="en-US" sz="1600" b="1" dirty="0">
                <a:solidFill>
                  <a:srgbClr val="0B3D5C"/>
                </a:solidFill>
                <a:latin typeface="Times New Roman" pitchFamily="34" charset="0"/>
                <a:ea typeface="Times New Roman" pitchFamily="34" charset="-122"/>
                <a:cs typeface="Times New Roman" pitchFamily="34" charset="-120"/>
              </a:rPr>
              <a:t>Why a Linked List?</a:t>
            </a:r>
            <a:endParaRPr lang="en-US" sz="1600" dirty="0"/>
          </a:p>
        </p:txBody>
      </p:sp>
      <p:sp>
        <p:nvSpPr>
          <p:cNvPr id="8" name="Text 5"/>
          <p:cNvSpPr/>
          <p:nvPr/>
        </p:nvSpPr>
        <p:spPr>
          <a:xfrm>
            <a:off x="868680" y="2514600"/>
            <a:ext cx="4617720" cy="3383280"/>
          </a:xfrm>
          <a:prstGeom prst="rect">
            <a:avLst/>
          </a:prstGeom>
          <a:noFill/>
          <a:ln/>
        </p:spPr>
        <p:txBody>
          <a:bodyPr wrap="square" lIns="0" tIns="0" rIns="0" bIns="0" rtlCol="0" anchor="ctr"/>
          <a:lstStyle/>
          <a:p>
            <a:pPr marL="177800" indent="-177800">
              <a:lnSpc>
                <a:spcPts val="1950"/>
              </a:lnSpc>
              <a:spcAft>
                <a:spcPts val="800"/>
              </a:spcAft>
              <a:buSzPct val="100000"/>
              <a:buChar char="•"/>
            </a:pPr>
            <a:r>
              <a:rPr lang="en-US" sz="1600" dirty="0">
                <a:solidFill>
                  <a:srgbClr val="1F2A37"/>
                </a:solidFill>
                <a:latin typeface="Times New Roman" pitchFamily="34" charset="0"/>
                <a:ea typeface="Times New Roman" pitchFamily="34" charset="-122"/>
                <a:cs typeface="Times New Roman" pitchFamily="34" charset="-120"/>
              </a:rPr>
              <a:t>Size is unknown in advance and changes constantly as passengers book and cancel.</a:t>
            </a:r>
            <a:endParaRPr lang="en-US" sz="1600" dirty="0"/>
          </a:p>
          <a:p>
            <a:pPr marL="177800" indent="-177800">
              <a:lnSpc>
                <a:spcPts val="1950"/>
              </a:lnSpc>
              <a:spcAft>
                <a:spcPts val="800"/>
              </a:spcAft>
              <a:buSzPct val="100000"/>
              <a:buChar char="•"/>
            </a:pPr>
            <a:r>
              <a:rPr lang="en-US" sz="1600" dirty="0">
                <a:solidFill>
                  <a:srgbClr val="1F2A37"/>
                </a:solidFill>
                <a:latin typeface="Times New Roman" pitchFamily="34" charset="0"/>
                <a:ea typeface="Times New Roman" pitchFamily="34" charset="-122"/>
                <a:cs typeface="Times New Roman" pitchFamily="34" charset="-120"/>
              </a:rPr>
              <a:t>Deletion at any position needs only pointer updates — no bulk shifting of elements.</a:t>
            </a:r>
            <a:endParaRPr lang="en-US" sz="1600" dirty="0"/>
          </a:p>
          <a:p>
            <a:pPr marL="177800" indent="-177800">
              <a:lnSpc>
                <a:spcPts val="1950"/>
              </a:lnSpc>
              <a:spcAft>
                <a:spcPts val="800"/>
              </a:spcAft>
              <a:buSzPct val="100000"/>
              <a:buChar char="•"/>
            </a:pPr>
            <a:r>
              <a:rPr lang="en-US" sz="1600" dirty="0">
                <a:solidFill>
                  <a:srgbClr val="1F2A37"/>
                </a:solidFill>
                <a:latin typeface="Times New Roman" pitchFamily="34" charset="0"/>
                <a:ea typeface="Times New Roman" pitchFamily="34" charset="-122"/>
                <a:cs typeface="Times New Roman" pitchFamily="34" charset="-120"/>
              </a:rPr>
              <a:t>Nodes are allocated dynamically, so memory is used only as needed.</a:t>
            </a:r>
            <a:endParaRPr lang="en-US" sz="1600" dirty="0"/>
          </a:p>
          <a:p>
            <a:pPr marL="177800" indent="-177800">
              <a:lnSpc>
                <a:spcPts val="1950"/>
              </a:lnSpc>
              <a:spcAft>
                <a:spcPts val="800"/>
              </a:spcAft>
              <a:buSzPct val="100000"/>
              <a:buChar char="•"/>
            </a:pPr>
            <a:r>
              <a:rPr lang="en-US" sz="1600" dirty="0">
                <a:solidFill>
                  <a:srgbClr val="1F2A37"/>
                </a:solidFill>
                <a:latin typeface="Times New Roman" pitchFamily="34" charset="0"/>
                <a:ea typeface="Times New Roman" pitchFamily="34" charset="-122"/>
                <a:cs typeface="Times New Roman" pitchFamily="34" charset="-120"/>
              </a:rPr>
              <a:t>Sequential traversal naturally mirrors WL1, WL2, WL3 … ranking.</a:t>
            </a:r>
            <a:endParaRPr lang="en-US" sz="1600" dirty="0"/>
          </a:p>
          <a:p>
            <a:pPr marL="177800" indent="-177800">
              <a:lnSpc>
                <a:spcPts val="1950"/>
              </a:lnSpc>
              <a:spcAft>
                <a:spcPts val="800"/>
              </a:spcAft>
              <a:buSzPct val="100000"/>
              <a:buChar char="•"/>
            </a:pPr>
            <a:r>
              <a:rPr lang="en-US" sz="1600" dirty="0">
                <a:solidFill>
                  <a:srgbClr val="1F2A37"/>
                </a:solidFill>
                <a:latin typeface="Times New Roman" pitchFamily="34" charset="0"/>
                <a:ea typeface="Times New Roman" pitchFamily="34" charset="-122"/>
                <a:cs typeface="Times New Roman" pitchFamily="34" charset="-120"/>
              </a:rPr>
              <a:t>New passengers are appended in O(1) using a maintained tail pointer.</a:t>
            </a:r>
            <a:endParaRPr lang="en-US" sz="1600" dirty="0"/>
          </a:p>
        </p:txBody>
      </p:sp>
      <p:sp>
        <p:nvSpPr>
          <p:cNvPr id="9" name="Shape 6"/>
          <p:cNvSpPr/>
          <p:nvPr/>
        </p:nvSpPr>
        <p:spPr>
          <a:xfrm>
            <a:off x="5989320" y="1554480"/>
            <a:ext cx="5669280" cy="4572000"/>
          </a:xfrm>
          <a:prstGeom prst="roundRect">
            <a:avLst>
              <a:gd name="adj" fmla="val 2400"/>
            </a:avLst>
          </a:prstGeom>
          <a:solidFill>
            <a:srgbClr val="0B3D5C"/>
          </a:solidFill>
          <a:ln/>
        </p:spPr>
      </p:sp>
      <p:sp>
        <p:nvSpPr>
          <p:cNvPr id="10" name="Text 7"/>
          <p:cNvSpPr/>
          <p:nvPr/>
        </p:nvSpPr>
        <p:spPr>
          <a:xfrm>
            <a:off x="6263640" y="1737360"/>
            <a:ext cx="5120640" cy="320040"/>
          </a:xfrm>
          <a:prstGeom prst="rect">
            <a:avLst/>
          </a:prstGeom>
          <a:noFill/>
          <a:ln/>
        </p:spPr>
        <p:txBody>
          <a:bodyPr wrap="square" lIns="0" tIns="0" rIns="0" bIns="0" rtlCol="0" anchor="ctr"/>
          <a:lstStyle/>
          <a:p>
            <a:pPr marL="0" indent="0">
              <a:buNone/>
            </a:pPr>
            <a:r>
              <a:rPr lang="en-US" sz="1400" b="1" dirty="0">
                <a:solidFill>
                  <a:srgbClr val="8FD6CC"/>
                </a:solidFill>
                <a:latin typeface="Times New Roman" pitchFamily="34" charset="0"/>
                <a:ea typeface="Times New Roman" pitchFamily="34" charset="-122"/>
                <a:cs typeface="Times New Roman" pitchFamily="34" charset="-120"/>
              </a:rPr>
              <a:t>Linked List Structure of the Waiting List</a:t>
            </a:r>
            <a:endParaRPr lang="en-US" sz="1400" dirty="0"/>
          </a:p>
        </p:txBody>
      </p:sp>
      <p:sp>
        <p:nvSpPr>
          <p:cNvPr id="11" name="Shape 8"/>
          <p:cNvSpPr/>
          <p:nvPr/>
        </p:nvSpPr>
        <p:spPr>
          <a:xfrm>
            <a:off x="6263640" y="2606040"/>
            <a:ext cx="1143000" cy="868680"/>
          </a:xfrm>
          <a:prstGeom prst="roundRect">
            <a:avLst>
              <a:gd name="adj" fmla="val 8421"/>
            </a:avLst>
          </a:prstGeom>
          <a:solidFill>
            <a:srgbClr val="0E9594"/>
          </a:solidFill>
          <a:ln w="12700">
            <a:solidFill>
              <a:srgbClr val="FFFFFF"/>
            </a:solidFill>
            <a:prstDash val="solid"/>
          </a:ln>
        </p:spPr>
      </p:sp>
      <p:sp>
        <p:nvSpPr>
          <p:cNvPr id="12" name="Shape 9"/>
          <p:cNvSpPr/>
          <p:nvPr/>
        </p:nvSpPr>
        <p:spPr>
          <a:xfrm>
            <a:off x="7040880" y="2606040"/>
            <a:ext cx="0" cy="868680"/>
          </a:xfrm>
          <a:prstGeom prst="line">
            <a:avLst/>
          </a:prstGeom>
          <a:noFill/>
          <a:ln w="12700">
            <a:solidFill>
              <a:srgbClr val="FFFFFF"/>
            </a:solidFill>
            <a:prstDash val="solid"/>
          </a:ln>
        </p:spPr>
      </p:sp>
      <p:sp>
        <p:nvSpPr>
          <p:cNvPr id="13" name="Text 10"/>
          <p:cNvSpPr/>
          <p:nvPr/>
        </p:nvSpPr>
        <p:spPr>
          <a:xfrm>
            <a:off x="6263640" y="2660904"/>
            <a:ext cx="777240" cy="758952"/>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WL1</a:t>
            </a:r>
            <a:endParaRPr lang="en-US" sz="1050" dirty="0"/>
          </a:p>
          <a:p>
            <a:pPr marL="0" indent="0" algn="ctr">
              <a:buNone/>
            </a:pPr>
            <a:r>
              <a:rPr lang="en-US" sz="1050" b="1" dirty="0">
                <a:solidFill>
                  <a:srgbClr val="FFFFFF"/>
                </a:solidFill>
                <a:latin typeface="Arial" pitchFamily="34" charset="0"/>
                <a:ea typeface="Arial" pitchFamily="34" charset="-122"/>
                <a:cs typeface="Arial" pitchFamily="34" charset="-120"/>
              </a:rPr>
              <a:t>Arjun</a:t>
            </a:r>
            <a:endParaRPr lang="en-US" sz="1050" dirty="0"/>
          </a:p>
        </p:txBody>
      </p:sp>
      <p:sp>
        <p:nvSpPr>
          <p:cNvPr id="14" name="Text 11"/>
          <p:cNvSpPr/>
          <p:nvPr/>
        </p:nvSpPr>
        <p:spPr>
          <a:xfrm>
            <a:off x="7040880" y="2606040"/>
            <a:ext cx="365760" cy="868680"/>
          </a:xfrm>
          <a:prstGeom prst="rect">
            <a:avLst/>
          </a:prstGeom>
          <a:noFill/>
          <a:ln/>
        </p:spPr>
        <p:txBody>
          <a:bodyPr wrap="square" lIns="0" tIns="0" rIns="0" bIns="0" rtlCol="0" anchor="ctr"/>
          <a:lstStyle/>
          <a:p>
            <a:pPr marL="0" indent="0" algn="ctr">
              <a:buNone/>
            </a:pPr>
            <a:r>
              <a:rPr lang="en-US" sz="1600" dirty="0">
                <a:solidFill>
                  <a:srgbClr val="FFFFFF"/>
                </a:solidFill>
                <a:latin typeface="Arial" pitchFamily="34" charset="0"/>
                <a:ea typeface="Arial" pitchFamily="34" charset="-122"/>
                <a:cs typeface="Arial" pitchFamily="34" charset="-120"/>
              </a:rPr>
              <a:t>•</a:t>
            </a:r>
            <a:endParaRPr lang="en-US" sz="1600" dirty="0"/>
          </a:p>
        </p:txBody>
      </p:sp>
      <p:sp>
        <p:nvSpPr>
          <p:cNvPr id="15" name="Shape 12"/>
          <p:cNvSpPr/>
          <p:nvPr/>
        </p:nvSpPr>
        <p:spPr>
          <a:xfrm>
            <a:off x="7699248" y="2606040"/>
            <a:ext cx="1143000" cy="868680"/>
          </a:xfrm>
          <a:prstGeom prst="roundRect">
            <a:avLst>
              <a:gd name="adj" fmla="val 8421"/>
            </a:avLst>
          </a:prstGeom>
          <a:solidFill>
            <a:srgbClr val="0E9594"/>
          </a:solidFill>
          <a:ln w="12700">
            <a:solidFill>
              <a:srgbClr val="FFFFFF"/>
            </a:solidFill>
            <a:prstDash val="solid"/>
          </a:ln>
        </p:spPr>
      </p:sp>
      <p:sp>
        <p:nvSpPr>
          <p:cNvPr id="16" name="Shape 13"/>
          <p:cNvSpPr/>
          <p:nvPr/>
        </p:nvSpPr>
        <p:spPr>
          <a:xfrm>
            <a:off x="8476488" y="2606040"/>
            <a:ext cx="0" cy="868680"/>
          </a:xfrm>
          <a:prstGeom prst="line">
            <a:avLst/>
          </a:prstGeom>
          <a:noFill/>
          <a:ln w="12700">
            <a:solidFill>
              <a:srgbClr val="FFFFFF"/>
            </a:solidFill>
            <a:prstDash val="solid"/>
          </a:ln>
        </p:spPr>
      </p:sp>
      <p:sp>
        <p:nvSpPr>
          <p:cNvPr id="17" name="Text 14"/>
          <p:cNvSpPr/>
          <p:nvPr/>
        </p:nvSpPr>
        <p:spPr>
          <a:xfrm>
            <a:off x="7699248" y="2660904"/>
            <a:ext cx="777240" cy="758952"/>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WL2</a:t>
            </a:r>
            <a:endParaRPr lang="en-US" sz="1050" dirty="0"/>
          </a:p>
          <a:p>
            <a:pPr marL="0" indent="0" algn="ctr">
              <a:buNone/>
            </a:pPr>
            <a:r>
              <a:rPr lang="en-US" sz="1050" b="1" dirty="0">
                <a:solidFill>
                  <a:srgbClr val="FFFFFF"/>
                </a:solidFill>
                <a:latin typeface="Arial" pitchFamily="34" charset="0"/>
                <a:ea typeface="Arial" pitchFamily="34" charset="-122"/>
                <a:cs typeface="Arial" pitchFamily="34" charset="-120"/>
              </a:rPr>
              <a:t>Priya</a:t>
            </a:r>
            <a:endParaRPr lang="en-US" sz="1050" dirty="0"/>
          </a:p>
        </p:txBody>
      </p:sp>
      <p:sp>
        <p:nvSpPr>
          <p:cNvPr id="18" name="Text 15"/>
          <p:cNvSpPr/>
          <p:nvPr/>
        </p:nvSpPr>
        <p:spPr>
          <a:xfrm>
            <a:off x="8476488" y="2606040"/>
            <a:ext cx="365760" cy="868680"/>
          </a:xfrm>
          <a:prstGeom prst="rect">
            <a:avLst/>
          </a:prstGeom>
          <a:noFill/>
          <a:ln/>
        </p:spPr>
        <p:txBody>
          <a:bodyPr wrap="square" lIns="0" tIns="0" rIns="0" bIns="0" rtlCol="0" anchor="ctr"/>
          <a:lstStyle/>
          <a:p>
            <a:pPr marL="0" indent="0" algn="ctr">
              <a:buNone/>
            </a:pPr>
            <a:r>
              <a:rPr lang="en-US" sz="1600" dirty="0">
                <a:solidFill>
                  <a:srgbClr val="FFFFFF"/>
                </a:solidFill>
                <a:latin typeface="Arial" pitchFamily="34" charset="0"/>
                <a:ea typeface="Arial" pitchFamily="34" charset="-122"/>
                <a:cs typeface="Arial" pitchFamily="34" charset="-120"/>
              </a:rPr>
              <a:t>•</a:t>
            </a:r>
            <a:endParaRPr lang="en-US" sz="1600" dirty="0"/>
          </a:p>
        </p:txBody>
      </p:sp>
      <p:sp>
        <p:nvSpPr>
          <p:cNvPr id="19" name="Shape 16"/>
          <p:cNvSpPr/>
          <p:nvPr/>
        </p:nvSpPr>
        <p:spPr>
          <a:xfrm>
            <a:off x="9134856" y="2606040"/>
            <a:ext cx="1143000" cy="868680"/>
          </a:xfrm>
          <a:prstGeom prst="roundRect">
            <a:avLst>
              <a:gd name="adj" fmla="val 8421"/>
            </a:avLst>
          </a:prstGeom>
          <a:solidFill>
            <a:srgbClr val="0E9594"/>
          </a:solidFill>
          <a:ln w="12700">
            <a:solidFill>
              <a:srgbClr val="FFFFFF"/>
            </a:solidFill>
            <a:prstDash val="solid"/>
          </a:ln>
        </p:spPr>
      </p:sp>
      <p:sp>
        <p:nvSpPr>
          <p:cNvPr id="20" name="Shape 17"/>
          <p:cNvSpPr/>
          <p:nvPr/>
        </p:nvSpPr>
        <p:spPr>
          <a:xfrm>
            <a:off x="9912096" y="2606040"/>
            <a:ext cx="0" cy="868680"/>
          </a:xfrm>
          <a:prstGeom prst="line">
            <a:avLst/>
          </a:prstGeom>
          <a:noFill/>
          <a:ln w="12700">
            <a:solidFill>
              <a:srgbClr val="FFFFFF"/>
            </a:solidFill>
            <a:prstDash val="solid"/>
          </a:ln>
        </p:spPr>
      </p:sp>
      <p:sp>
        <p:nvSpPr>
          <p:cNvPr id="21" name="Text 18"/>
          <p:cNvSpPr/>
          <p:nvPr/>
        </p:nvSpPr>
        <p:spPr>
          <a:xfrm>
            <a:off x="9134856" y="2660904"/>
            <a:ext cx="777240" cy="758952"/>
          </a:xfrm>
          <a:prstGeom prst="rect">
            <a:avLst/>
          </a:prstGeom>
          <a:noFill/>
          <a:ln/>
        </p:spPr>
        <p:txBody>
          <a:bodyPr wrap="square" lIns="0" tIns="0" rIns="0" bIns="0" rtlCol="0" anchor="ctr"/>
          <a:lstStyle/>
          <a:p>
            <a:pPr marL="0" indent="0" algn="ctr">
              <a:buNone/>
            </a:pPr>
            <a:r>
              <a:rPr lang="en-US" sz="1050" b="1" dirty="0">
                <a:solidFill>
                  <a:srgbClr val="FFFFFF"/>
                </a:solidFill>
                <a:latin typeface="Arial" pitchFamily="34" charset="0"/>
                <a:ea typeface="Arial" pitchFamily="34" charset="-122"/>
                <a:cs typeface="Arial" pitchFamily="34" charset="-120"/>
              </a:rPr>
              <a:t>WL3</a:t>
            </a:r>
            <a:endParaRPr lang="en-US" sz="1050" dirty="0"/>
          </a:p>
          <a:p>
            <a:pPr marL="0" indent="0" algn="ctr">
              <a:buNone/>
            </a:pPr>
            <a:r>
              <a:rPr lang="en-US" sz="1050" b="1" dirty="0">
                <a:solidFill>
                  <a:srgbClr val="FFFFFF"/>
                </a:solidFill>
                <a:latin typeface="Arial" pitchFamily="34" charset="0"/>
                <a:ea typeface="Arial" pitchFamily="34" charset="-122"/>
                <a:cs typeface="Arial" pitchFamily="34" charset="-120"/>
              </a:rPr>
              <a:t>Kabir</a:t>
            </a:r>
            <a:endParaRPr lang="en-US" sz="1050" dirty="0"/>
          </a:p>
        </p:txBody>
      </p:sp>
      <p:sp>
        <p:nvSpPr>
          <p:cNvPr id="22" name="Text 19"/>
          <p:cNvSpPr/>
          <p:nvPr/>
        </p:nvSpPr>
        <p:spPr>
          <a:xfrm>
            <a:off x="9912096" y="2606040"/>
            <a:ext cx="365760" cy="868680"/>
          </a:xfrm>
          <a:prstGeom prst="rect">
            <a:avLst/>
          </a:prstGeom>
          <a:noFill/>
          <a:ln/>
        </p:spPr>
        <p:txBody>
          <a:bodyPr wrap="square" lIns="0" tIns="0" rIns="0" bIns="0" rtlCol="0" anchor="ctr"/>
          <a:lstStyle/>
          <a:p>
            <a:pPr marL="0" indent="0" algn="ctr">
              <a:buNone/>
            </a:pPr>
            <a:r>
              <a:rPr lang="en-US" sz="1600" dirty="0">
                <a:solidFill>
                  <a:srgbClr val="FFFFFF"/>
                </a:solidFill>
                <a:latin typeface="Arial" pitchFamily="34" charset="0"/>
                <a:ea typeface="Arial" pitchFamily="34" charset="-122"/>
                <a:cs typeface="Arial" pitchFamily="34" charset="-120"/>
              </a:rPr>
              <a:t>•</a:t>
            </a:r>
            <a:endParaRPr lang="en-US" sz="1600" dirty="0"/>
          </a:p>
        </p:txBody>
      </p:sp>
      <p:sp>
        <p:nvSpPr>
          <p:cNvPr id="23" name="Shape 20"/>
          <p:cNvSpPr/>
          <p:nvPr/>
        </p:nvSpPr>
        <p:spPr>
          <a:xfrm>
            <a:off x="7452360" y="2948940"/>
            <a:ext cx="201168" cy="182880"/>
          </a:xfrm>
          <a:prstGeom prst="rightArrow">
            <a:avLst/>
          </a:prstGeom>
          <a:solidFill>
            <a:srgbClr val="17C3A2"/>
          </a:solidFill>
          <a:ln/>
        </p:spPr>
      </p:sp>
      <p:sp>
        <p:nvSpPr>
          <p:cNvPr id="24" name="Shape 21"/>
          <p:cNvSpPr/>
          <p:nvPr/>
        </p:nvSpPr>
        <p:spPr>
          <a:xfrm>
            <a:off x="8887968" y="2948940"/>
            <a:ext cx="201168" cy="182880"/>
          </a:xfrm>
          <a:prstGeom prst="rightArrow">
            <a:avLst/>
          </a:prstGeom>
          <a:solidFill>
            <a:srgbClr val="17C3A2"/>
          </a:solidFill>
          <a:ln/>
        </p:spPr>
      </p:sp>
      <p:sp>
        <p:nvSpPr>
          <p:cNvPr id="25" name="Shape 22"/>
          <p:cNvSpPr/>
          <p:nvPr/>
        </p:nvSpPr>
        <p:spPr>
          <a:xfrm>
            <a:off x="10323576" y="2948940"/>
            <a:ext cx="201168" cy="182880"/>
          </a:xfrm>
          <a:prstGeom prst="rightArrow">
            <a:avLst/>
          </a:prstGeom>
          <a:solidFill>
            <a:srgbClr val="17C3A2"/>
          </a:solidFill>
          <a:ln/>
        </p:spPr>
      </p:sp>
      <p:sp>
        <p:nvSpPr>
          <p:cNvPr id="26" name="Shape 23"/>
          <p:cNvSpPr/>
          <p:nvPr/>
        </p:nvSpPr>
        <p:spPr>
          <a:xfrm>
            <a:off x="10570464" y="2770632"/>
            <a:ext cx="685800" cy="548640"/>
          </a:xfrm>
          <a:prstGeom prst="roundRect">
            <a:avLst>
              <a:gd name="adj" fmla="val 13333"/>
            </a:avLst>
          </a:prstGeom>
          <a:solidFill>
            <a:srgbClr val="34506A"/>
          </a:solidFill>
          <a:ln w="12700">
            <a:solidFill>
              <a:srgbClr val="FFFFFF"/>
            </a:solidFill>
            <a:prstDash val="solid"/>
          </a:ln>
        </p:spPr>
      </p:sp>
      <p:sp>
        <p:nvSpPr>
          <p:cNvPr id="27" name="Text 24"/>
          <p:cNvSpPr/>
          <p:nvPr/>
        </p:nvSpPr>
        <p:spPr>
          <a:xfrm>
            <a:off x="10570464" y="2770632"/>
            <a:ext cx="685800" cy="548640"/>
          </a:xfrm>
          <a:prstGeom prst="rect">
            <a:avLst/>
          </a:prstGeom>
          <a:noFill/>
          <a:ln/>
        </p:spPr>
        <p:txBody>
          <a:bodyPr wrap="square" lIns="0" tIns="0" rIns="0" bIns="0" rtlCol="0" anchor="ctr"/>
          <a:lstStyle/>
          <a:p>
            <a:pPr marL="0" indent="0" algn="ctr">
              <a:buNone/>
            </a:pPr>
            <a:r>
              <a:rPr lang="en-US" sz="1050" b="1" dirty="0">
                <a:solidFill>
                  <a:srgbClr val="C9DCEA"/>
                </a:solidFill>
                <a:latin typeface="Arial" pitchFamily="34" charset="0"/>
                <a:ea typeface="Arial" pitchFamily="34" charset="-122"/>
                <a:cs typeface="Arial" pitchFamily="34" charset="-120"/>
              </a:rPr>
              <a:t>NULL</a:t>
            </a:r>
            <a:endParaRPr lang="en-US" sz="1050" dirty="0"/>
          </a:p>
        </p:txBody>
      </p:sp>
      <p:sp>
        <p:nvSpPr>
          <p:cNvPr id="28" name="Text 25"/>
          <p:cNvSpPr/>
          <p:nvPr/>
        </p:nvSpPr>
        <p:spPr>
          <a:xfrm>
            <a:off x="6217920" y="2221992"/>
            <a:ext cx="914400" cy="274320"/>
          </a:xfrm>
          <a:prstGeom prst="rect">
            <a:avLst/>
          </a:prstGeom>
          <a:noFill/>
          <a:ln/>
        </p:spPr>
        <p:txBody>
          <a:bodyPr wrap="square" lIns="0" tIns="0" rIns="0" bIns="0" rtlCol="0" anchor="ctr"/>
          <a:lstStyle/>
          <a:p>
            <a:pPr marL="0" indent="0">
              <a:buNone/>
            </a:pPr>
            <a:r>
              <a:rPr lang="en-US" sz="1100" b="1" dirty="0">
                <a:solidFill>
                  <a:srgbClr val="17C3A2"/>
                </a:solidFill>
                <a:latin typeface="Arial" pitchFamily="34" charset="0"/>
                <a:ea typeface="Arial" pitchFamily="34" charset="-122"/>
                <a:cs typeface="Arial" pitchFamily="34" charset="-120"/>
              </a:rPr>
              <a:t>HEAD</a:t>
            </a:r>
            <a:endParaRPr lang="en-US" sz="1100" dirty="0"/>
          </a:p>
        </p:txBody>
      </p:sp>
      <p:sp>
        <p:nvSpPr>
          <p:cNvPr id="29" name="Shape 26"/>
          <p:cNvSpPr/>
          <p:nvPr/>
        </p:nvSpPr>
        <p:spPr>
          <a:xfrm>
            <a:off x="6739128" y="2350008"/>
            <a:ext cx="182880" cy="219456"/>
          </a:xfrm>
          <a:prstGeom prst="downArrow">
            <a:avLst/>
          </a:prstGeom>
          <a:solidFill>
            <a:srgbClr val="17C3A2"/>
          </a:solidFill>
          <a:ln/>
        </p:spPr>
      </p:sp>
      <p:sp>
        <p:nvSpPr>
          <p:cNvPr id="30" name="Text 27"/>
          <p:cNvSpPr/>
          <p:nvPr/>
        </p:nvSpPr>
        <p:spPr>
          <a:xfrm>
            <a:off x="6263640" y="3794760"/>
            <a:ext cx="5120640" cy="777240"/>
          </a:xfrm>
          <a:prstGeom prst="rect">
            <a:avLst/>
          </a:prstGeom>
          <a:noFill/>
          <a:ln/>
        </p:spPr>
        <p:txBody>
          <a:bodyPr wrap="square" lIns="0" tIns="0" rIns="0" bIns="0" rtlCol="0" anchor="ctr"/>
          <a:lstStyle/>
          <a:p>
            <a:pPr marL="0" indent="0">
              <a:lnSpc>
                <a:spcPts val="1600"/>
              </a:lnSpc>
              <a:buNone/>
            </a:pPr>
            <a:r>
              <a:rPr lang="en-US" sz="1400" i="1" dirty="0">
                <a:solidFill>
                  <a:srgbClr val="C9DCEA"/>
                </a:solidFill>
                <a:latin typeface="Times New Roman" pitchFamily="34" charset="0"/>
                <a:ea typeface="Times New Roman" pitchFamily="34" charset="-122"/>
                <a:cs typeface="Times New Roman" pitchFamily="34" charset="-120"/>
              </a:rPr>
              <a:t>Each node stores passenger data and a pointer to the next node. Cancellation removes a node by re-linking its neighbours in O(1) once located.</a:t>
            </a:r>
            <a:endParaRPr lang="en-US" sz="1400" dirty="0"/>
          </a:p>
        </p:txBody>
      </p:sp>
      <p:sp>
        <p:nvSpPr>
          <p:cNvPr id="31" name="Shape 28"/>
          <p:cNvSpPr/>
          <p:nvPr/>
        </p:nvSpPr>
        <p:spPr>
          <a:xfrm>
            <a:off x="6263640" y="4709160"/>
            <a:ext cx="5120640" cy="1234440"/>
          </a:xfrm>
          <a:prstGeom prst="roundRect">
            <a:avLst>
              <a:gd name="adj" fmla="val 7407"/>
            </a:avLst>
          </a:prstGeom>
          <a:solidFill>
            <a:srgbClr val="0A2E45"/>
          </a:solidFill>
          <a:ln w="12700">
            <a:solidFill>
              <a:srgbClr val="3E6A8A"/>
            </a:solidFill>
            <a:prstDash val="solid"/>
          </a:ln>
        </p:spPr>
      </p:sp>
      <p:sp>
        <p:nvSpPr>
          <p:cNvPr id="32" name="Text 29"/>
          <p:cNvSpPr/>
          <p:nvPr/>
        </p:nvSpPr>
        <p:spPr>
          <a:xfrm>
            <a:off x="6446520" y="4800600"/>
            <a:ext cx="4754880" cy="1051560"/>
          </a:xfrm>
          <a:prstGeom prst="rect">
            <a:avLst/>
          </a:prstGeom>
          <a:noFill/>
          <a:ln/>
        </p:spPr>
        <p:txBody>
          <a:bodyPr wrap="square" lIns="0" tIns="0" rIns="0" bIns="0" rtlCol="0" anchor="ctr"/>
          <a:lstStyle/>
          <a:p>
            <a:pPr marL="0" indent="0">
              <a:lnSpc>
                <a:spcPts val="1500"/>
              </a:lnSpc>
              <a:buNone/>
            </a:pPr>
            <a:r>
              <a:rPr lang="en-US" sz="1150" dirty="0">
                <a:solidFill>
                  <a:srgbClr val="8FD6CC"/>
                </a:solidFill>
                <a:latin typeface="Courier New" pitchFamily="34" charset="0"/>
                <a:ea typeface="Courier New" pitchFamily="34" charset="-122"/>
                <a:cs typeface="Courier New" pitchFamily="34" charset="-120"/>
              </a:rPr>
              <a:t>struct Node {
</a:t>
            </a:r>
            <a:r>
              <a:rPr lang="en-US" sz="1150" dirty="0">
                <a:solidFill>
                  <a:srgbClr val="FFFFFF"/>
                </a:solidFill>
                <a:latin typeface="Courier New" pitchFamily="34" charset="0"/>
                <a:ea typeface="Courier New" pitchFamily="34" charset="-122"/>
                <a:cs typeface="Courier New" pitchFamily="34" charset="-120"/>
              </a:rPr>
              <a:t>    int passengerID;
    string name;
    int position;
</a:t>
            </a:r>
            <a:r>
              <a:rPr lang="en-US" sz="1150" dirty="0">
                <a:solidFill>
                  <a:srgbClr val="17C3A2"/>
                </a:solidFill>
                <a:latin typeface="Courier New" pitchFamily="34" charset="0"/>
                <a:ea typeface="Courier New" pitchFamily="34" charset="-122"/>
                <a:cs typeface="Courier New" pitchFamily="34" charset="-120"/>
              </a:rPr>
              <a:t>    Node* next;
</a:t>
            </a:r>
            <a:r>
              <a:rPr lang="en-US" sz="1150" dirty="0">
                <a:solidFill>
                  <a:srgbClr val="8FD6CC"/>
                </a:solidFill>
                <a:latin typeface="Courier New" pitchFamily="34" charset="0"/>
                <a:ea typeface="Courier New" pitchFamily="34" charset="-122"/>
                <a:cs typeface="Courier New" pitchFamily="34" charset="-120"/>
              </a:rPr>
              <a:t>};</a:t>
            </a:r>
            <a:endParaRPr lang="en-US" sz="1150" dirty="0"/>
          </a:p>
        </p:txBody>
      </p:sp>
      <p:pic>
        <p:nvPicPr>
          <p:cNvPr id="33" name="Image 1" descr="assets/simats_logo.png"/>
          <p:cNvPicPr>
            <a:picLocks noChangeAspect="1"/>
          </p:cNvPicPr>
          <p:nvPr/>
        </p:nvPicPr>
        <p:blipFill>
          <a:blip r:embed="rId4"/>
          <a:stretch>
            <a:fillRect/>
          </a:stretch>
        </p:blipFill>
        <p:spPr>
          <a:xfrm>
            <a:off x="10680192" y="292608"/>
            <a:ext cx="1051560" cy="269932"/>
          </a:xfrm>
          <a:prstGeom prst="rect">
            <a:avLst/>
          </a:prstGeom>
        </p:spPr>
      </p:pic>
      <p:sp>
        <p:nvSpPr>
          <p:cNvPr id="37" name="Text 39">
            <a:extLst>
              <a:ext uri="{FF2B5EF4-FFF2-40B4-BE49-F238E27FC236}">
                <a16:creationId xmlns:a16="http://schemas.microsoft.com/office/drawing/2014/main" id="{E99897E0-B08F-A66B-0E10-D5AAC0D68EA2}"/>
              </a:ext>
            </a:extLst>
          </p:cNvPr>
          <p:cNvSpPr/>
          <p:nvPr/>
        </p:nvSpPr>
        <p:spPr>
          <a:xfrm>
            <a:off x="502920" y="6419973"/>
            <a:ext cx="7772400" cy="274320"/>
          </a:xfrm>
          <a:prstGeom prst="rect">
            <a:avLst/>
          </a:prstGeom>
          <a:noFill/>
          <a:ln/>
        </p:spPr>
        <p:txBody>
          <a:bodyPr wrap="square" lIns="0" tIns="0" rIns="0" bIns="0" rtlCol="0" anchor="ctr"/>
          <a:lstStyle/>
          <a:p>
            <a:pPr marL="0" indent="0" algn="l">
              <a:buNone/>
            </a:pPr>
            <a:r>
              <a:rPr lang="en-US" sz="1200" dirty="0">
                <a:solidFill>
                  <a:srgbClr val="5B6B79"/>
                </a:solidFill>
                <a:latin typeface="Times New Roman" pitchFamily="34" charset="0"/>
                <a:ea typeface="Times New Roman" pitchFamily="34" charset="-122"/>
                <a:cs typeface="Times New Roman" pitchFamily="34" charset="-120"/>
              </a:rPr>
              <a:t>CSA0306 | CO1 – AT3 | Variganji Sumanth Babu | Reg No: 192524447</a:t>
            </a:r>
            <a:endParaRPr lang="en-US" sz="1200" dirty="0"/>
          </a:p>
        </p:txBody>
      </p:sp>
      <p:sp>
        <p:nvSpPr>
          <p:cNvPr id="39" name="Text 40">
            <a:extLst>
              <a:ext uri="{FF2B5EF4-FFF2-40B4-BE49-F238E27FC236}">
                <a16:creationId xmlns:a16="http://schemas.microsoft.com/office/drawing/2014/main" id="{06DCB25F-6945-6687-38C0-00C8AC6E5B4A}"/>
              </a:ext>
            </a:extLst>
          </p:cNvPr>
          <p:cNvSpPr/>
          <p:nvPr/>
        </p:nvSpPr>
        <p:spPr>
          <a:xfrm>
            <a:off x="10680192" y="6419973"/>
            <a:ext cx="1097280" cy="274320"/>
          </a:xfrm>
          <a:prstGeom prst="rect">
            <a:avLst/>
          </a:prstGeom>
          <a:noFill/>
          <a:ln/>
        </p:spPr>
        <p:txBody>
          <a:bodyPr wrap="square" lIns="0" tIns="0" rIns="0" bIns="0" rtlCol="0" anchor="ctr"/>
          <a:lstStyle/>
          <a:p>
            <a:pPr marL="0" indent="0" algn="r">
              <a:buNone/>
            </a:pPr>
            <a:r>
              <a:rPr lang="en-US" sz="1200" dirty="0">
                <a:solidFill>
                  <a:srgbClr val="5B6B79"/>
                </a:solidFill>
                <a:latin typeface="Times New Roman" pitchFamily="34" charset="0"/>
                <a:ea typeface="Times New Roman" pitchFamily="34" charset="-122"/>
                <a:cs typeface="Times New Roman" pitchFamily="34" charset="-120"/>
              </a:rPr>
              <a:t>Slide 3 of 11</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marL="0" indent="0">
              <a:buNone/>
            </a:pPr>
            <a:r>
              <a:rPr lang="en-US" sz="1400" b="1" kern="0" spc="200" dirty="0">
                <a:solidFill>
                  <a:srgbClr val="0E9594"/>
                </a:solidFill>
                <a:latin typeface="Times New Roman" pitchFamily="34" charset="0"/>
                <a:ea typeface="Times New Roman" pitchFamily="34" charset="-122"/>
                <a:cs typeface="Times New Roman" pitchFamily="34" charset="-120"/>
              </a:rPr>
              <a:t>WORKING PRINCIPLE</a:t>
            </a:r>
            <a:endParaRPr lang="en-US" sz="1400" dirty="0"/>
          </a:p>
        </p:txBody>
      </p:sp>
      <p:sp>
        <p:nvSpPr>
          <p:cNvPr id="3" name="Text 1"/>
          <p:cNvSpPr/>
          <p:nvPr/>
        </p:nvSpPr>
        <p:spPr>
          <a:xfrm>
            <a:off x="548640" y="658368"/>
            <a:ext cx="9464040" cy="640080"/>
          </a:xfrm>
          <a:prstGeom prst="rect">
            <a:avLst/>
          </a:prstGeom>
          <a:noFill/>
          <a:ln/>
        </p:spPr>
        <p:txBody>
          <a:bodyPr wrap="square" lIns="0" tIns="0" rIns="0" bIns="0" rtlCol="0" anchor="ctr"/>
          <a:lstStyle/>
          <a:p>
            <a:pPr marL="0" indent="0">
              <a:buNone/>
            </a:pPr>
            <a:r>
              <a:rPr lang="en-US" sz="3000" b="1" dirty="0">
                <a:solidFill>
                  <a:srgbClr val="0B3D5C"/>
                </a:solidFill>
                <a:latin typeface="Times New Roman" pitchFamily="34" charset="0"/>
                <a:ea typeface="Times New Roman" pitchFamily="34" charset="-122"/>
                <a:cs typeface="Times New Roman" pitchFamily="34" charset="-120"/>
              </a:rPr>
              <a:t>Insertion, Cancellation &amp; List Update</a:t>
            </a:r>
            <a:endParaRPr lang="en-US" sz="3000" dirty="0"/>
          </a:p>
        </p:txBody>
      </p:sp>
      <p:sp>
        <p:nvSpPr>
          <p:cNvPr id="4" name="Text 2"/>
          <p:cNvSpPr/>
          <p:nvPr/>
        </p:nvSpPr>
        <p:spPr>
          <a:xfrm>
            <a:off x="548640" y="1536192"/>
            <a:ext cx="4297680" cy="3108960"/>
          </a:xfrm>
          <a:prstGeom prst="rect">
            <a:avLst/>
          </a:prstGeom>
          <a:noFill/>
          <a:ln/>
        </p:spPr>
        <p:txBody>
          <a:bodyPr wrap="square" lIns="0" tIns="0" rIns="0" bIns="0" rtlCol="0" anchor="ctr"/>
          <a:lstStyle/>
          <a:p>
            <a:pPr marL="177800" indent="-177800">
              <a:lnSpc>
                <a:spcPts val="1900"/>
              </a:lnSpc>
              <a:spcAft>
                <a:spcPts val="900"/>
              </a:spcAft>
              <a:buSzPct val="100000"/>
              <a:buChar char="•"/>
            </a:pPr>
            <a:r>
              <a:rPr lang="en-US" sz="1600" dirty="0">
                <a:solidFill>
                  <a:srgbClr val="1F2A37"/>
                </a:solidFill>
                <a:latin typeface="Times New Roman" pitchFamily="34" charset="0"/>
                <a:ea typeface="Times New Roman" pitchFamily="34" charset="-122"/>
                <a:cs typeface="Times New Roman" pitchFamily="34" charset="-120"/>
              </a:rPr>
              <a:t>New booking: a node is created and appended at the tail — becomes the last WL rank.</a:t>
            </a:r>
            <a:endParaRPr lang="en-US" sz="1600" dirty="0"/>
          </a:p>
          <a:p>
            <a:pPr marL="177800" indent="-177800">
              <a:lnSpc>
                <a:spcPts val="1900"/>
              </a:lnSpc>
              <a:spcAft>
                <a:spcPts val="900"/>
              </a:spcAft>
              <a:buSzPct val="100000"/>
              <a:buChar char="•"/>
            </a:pPr>
            <a:r>
              <a:rPr lang="en-US" sz="1600" dirty="0">
                <a:solidFill>
                  <a:srgbClr val="1F2A37"/>
                </a:solidFill>
                <a:latin typeface="Times New Roman" pitchFamily="34" charset="0"/>
                <a:ea typeface="Times New Roman" pitchFamily="34" charset="-122"/>
                <a:cs typeface="Times New Roman" pitchFamily="34" charset="-120"/>
              </a:rPr>
              <a:t>Cancellation: the system traverses to the node just before the target position.</a:t>
            </a:r>
            <a:endParaRPr lang="en-US" sz="1600" dirty="0"/>
          </a:p>
          <a:p>
            <a:pPr marL="177800" indent="-177800">
              <a:lnSpc>
                <a:spcPts val="1900"/>
              </a:lnSpc>
              <a:spcAft>
                <a:spcPts val="900"/>
              </a:spcAft>
              <a:buSzPct val="100000"/>
              <a:buChar char="•"/>
            </a:pPr>
            <a:r>
              <a:rPr lang="en-US" sz="1600" dirty="0">
                <a:solidFill>
                  <a:srgbClr val="1F2A37"/>
                </a:solidFill>
                <a:latin typeface="Times New Roman" pitchFamily="34" charset="0"/>
                <a:ea typeface="Times New Roman" pitchFamily="34" charset="-122"/>
                <a:cs typeface="Times New Roman" pitchFamily="34" charset="-120"/>
              </a:rPr>
              <a:t>Re-linking: the previous node's pointer is redirected to skip the cancelled node.</a:t>
            </a:r>
            <a:endParaRPr lang="en-US" sz="1600" dirty="0"/>
          </a:p>
          <a:p>
            <a:pPr marL="177800" indent="-177800">
              <a:lnSpc>
                <a:spcPts val="1900"/>
              </a:lnSpc>
              <a:spcAft>
                <a:spcPts val="900"/>
              </a:spcAft>
              <a:buSzPct val="100000"/>
              <a:buChar char="•"/>
            </a:pPr>
            <a:r>
              <a:rPr lang="en-US" sz="1600" dirty="0">
                <a:solidFill>
                  <a:srgbClr val="1F2A37"/>
                </a:solidFill>
                <a:latin typeface="Times New Roman" pitchFamily="34" charset="0"/>
                <a:ea typeface="Times New Roman" pitchFamily="34" charset="-122"/>
                <a:cs typeface="Times New Roman" pitchFamily="34" charset="-120"/>
              </a:rPr>
              <a:t>Renumbering: the list is traversed once to reassign WL1, WL2, WL3 … in order.</a:t>
            </a:r>
            <a:endParaRPr lang="en-US" sz="1600" dirty="0"/>
          </a:p>
          <a:p>
            <a:pPr marL="177800" indent="-177800">
              <a:lnSpc>
                <a:spcPts val="1900"/>
              </a:lnSpc>
              <a:spcAft>
                <a:spcPts val="900"/>
              </a:spcAft>
              <a:buSzPct val="100000"/>
              <a:buChar char="•"/>
            </a:pPr>
            <a:r>
              <a:rPr lang="en-US" sz="1600" dirty="0">
                <a:solidFill>
                  <a:srgbClr val="1F2A37"/>
                </a:solidFill>
                <a:latin typeface="Times New Roman" pitchFamily="34" charset="0"/>
                <a:ea typeface="Times New Roman" pitchFamily="34" charset="-122"/>
                <a:cs typeface="Times New Roman" pitchFamily="34" charset="-120"/>
              </a:rPr>
              <a:t>Confirmation: if a berth frees up, the head node is promoted to a confirmed seat.</a:t>
            </a:r>
            <a:endParaRPr lang="en-US" sz="1600" dirty="0"/>
          </a:p>
        </p:txBody>
      </p:sp>
      <p:sp>
        <p:nvSpPr>
          <p:cNvPr id="5" name="Shape 3"/>
          <p:cNvSpPr/>
          <p:nvPr/>
        </p:nvSpPr>
        <p:spPr>
          <a:xfrm>
            <a:off x="548640" y="4800600"/>
            <a:ext cx="4297680" cy="1280160"/>
          </a:xfrm>
          <a:prstGeom prst="roundRect">
            <a:avLst>
              <a:gd name="adj" fmla="val 7143"/>
            </a:avLst>
          </a:prstGeom>
          <a:solidFill>
            <a:srgbClr val="E6F7F6"/>
          </a:solidFill>
          <a:ln/>
        </p:spPr>
      </p:sp>
      <p:sp>
        <p:nvSpPr>
          <p:cNvPr id="6" name="Text 4"/>
          <p:cNvSpPr/>
          <p:nvPr/>
        </p:nvSpPr>
        <p:spPr>
          <a:xfrm>
            <a:off x="777240" y="4937760"/>
            <a:ext cx="3840480" cy="1005840"/>
          </a:xfrm>
          <a:prstGeom prst="rect">
            <a:avLst/>
          </a:prstGeom>
          <a:noFill/>
          <a:ln/>
        </p:spPr>
        <p:txBody>
          <a:bodyPr wrap="square" lIns="0" tIns="0" rIns="0" bIns="0" rtlCol="0" anchor="ctr"/>
          <a:lstStyle/>
          <a:p>
            <a:pPr marL="0" indent="0">
              <a:lnSpc>
                <a:spcPts val="1600"/>
              </a:lnSpc>
              <a:buNone/>
            </a:pPr>
            <a:r>
              <a:rPr lang="en-US" sz="1400" i="1" dirty="0">
                <a:solidFill>
                  <a:srgbClr val="0B3D5C"/>
                </a:solidFill>
                <a:latin typeface="Times New Roman" pitchFamily="34" charset="0"/>
                <a:ea typeface="Times New Roman" pitchFamily="34" charset="-122"/>
                <a:cs typeface="Times New Roman" pitchFamily="34" charset="-120"/>
              </a:rPr>
              <a:t>All updates are performed in a single traversal pass, keeping the operation efficient even for a long waiting list.</a:t>
            </a:r>
            <a:endParaRPr lang="en-US" sz="1400" dirty="0"/>
          </a:p>
        </p:txBody>
      </p:sp>
      <p:grpSp>
        <p:nvGrpSpPr>
          <p:cNvPr id="37" name="Group 36">
            <a:extLst>
              <a:ext uri="{FF2B5EF4-FFF2-40B4-BE49-F238E27FC236}">
                <a16:creationId xmlns:a16="http://schemas.microsoft.com/office/drawing/2014/main" id="{7CFAE1E9-5BAF-CB18-A6E8-BE4006DA4E35}"/>
              </a:ext>
            </a:extLst>
          </p:cNvPr>
          <p:cNvGrpSpPr/>
          <p:nvPr/>
        </p:nvGrpSpPr>
        <p:grpSpPr>
          <a:xfrm>
            <a:off x="5897880" y="1396254"/>
            <a:ext cx="5330952" cy="5074920"/>
            <a:chOff x="5349240" y="1417320"/>
            <a:chExt cx="6172200" cy="6163056"/>
          </a:xfrm>
        </p:grpSpPr>
        <p:sp>
          <p:nvSpPr>
            <p:cNvPr id="7" name="Shape 5"/>
            <p:cNvSpPr/>
            <p:nvPr/>
          </p:nvSpPr>
          <p:spPr>
            <a:xfrm>
              <a:off x="6880860" y="1417320"/>
              <a:ext cx="3108960" cy="566928"/>
            </a:xfrm>
            <a:prstGeom prst="roundRect">
              <a:avLst>
                <a:gd name="adj" fmla="val 48387"/>
              </a:avLst>
            </a:prstGeom>
            <a:solidFill>
              <a:srgbClr val="0E9594"/>
            </a:solidFill>
            <a:ln/>
          </p:spPr>
        </p:sp>
        <p:sp>
          <p:nvSpPr>
            <p:cNvPr id="8" name="Text 6"/>
            <p:cNvSpPr/>
            <p:nvPr/>
          </p:nvSpPr>
          <p:spPr>
            <a:xfrm>
              <a:off x="6880860" y="1417320"/>
              <a:ext cx="310896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START</a:t>
              </a:r>
              <a:endParaRPr lang="en-US" sz="1200" dirty="0"/>
            </a:p>
          </p:txBody>
        </p:sp>
        <p:sp>
          <p:nvSpPr>
            <p:cNvPr id="9" name="Shape 7"/>
            <p:cNvSpPr/>
            <p:nvPr/>
          </p:nvSpPr>
          <p:spPr>
            <a:xfrm>
              <a:off x="6880860" y="2240280"/>
              <a:ext cx="3108960" cy="566928"/>
            </a:xfrm>
            <a:prstGeom prst="roundRect">
              <a:avLst>
                <a:gd name="adj" fmla="val 12903"/>
              </a:avLst>
            </a:prstGeom>
            <a:solidFill>
              <a:srgbClr val="0B5FA5"/>
            </a:solidFill>
            <a:ln/>
          </p:spPr>
        </p:sp>
        <p:sp>
          <p:nvSpPr>
            <p:cNvPr id="10" name="Text 8"/>
            <p:cNvSpPr/>
            <p:nvPr/>
          </p:nvSpPr>
          <p:spPr>
            <a:xfrm>
              <a:off x="6880860" y="2240280"/>
              <a:ext cx="3108960" cy="566928"/>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New Booking Request Arrives</a:t>
              </a:r>
              <a:endParaRPr lang="en-US" sz="1150" dirty="0"/>
            </a:p>
          </p:txBody>
        </p:sp>
        <p:sp>
          <p:nvSpPr>
            <p:cNvPr id="11" name="Shape 9"/>
            <p:cNvSpPr/>
            <p:nvPr/>
          </p:nvSpPr>
          <p:spPr>
            <a:xfrm>
              <a:off x="6606540" y="3063240"/>
              <a:ext cx="3657600" cy="868680"/>
            </a:xfrm>
            <a:prstGeom prst="diamond">
              <a:avLst/>
            </a:prstGeom>
            <a:solidFill>
              <a:srgbClr val="0B3D5C"/>
            </a:solidFill>
            <a:ln/>
          </p:spPr>
        </p:sp>
        <p:sp>
          <p:nvSpPr>
            <p:cNvPr id="12" name="Text 10"/>
            <p:cNvSpPr/>
            <p:nvPr/>
          </p:nvSpPr>
          <p:spPr>
            <a:xfrm>
              <a:off x="6606540" y="3063240"/>
              <a:ext cx="3657600" cy="868680"/>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Is This a Cancellation?</a:t>
              </a:r>
              <a:endParaRPr lang="en-US" sz="1150" dirty="0"/>
            </a:p>
          </p:txBody>
        </p:sp>
        <p:sp>
          <p:nvSpPr>
            <p:cNvPr id="13" name="Shape 11"/>
            <p:cNvSpPr/>
            <p:nvPr/>
          </p:nvSpPr>
          <p:spPr>
            <a:xfrm>
              <a:off x="5349240" y="4187952"/>
              <a:ext cx="3108960" cy="685800"/>
            </a:xfrm>
            <a:prstGeom prst="roundRect">
              <a:avLst>
                <a:gd name="adj" fmla="val 10667"/>
              </a:avLst>
            </a:prstGeom>
            <a:solidFill>
              <a:srgbClr val="0B5FA5"/>
            </a:solidFill>
            <a:ln/>
          </p:spPr>
        </p:sp>
        <p:sp>
          <p:nvSpPr>
            <p:cNvPr id="14" name="Text 12"/>
            <p:cNvSpPr/>
            <p:nvPr/>
          </p:nvSpPr>
          <p:spPr>
            <a:xfrm>
              <a:off x="5349240" y="4187952"/>
              <a:ext cx="3108960" cy="6858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Append Node at Tail</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(New WL Entry)</a:t>
              </a:r>
              <a:endParaRPr lang="en-US" sz="1100" dirty="0"/>
            </a:p>
          </p:txBody>
        </p:sp>
        <p:sp>
          <p:nvSpPr>
            <p:cNvPr id="15" name="Shape 13"/>
            <p:cNvSpPr/>
            <p:nvPr/>
          </p:nvSpPr>
          <p:spPr>
            <a:xfrm>
              <a:off x="8412480" y="5129784"/>
              <a:ext cx="3108960" cy="685800"/>
            </a:xfrm>
            <a:prstGeom prst="roundRect">
              <a:avLst>
                <a:gd name="adj" fmla="val 10667"/>
              </a:avLst>
            </a:prstGeom>
            <a:solidFill>
              <a:srgbClr val="0B5FA5"/>
            </a:solidFill>
            <a:ln/>
          </p:spPr>
        </p:sp>
        <p:sp>
          <p:nvSpPr>
            <p:cNvPr id="16" name="Text 14"/>
            <p:cNvSpPr>
              <a:spLocks/>
            </p:cNvSpPr>
            <p:nvPr/>
          </p:nvSpPr>
          <p:spPr>
            <a:xfrm>
              <a:off x="8412480" y="5129784"/>
              <a:ext cx="3108960" cy="6858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Locate &amp; Unlink</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Cancelled Node</a:t>
              </a:r>
              <a:endParaRPr lang="en-US" sz="1100" dirty="0"/>
            </a:p>
          </p:txBody>
        </p:sp>
        <p:sp>
          <p:nvSpPr>
            <p:cNvPr id="17" name="Shape 15"/>
            <p:cNvSpPr/>
            <p:nvPr/>
          </p:nvSpPr>
          <p:spPr>
            <a:xfrm>
              <a:off x="6880860" y="6071616"/>
              <a:ext cx="3108960" cy="685800"/>
            </a:xfrm>
            <a:prstGeom prst="roundRect">
              <a:avLst>
                <a:gd name="adj" fmla="val 10667"/>
              </a:avLst>
            </a:prstGeom>
            <a:solidFill>
              <a:srgbClr val="0E9594"/>
            </a:solidFill>
            <a:ln/>
          </p:spPr>
        </p:sp>
        <p:sp>
          <p:nvSpPr>
            <p:cNvPr id="18" name="Text 16"/>
            <p:cNvSpPr/>
            <p:nvPr/>
          </p:nvSpPr>
          <p:spPr>
            <a:xfrm>
              <a:off x="6880860" y="6071616"/>
              <a:ext cx="3108960" cy="6858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Traverse &amp; Renumber</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Remaining Passengers</a:t>
              </a:r>
              <a:endParaRPr lang="en-US" sz="1100" dirty="0"/>
            </a:p>
          </p:txBody>
        </p:sp>
        <p:sp>
          <p:nvSpPr>
            <p:cNvPr id="19" name="Shape 17"/>
            <p:cNvSpPr/>
            <p:nvPr/>
          </p:nvSpPr>
          <p:spPr>
            <a:xfrm>
              <a:off x="6880860" y="7013448"/>
              <a:ext cx="3108960" cy="566928"/>
            </a:xfrm>
            <a:prstGeom prst="roundRect">
              <a:avLst>
                <a:gd name="adj" fmla="val 48387"/>
              </a:avLst>
            </a:prstGeom>
            <a:solidFill>
              <a:srgbClr val="17C3A2"/>
            </a:solidFill>
            <a:ln/>
          </p:spPr>
        </p:sp>
        <p:sp>
          <p:nvSpPr>
            <p:cNvPr id="20" name="Text 18"/>
            <p:cNvSpPr/>
            <p:nvPr/>
          </p:nvSpPr>
          <p:spPr>
            <a:xfrm>
              <a:off x="6880860" y="7013448"/>
              <a:ext cx="3108960" cy="566928"/>
            </a:xfrm>
            <a:prstGeom prst="rect">
              <a:avLst/>
            </a:prstGeom>
            <a:noFill/>
            <a:ln/>
          </p:spPr>
          <p:txBody>
            <a:bodyPr wrap="square" lIns="0" tIns="0" rIns="0" bIns="0" rtlCol="0" anchor="ctr"/>
            <a:lstStyle/>
            <a:p>
              <a:pPr marL="0" indent="0" algn="ctr">
                <a:buNone/>
              </a:pPr>
              <a:r>
                <a:rPr lang="en-US" sz="1200" b="1" dirty="0">
                  <a:solidFill>
                    <a:srgbClr val="0B3D5C"/>
                  </a:solidFill>
                  <a:latin typeface="Arial" pitchFamily="34" charset="0"/>
                  <a:ea typeface="Arial" pitchFamily="34" charset="-122"/>
                  <a:cs typeface="Arial" pitchFamily="34" charset="-120"/>
                </a:rPr>
                <a:t>Updated Waiting List</a:t>
              </a:r>
              <a:endParaRPr lang="en-US" sz="1200" dirty="0"/>
            </a:p>
          </p:txBody>
        </p:sp>
        <p:sp>
          <p:nvSpPr>
            <p:cNvPr id="21" name="Shape 19"/>
            <p:cNvSpPr/>
            <p:nvPr/>
          </p:nvSpPr>
          <p:spPr>
            <a:xfrm>
              <a:off x="8435340" y="1984248"/>
              <a:ext cx="0" cy="256032"/>
            </a:xfrm>
            <a:prstGeom prst="line">
              <a:avLst/>
            </a:prstGeom>
            <a:noFill/>
            <a:ln w="19050">
              <a:solidFill>
                <a:srgbClr val="5B6B79"/>
              </a:solidFill>
              <a:prstDash val="solid"/>
              <a:tailEnd type="triangle"/>
            </a:ln>
          </p:spPr>
        </p:sp>
        <p:sp>
          <p:nvSpPr>
            <p:cNvPr id="22" name="Shape 20"/>
            <p:cNvSpPr/>
            <p:nvPr/>
          </p:nvSpPr>
          <p:spPr>
            <a:xfrm>
              <a:off x="8435340" y="2807208"/>
              <a:ext cx="0" cy="256032"/>
            </a:xfrm>
            <a:prstGeom prst="line">
              <a:avLst/>
            </a:prstGeom>
            <a:noFill/>
            <a:ln w="19050">
              <a:solidFill>
                <a:srgbClr val="5B6B79"/>
              </a:solidFill>
              <a:prstDash val="solid"/>
              <a:tailEnd type="triangle"/>
            </a:ln>
          </p:spPr>
        </p:sp>
        <p:sp>
          <p:nvSpPr>
            <p:cNvPr id="23" name="Shape 21"/>
            <p:cNvSpPr/>
            <p:nvPr/>
          </p:nvSpPr>
          <p:spPr>
            <a:xfrm>
              <a:off x="8435340" y="3931920"/>
              <a:ext cx="0" cy="256032"/>
            </a:xfrm>
            <a:prstGeom prst="line">
              <a:avLst/>
            </a:prstGeom>
            <a:noFill/>
            <a:ln w="19050">
              <a:solidFill>
                <a:srgbClr val="5B6B79"/>
              </a:solidFill>
              <a:prstDash val="solid"/>
              <a:tailEnd type="triangle"/>
            </a:ln>
          </p:spPr>
        </p:sp>
        <p:sp>
          <p:nvSpPr>
            <p:cNvPr id="24" name="Shape 22"/>
            <p:cNvSpPr/>
            <p:nvPr/>
          </p:nvSpPr>
          <p:spPr>
            <a:xfrm>
              <a:off x="8435340" y="3931920"/>
              <a:ext cx="1531620" cy="1197864"/>
            </a:xfrm>
            <a:prstGeom prst="line">
              <a:avLst/>
            </a:prstGeom>
            <a:noFill/>
            <a:ln w="19050">
              <a:solidFill>
                <a:srgbClr val="5B6B79"/>
              </a:solidFill>
              <a:prstDash val="solid"/>
              <a:tailEnd type="triangle"/>
            </a:ln>
          </p:spPr>
        </p:sp>
        <p:sp>
          <p:nvSpPr>
            <p:cNvPr id="25" name="Text 23"/>
            <p:cNvSpPr/>
            <p:nvPr/>
          </p:nvSpPr>
          <p:spPr>
            <a:xfrm>
              <a:off x="6537960" y="3950208"/>
              <a:ext cx="457200" cy="228600"/>
            </a:xfrm>
            <a:prstGeom prst="rect">
              <a:avLst/>
            </a:prstGeom>
            <a:noFill/>
            <a:ln/>
          </p:spPr>
          <p:txBody>
            <a:bodyPr wrap="square" lIns="0" tIns="0" rIns="0" bIns="0" rtlCol="0" anchor="ctr"/>
            <a:lstStyle/>
            <a:p>
              <a:pPr marL="0" indent="0">
                <a:buNone/>
              </a:pPr>
              <a:r>
                <a:rPr lang="en-US" sz="1000" b="1" dirty="0">
                  <a:solidFill>
                    <a:srgbClr val="5B6B79"/>
                  </a:solidFill>
                  <a:latin typeface="Arial" pitchFamily="34" charset="0"/>
                  <a:ea typeface="Arial" pitchFamily="34" charset="-122"/>
                  <a:cs typeface="Arial" pitchFamily="34" charset="-120"/>
                </a:rPr>
                <a:t>No</a:t>
              </a:r>
              <a:endParaRPr lang="en-US" sz="1000" dirty="0"/>
            </a:p>
          </p:txBody>
        </p:sp>
        <p:sp>
          <p:nvSpPr>
            <p:cNvPr id="26" name="Text 24"/>
            <p:cNvSpPr/>
            <p:nvPr/>
          </p:nvSpPr>
          <p:spPr>
            <a:xfrm>
              <a:off x="9875520" y="3950208"/>
              <a:ext cx="457200" cy="228600"/>
            </a:xfrm>
            <a:prstGeom prst="rect">
              <a:avLst/>
            </a:prstGeom>
            <a:noFill/>
            <a:ln/>
          </p:spPr>
          <p:txBody>
            <a:bodyPr wrap="square" lIns="0" tIns="0" rIns="0" bIns="0" rtlCol="0" anchor="ctr"/>
            <a:lstStyle/>
            <a:p>
              <a:pPr marL="0" indent="0">
                <a:buNone/>
              </a:pPr>
              <a:r>
                <a:rPr lang="en-US" sz="1000" b="1" dirty="0">
                  <a:solidFill>
                    <a:srgbClr val="5B6B79"/>
                  </a:solidFill>
                  <a:latin typeface="Arial" pitchFamily="34" charset="0"/>
                  <a:ea typeface="Arial" pitchFamily="34" charset="-122"/>
                  <a:cs typeface="Arial" pitchFamily="34" charset="-120"/>
                </a:rPr>
                <a:t>Yes</a:t>
              </a:r>
              <a:endParaRPr lang="en-US" sz="1000" dirty="0"/>
            </a:p>
          </p:txBody>
        </p:sp>
        <p:sp>
          <p:nvSpPr>
            <p:cNvPr id="27" name="Shape 25"/>
            <p:cNvSpPr/>
            <p:nvPr/>
          </p:nvSpPr>
          <p:spPr>
            <a:xfrm>
              <a:off x="6903720" y="4873752"/>
              <a:ext cx="1531620" cy="1197864"/>
            </a:xfrm>
            <a:prstGeom prst="line">
              <a:avLst/>
            </a:prstGeom>
            <a:noFill/>
            <a:ln w="19050">
              <a:solidFill>
                <a:srgbClr val="5B6B79"/>
              </a:solidFill>
              <a:prstDash val="solid"/>
              <a:tailEnd type="triangle"/>
            </a:ln>
          </p:spPr>
        </p:sp>
        <p:sp>
          <p:nvSpPr>
            <p:cNvPr id="28" name="Shape 26"/>
            <p:cNvSpPr/>
            <p:nvPr/>
          </p:nvSpPr>
          <p:spPr>
            <a:xfrm>
              <a:off x="9966960" y="5815584"/>
              <a:ext cx="0" cy="256032"/>
            </a:xfrm>
            <a:prstGeom prst="line">
              <a:avLst/>
            </a:prstGeom>
            <a:noFill/>
            <a:ln w="19050">
              <a:solidFill>
                <a:srgbClr val="5B6B79"/>
              </a:solidFill>
              <a:prstDash val="solid"/>
              <a:tailEnd type="triangle"/>
            </a:ln>
          </p:spPr>
        </p:sp>
        <p:sp>
          <p:nvSpPr>
            <p:cNvPr id="29" name="Shape 27"/>
            <p:cNvSpPr/>
            <p:nvPr/>
          </p:nvSpPr>
          <p:spPr>
            <a:xfrm>
              <a:off x="8435340" y="6757416"/>
              <a:ext cx="0" cy="256032"/>
            </a:xfrm>
            <a:prstGeom prst="line">
              <a:avLst/>
            </a:prstGeom>
            <a:noFill/>
            <a:ln w="19050">
              <a:solidFill>
                <a:srgbClr val="5B6B79"/>
              </a:solidFill>
              <a:prstDash val="solid"/>
              <a:tailEnd type="triangle"/>
            </a:ln>
          </p:spPr>
        </p:sp>
      </p:grpSp>
      <p:pic>
        <p:nvPicPr>
          <p:cNvPr id="30" name="Image 0" descr="assets/simats_logo.png"/>
          <p:cNvPicPr>
            <a:picLocks noChangeAspect="1"/>
          </p:cNvPicPr>
          <p:nvPr/>
        </p:nvPicPr>
        <p:blipFill>
          <a:blip r:embed="rId3"/>
          <a:stretch>
            <a:fillRect/>
          </a:stretch>
        </p:blipFill>
        <p:spPr>
          <a:xfrm>
            <a:off x="10680192" y="292608"/>
            <a:ext cx="1051560" cy="269932"/>
          </a:xfrm>
          <a:prstGeom prst="rect">
            <a:avLst/>
          </a:prstGeom>
        </p:spPr>
      </p:pic>
      <p:sp>
        <p:nvSpPr>
          <p:cNvPr id="34" name="Text 39">
            <a:extLst>
              <a:ext uri="{FF2B5EF4-FFF2-40B4-BE49-F238E27FC236}">
                <a16:creationId xmlns:a16="http://schemas.microsoft.com/office/drawing/2014/main" id="{0E54DD12-21C4-6A9A-9EDE-6A10290878D8}"/>
              </a:ext>
            </a:extLst>
          </p:cNvPr>
          <p:cNvSpPr/>
          <p:nvPr/>
        </p:nvSpPr>
        <p:spPr>
          <a:xfrm>
            <a:off x="502920" y="6419973"/>
            <a:ext cx="7772400" cy="274320"/>
          </a:xfrm>
          <a:prstGeom prst="rect">
            <a:avLst/>
          </a:prstGeom>
          <a:noFill/>
          <a:ln/>
        </p:spPr>
        <p:txBody>
          <a:bodyPr wrap="square" lIns="0" tIns="0" rIns="0" bIns="0" rtlCol="0" anchor="ctr"/>
          <a:lstStyle/>
          <a:p>
            <a:pPr marL="0" indent="0" algn="l">
              <a:buNone/>
            </a:pPr>
            <a:r>
              <a:rPr lang="en-US" sz="1200" dirty="0">
                <a:solidFill>
                  <a:srgbClr val="5B6B79"/>
                </a:solidFill>
                <a:latin typeface="Times New Roman" pitchFamily="34" charset="0"/>
                <a:ea typeface="Times New Roman" pitchFamily="34" charset="-122"/>
                <a:cs typeface="Times New Roman" pitchFamily="34" charset="-120"/>
              </a:rPr>
              <a:t>CSA0306 | CO1 – AT3 | Variganji Sumanth Babu | Reg No: 192524447</a:t>
            </a:r>
            <a:endParaRPr lang="en-US" sz="1200" dirty="0"/>
          </a:p>
        </p:txBody>
      </p:sp>
      <p:sp>
        <p:nvSpPr>
          <p:cNvPr id="36" name="Text 40">
            <a:extLst>
              <a:ext uri="{FF2B5EF4-FFF2-40B4-BE49-F238E27FC236}">
                <a16:creationId xmlns:a16="http://schemas.microsoft.com/office/drawing/2014/main" id="{5D05E2B7-4775-F3F2-C8D8-DD12DCA7116D}"/>
              </a:ext>
            </a:extLst>
          </p:cNvPr>
          <p:cNvSpPr/>
          <p:nvPr/>
        </p:nvSpPr>
        <p:spPr>
          <a:xfrm>
            <a:off x="10680192" y="6419973"/>
            <a:ext cx="1097280" cy="274320"/>
          </a:xfrm>
          <a:prstGeom prst="rect">
            <a:avLst/>
          </a:prstGeom>
          <a:noFill/>
          <a:ln/>
        </p:spPr>
        <p:txBody>
          <a:bodyPr wrap="square" lIns="0" tIns="0" rIns="0" bIns="0" rtlCol="0" anchor="ctr"/>
          <a:lstStyle/>
          <a:p>
            <a:pPr marL="0" indent="0" algn="r">
              <a:buNone/>
            </a:pPr>
            <a:r>
              <a:rPr lang="en-US" sz="1200" dirty="0">
                <a:solidFill>
                  <a:srgbClr val="5B6B79"/>
                </a:solidFill>
                <a:latin typeface="Times New Roman" pitchFamily="34" charset="0"/>
                <a:ea typeface="Times New Roman" pitchFamily="34" charset="-122"/>
                <a:cs typeface="Times New Roman" pitchFamily="34" charset="-120"/>
              </a:rPr>
              <a:t>Slide 4 of 11</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marL="0" indent="0">
              <a:buNone/>
            </a:pPr>
            <a:r>
              <a:rPr lang="en-US" sz="1400" b="1" kern="0" spc="200" dirty="0">
                <a:solidFill>
                  <a:srgbClr val="0E9594"/>
                </a:solidFill>
                <a:latin typeface="Times New Roman" pitchFamily="34" charset="0"/>
                <a:ea typeface="Times New Roman" pitchFamily="34" charset="-122"/>
                <a:cs typeface="Times New Roman" pitchFamily="34" charset="-120"/>
              </a:rPr>
              <a:t>ALGORITHM</a:t>
            </a:r>
            <a:endParaRPr lang="en-US" sz="1400" dirty="0"/>
          </a:p>
        </p:txBody>
      </p:sp>
      <p:sp>
        <p:nvSpPr>
          <p:cNvPr id="3" name="Text 1"/>
          <p:cNvSpPr/>
          <p:nvPr/>
        </p:nvSpPr>
        <p:spPr>
          <a:xfrm>
            <a:off x="548640" y="658368"/>
            <a:ext cx="9464040" cy="640080"/>
          </a:xfrm>
          <a:prstGeom prst="rect">
            <a:avLst/>
          </a:prstGeom>
          <a:noFill/>
          <a:ln/>
        </p:spPr>
        <p:txBody>
          <a:bodyPr wrap="square" lIns="0" tIns="0" rIns="0" bIns="0" rtlCol="0" anchor="ctr"/>
          <a:lstStyle/>
          <a:p>
            <a:pPr marL="0" indent="0">
              <a:buNone/>
            </a:pPr>
            <a:r>
              <a:rPr lang="en-US" sz="3000" b="1" dirty="0">
                <a:solidFill>
                  <a:srgbClr val="0B3D5C"/>
                </a:solidFill>
                <a:latin typeface="Times New Roman" pitchFamily="34" charset="0"/>
                <a:ea typeface="Times New Roman" pitchFamily="34" charset="-122"/>
                <a:cs typeface="Times New Roman" pitchFamily="34" charset="-120"/>
              </a:rPr>
              <a:t>Pseudocode &amp; Worked Example</a:t>
            </a:r>
            <a:endParaRPr lang="en-US" sz="3000" dirty="0"/>
          </a:p>
        </p:txBody>
      </p:sp>
      <p:sp>
        <p:nvSpPr>
          <p:cNvPr id="4" name="Shape 2"/>
          <p:cNvSpPr/>
          <p:nvPr/>
        </p:nvSpPr>
        <p:spPr>
          <a:xfrm>
            <a:off x="548640" y="1508760"/>
            <a:ext cx="5943600" cy="4663440"/>
          </a:xfrm>
          <a:prstGeom prst="roundRect">
            <a:avLst>
              <a:gd name="adj" fmla="val 1961"/>
            </a:avLst>
          </a:prstGeom>
          <a:solidFill>
            <a:srgbClr val="0A2E45"/>
          </a:solidFill>
          <a:ln/>
        </p:spPr>
      </p:sp>
      <p:sp>
        <p:nvSpPr>
          <p:cNvPr id="5" name="Text 3"/>
          <p:cNvSpPr/>
          <p:nvPr/>
        </p:nvSpPr>
        <p:spPr>
          <a:xfrm>
            <a:off x="777240" y="1645920"/>
            <a:ext cx="5486400" cy="274320"/>
          </a:xfrm>
          <a:prstGeom prst="rect">
            <a:avLst/>
          </a:prstGeom>
          <a:noFill/>
          <a:ln/>
        </p:spPr>
        <p:txBody>
          <a:bodyPr wrap="square" lIns="0" tIns="0" rIns="0" bIns="0" rtlCol="0" anchor="ctr"/>
          <a:lstStyle/>
          <a:p>
            <a:pPr marL="0" indent="0">
              <a:buNone/>
            </a:pPr>
            <a:r>
              <a:rPr lang="en-US" sz="1400" b="1" dirty="0">
                <a:solidFill>
                  <a:srgbClr val="8FD6CC"/>
                </a:solidFill>
                <a:latin typeface="Times New Roman" pitchFamily="34" charset="0"/>
                <a:ea typeface="Times New Roman" pitchFamily="34" charset="-122"/>
                <a:cs typeface="Times New Roman" pitchFamily="34" charset="-120"/>
              </a:rPr>
              <a:t>Pseudocode — Cancellation &amp; Update</a:t>
            </a:r>
            <a:endParaRPr lang="en-US" sz="1400" dirty="0"/>
          </a:p>
        </p:txBody>
      </p:sp>
      <p:sp>
        <p:nvSpPr>
          <p:cNvPr id="6" name="Text 4"/>
          <p:cNvSpPr/>
          <p:nvPr/>
        </p:nvSpPr>
        <p:spPr>
          <a:xfrm>
            <a:off x="777240" y="1965960"/>
            <a:ext cx="5532120" cy="4069080"/>
          </a:xfrm>
          <a:prstGeom prst="rect">
            <a:avLst/>
          </a:prstGeom>
          <a:noFill/>
          <a:ln/>
        </p:spPr>
        <p:txBody>
          <a:bodyPr wrap="square" lIns="0" tIns="0" rIns="0" bIns="0" rtlCol="0" anchor="ctr"/>
          <a:lstStyle/>
          <a:p>
            <a:pPr marL="0" indent="0">
              <a:lnSpc>
                <a:spcPts val="1330"/>
              </a:lnSpc>
              <a:buNone/>
            </a:pPr>
            <a:r>
              <a:rPr lang="en-US" sz="1200" b="1" dirty="0">
                <a:solidFill>
                  <a:srgbClr val="17C3A2"/>
                </a:solidFill>
                <a:latin typeface="Courier New" pitchFamily="34" charset="0"/>
                <a:ea typeface="Courier New" pitchFamily="34" charset="-122"/>
                <a:cs typeface="Courier New" pitchFamily="34" charset="-120"/>
              </a:rPr>
              <a:t>PROCEDURE CancelBooking(pos):
</a:t>
            </a:r>
            <a:r>
              <a:rPr lang="en-US" sz="1200" dirty="0">
                <a:solidFill>
                  <a:srgbClr val="FFFFFF"/>
                </a:solidFill>
                <a:latin typeface="Courier New" pitchFamily="34" charset="0"/>
                <a:ea typeface="Courier New" pitchFamily="34" charset="-122"/>
                <a:cs typeface="Courier New" pitchFamily="34" charset="-120"/>
              </a:rPr>
              <a:t>  prev ← NULL
  curr ← HEAD
  count ← 1
</a:t>
            </a:r>
            <a:r>
              <a:rPr lang="en-US" sz="1200" dirty="0">
                <a:solidFill>
                  <a:srgbClr val="F2C078"/>
                </a:solidFill>
                <a:latin typeface="Courier New" pitchFamily="34" charset="0"/>
                <a:ea typeface="Courier New" pitchFamily="34" charset="-122"/>
                <a:cs typeface="Courier New" pitchFamily="34" charset="-120"/>
              </a:rPr>
              <a:t>  WHILE curr ≠ NULL AND count ≠ pos:
</a:t>
            </a:r>
            <a:r>
              <a:rPr lang="en-US" sz="1200" dirty="0">
                <a:solidFill>
                  <a:srgbClr val="FFFFFF"/>
                </a:solidFill>
                <a:latin typeface="Courier New" pitchFamily="34" charset="0"/>
                <a:ea typeface="Courier New" pitchFamily="34" charset="-122"/>
                <a:cs typeface="Courier New" pitchFamily="34" charset="-120"/>
              </a:rPr>
              <a:t>      prev ← curr
      curr ← curr.next
      count ← count + 1
</a:t>
            </a:r>
            <a:r>
              <a:rPr lang="en-US" sz="1200" dirty="0">
                <a:solidFill>
                  <a:srgbClr val="F2C078"/>
                </a:solidFill>
                <a:latin typeface="Courier New" pitchFamily="34" charset="0"/>
                <a:ea typeface="Courier New" pitchFamily="34" charset="-122"/>
                <a:cs typeface="Courier New" pitchFamily="34" charset="-120"/>
              </a:rPr>
              <a:t>  IF curr ≠ NULL:
      IF prev = NULL:
</a:t>
            </a:r>
            <a:r>
              <a:rPr lang="en-US" sz="1200" dirty="0">
                <a:solidFill>
                  <a:srgbClr val="FFFFFF"/>
                </a:solidFill>
                <a:latin typeface="Courier New" pitchFamily="34" charset="0"/>
                <a:ea typeface="Courier New" pitchFamily="34" charset="-122"/>
                <a:cs typeface="Courier New" pitchFamily="34" charset="-120"/>
              </a:rPr>
              <a:t>          HEAD ← curr.next        // cancel WL1
</a:t>
            </a:r>
            <a:r>
              <a:rPr lang="en-US" sz="1200" dirty="0">
                <a:solidFill>
                  <a:srgbClr val="F2C078"/>
                </a:solidFill>
                <a:latin typeface="Courier New" pitchFamily="34" charset="0"/>
                <a:ea typeface="Courier New" pitchFamily="34" charset="-122"/>
                <a:cs typeface="Courier New" pitchFamily="34" charset="-120"/>
              </a:rPr>
              <a:t>      ELSE:
</a:t>
            </a:r>
            <a:r>
              <a:rPr lang="en-US" sz="1200" dirty="0">
                <a:solidFill>
                  <a:srgbClr val="FFFFFF"/>
                </a:solidFill>
                <a:latin typeface="Courier New" pitchFamily="34" charset="0"/>
                <a:ea typeface="Courier New" pitchFamily="34" charset="-122"/>
                <a:cs typeface="Courier New" pitchFamily="34" charset="-120"/>
              </a:rPr>
              <a:t>          prev.next ← curr.next   // unlink node
      FREE(curr)
</a:t>
            </a:r>
            <a:r>
              <a:rPr lang="en-US" sz="1200" b="1" dirty="0">
                <a:solidFill>
                  <a:srgbClr val="17C3A2"/>
                </a:solidFill>
                <a:latin typeface="Courier New" pitchFamily="34" charset="0"/>
                <a:ea typeface="Courier New" pitchFamily="34" charset="-122"/>
                <a:cs typeface="Courier New" pitchFamily="34" charset="-120"/>
              </a:rPr>
              <a:t>  RenumberList()
PROCEDURE RenumberList():
</a:t>
            </a:r>
            <a:r>
              <a:rPr lang="en-US" sz="1200" dirty="0">
                <a:solidFill>
                  <a:srgbClr val="FFFFFF"/>
                </a:solidFill>
                <a:latin typeface="Courier New" pitchFamily="34" charset="0"/>
                <a:ea typeface="Courier New" pitchFamily="34" charset="-122"/>
                <a:cs typeface="Courier New" pitchFamily="34" charset="-120"/>
              </a:rPr>
              <a:t>  node ← HEAD;  rank ← 1
</a:t>
            </a:r>
            <a:r>
              <a:rPr lang="en-US" sz="1200" dirty="0">
                <a:solidFill>
                  <a:srgbClr val="F2C078"/>
                </a:solidFill>
                <a:latin typeface="Courier New" pitchFamily="34" charset="0"/>
                <a:ea typeface="Courier New" pitchFamily="34" charset="-122"/>
                <a:cs typeface="Courier New" pitchFamily="34" charset="-120"/>
              </a:rPr>
              <a:t>  WHILE node ≠ NULL:
</a:t>
            </a:r>
            <a:r>
              <a:rPr lang="en-US" sz="1200" dirty="0">
                <a:solidFill>
                  <a:srgbClr val="FFFFFF"/>
                </a:solidFill>
                <a:latin typeface="Courier New" pitchFamily="34" charset="0"/>
                <a:ea typeface="Courier New" pitchFamily="34" charset="-122"/>
                <a:cs typeface="Courier New" pitchFamily="34" charset="-120"/>
              </a:rPr>
              <a:t>      node.position ← rank
      rank ← rank + 1;  node ← node.next</a:t>
            </a:r>
            <a:endParaRPr lang="en-US" sz="1200" dirty="0"/>
          </a:p>
        </p:txBody>
      </p:sp>
      <p:sp>
        <p:nvSpPr>
          <p:cNvPr id="7" name="Shape 5"/>
          <p:cNvSpPr/>
          <p:nvPr/>
        </p:nvSpPr>
        <p:spPr>
          <a:xfrm>
            <a:off x="6720840" y="1508760"/>
            <a:ext cx="4937760" cy="4663440"/>
          </a:xfrm>
          <a:prstGeom prst="roundRect">
            <a:avLst>
              <a:gd name="adj" fmla="val 1961"/>
            </a:avLst>
          </a:prstGeom>
          <a:solidFill>
            <a:srgbClr val="E6F7F6"/>
          </a:solidFill>
          <a:ln/>
        </p:spPr>
      </p:sp>
      <p:sp>
        <p:nvSpPr>
          <p:cNvPr id="8" name="Text 6"/>
          <p:cNvSpPr/>
          <p:nvPr/>
        </p:nvSpPr>
        <p:spPr>
          <a:xfrm>
            <a:off x="6949440" y="1691640"/>
            <a:ext cx="4389120" cy="292608"/>
          </a:xfrm>
          <a:prstGeom prst="rect">
            <a:avLst/>
          </a:prstGeom>
          <a:noFill/>
          <a:ln/>
        </p:spPr>
        <p:txBody>
          <a:bodyPr wrap="square" lIns="0" tIns="0" rIns="0" bIns="0" rtlCol="0" anchor="ctr"/>
          <a:lstStyle/>
          <a:p>
            <a:pPr marL="0" indent="0">
              <a:buNone/>
            </a:pPr>
            <a:r>
              <a:rPr lang="en-US" sz="1400" b="1" dirty="0">
                <a:solidFill>
                  <a:srgbClr val="0B3D5C"/>
                </a:solidFill>
                <a:latin typeface="Times New Roman" pitchFamily="34" charset="0"/>
                <a:ea typeface="Times New Roman" pitchFamily="34" charset="-122"/>
                <a:cs typeface="Times New Roman" pitchFamily="34" charset="-120"/>
              </a:rPr>
              <a:t>Worked Example</a:t>
            </a:r>
            <a:endParaRPr lang="en-US" sz="1400" dirty="0"/>
          </a:p>
        </p:txBody>
      </p:sp>
      <p:sp>
        <p:nvSpPr>
          <p:cNvPr id="9" name="Text 7"/>
          <p:cNvSpPr/>
          <p:nvPr/>
        </p:nvSpPr>
        <p:spPr>
          <a:xfrm>
            <a:off x="6949440" y="2029968"/>
            <a:ext cx="4389120" cy="274320"/>
          </a:xfrm>
          <a:prstGeom prst="rect">
            <a:avLst/>
          </a:prstGeom>
          <a:noFill/>
          <a:ln/>
        </p:spPr>
        <p:txBody>
          <a:bodyPr wrap="square" lIns="0" tIns="0" rIns="0" bIns="0" rtlCol="0" anchor="ctr"/>
          <a:lstStyle/>
          <a:p>
            <a:pPr marL="0" indent="0">
              <a:buNone/>
            </a:pPr>
            <a:r>
              <a:rPr lang="en-US" sz="1300" i="1" dirty="0">
                <a:solidFill>
                  <a:srgbClr val="5B6B79"/>
                </a:solidFill>
                <a:latin typeface="Times New Roman" pitchFamily="34" charset="0"/>
                <a:ea typeface="Times New Roman" pitchFamily="34" charset="-122"/>
                <a:cs typeface="Times New Roman" pitchFamily="34" charset="-120"/>
              </a:rPr>
              <a:t>Passenger at WL2 cancels their ticket.</a:t>
            </a:r>
            <a:endParaRPr lang="en-US" sz="1300" dirty="0"/>
          </a:p>
        </p:txBody>
      </p:sp>
      <p:sp>
        <p:nvSpPr>
          <p:cNvPr id="10" name="Text 8"/>
          <p:cNvSpPr/>
          <p:nvPr/>
        </p:nvSpPr>
        <p:spPr>
          <a:xfrm>
            <a:off x="6949440" y="2468880"/>
            <a:ext cx="4389120" cy="256032"/>
          </a:xfrm>
          <a:prstGeom prst="rect">
            <a:avLst/>
          </a:prstGeom>
          <a:noFill/>
          <a:ln/>
        </p:spPr>
        <p:txBody>
          <a:bodyPr wrap="square" lIns="0" tIns="0" rIns="0" bIns="0" rtlCol="0" anchor="ctr"/>
          <a:lstStyle/>
          <a:p>
            <a:pPr marL="0" indent="0">
              <a:buNone/>
            </a:pPr>
            <a:r>
              <a:rPr lang="en-US" sz="1400" b="1" dirty="0">
                <a:solidFill>
                  <a:srgbClr val="0B3D5C"/>
                </a:solidFill>
                <a:latin typeface="Times New Roman" pitchFamily="34" charset="0"/>
                <a:ea typeface="Times New Roman" pitchFamily="34" charset="-122"/>
                <a:cs typeface="Times New Roman" pitchFamily="34" charset="-120"/>
              </a:rPr>
              <a:t>Before Cancellation:</a:t>
            </a:r>
            <a:endParaRPr lang="en-US" sz="1400" dirty="0"/>
          </a:p>
        </p:txBody>
      </p:sp>
      <p:sp>
        <p:nvSpPr>
          <p:cNvPr id="11" name="Shape 9"/>
          <p:cNvSpPr/>
          <p:nvPr/>
        </p:nvSpPr>
        <p:spPr>
          <a:xfrm>
            <a:off x="6949440" y="2788920"/>
            <a:ext cx="960120" cy="457200"/>
          </a:xfrm>
          <a:prstGeom prst="roundRect">
            <a:avLst>
              <a:gd name="adj" fmla="val 14000"/>
            </a:avLst>
          </a:prstGeom>
          <a:solidFill>
            <a:srgbClr val="0B5FA5"/>
          </a:solidFill>
          <a:ln/>
        </p:spPr>
      </p:sp>
      <p:sp>
        <p:nvSpPr>
          <p:cNvPr id="12" name="Text 10"/>
          <p:cNvSpPr/>
          <p:nvPr/>
        </p:nvSpPr>
        <p:spPr>
          <a:xfrm>
            <a:off x="6949440" y="2788920"/>
            <a:ext cx="9601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WL1</a:t>
            </a:r>
            <a:endParaRPr lang="en-US" sz="1200" dirty="0"/>
          </a:p>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Arjun</a:t>
            </a:r>
            <a:endParaRPr lang="en-US" sz="1200" dirty="0"/>
          </a:p>
        </p:txBody>
      </p:sp>
      <p:sp>
        <p:nvSpPr>
          <p:cNvPr id="13" name="Shape 11"/>
          <p:cNvSpPr/>
          <p:nvPr/>
        </p:nvSpPr>
        <p:spPr>
          <a:xfrm>
            <a:off x="8028432" y="2788920"/>
            <a:ext cx="960120" cy="457200"/>
          </a:xfrm>
          <a:prstGeom prst="roundRect">
            <a:avLst>
              <a:gd name="adj" fmla="val 14000"/>
            </a:avLst>
          </a:prstGeom>
          <a:solidFill>
            <a:srgbClr val="C97B7B"/>
          </a:solidFill>
          <a:ln/>
        </p:spPr>
      </p:sp>
      <p:sp>
        <p:nvSpPr>
          <p:cNvPr id="14" name="Text 12"/>
          <p:cNvSpPr/>
          <p:nvPr/>
        </p:nvSpPr>
        <p:spPr>
          <a:xfrm>
            <a:off x="8028432" y="2788920"/>
            <a:ext cx="960120" cy="457200"/>
          </a:xfrm>
          <a:prstGeom prst="rect">
            <a:avLst/>
          </a:prstGeom>
          <a:noFill/>
          <a:ln/>
        </p:spPr>
        <p:txBody>
          <a:bodyPr wrap="square" lIns="0" tIns="0" rIns="0" bIns="0" rtlCol="0" anchor="ctr"/>
          <a:lstStyle/>
          <a:p>
            <a:pPr marL="0" indent="0" algn="ctr">
              <a:buNone/>
            </a:pPr>
            <a:r>
              <a:rPr lang="en-US" sz="1200" b="1" strike="sngStrike" dirty="0">
                <a:solidFill>
                  <a:srgbClr val="FFFFFF"/>
                </a:solidFill>
                <a:latin typeface="Times New Roman" pitchFamily="34" charset="0"/>
                <a:ea typeface="Times New Roman" pitchFamily="34" charset="-122"/>
                <a:cs typeface="Times New Roman" pitchFamily="34" charset="-120"/>
              </a:rPr>
              <a:t>WL2</a:t>
            </a:r>
            <a:endParaRPr lang="en-US" sz="1200" dirty="0"/>
          </a:p>
          <a:p>
            <a:pPr marL="0" indent="0" algn="ctr">
              <a:buNone/>
            </a:pPr>
            <a:r>
              <a:rPr lang="en-US" sz="1200" b="1" strike="sngStrike" dirty="0">
                <a:solidFill>
                  <a:srgbClr val="FFFFFF"/>
                </a:solidFill>
                <a:latin typeface="Times New Roman" pitchFamily="34" charset="0"/>
                <a:ea typeface="Times New Roman" pitchFamily="34" charset="-122"/>
                <a:cs typeface="Times New Roman" pitchFamily="34" charset="-120"/>
              </a:rPr>
              <a:t>Priya</a:t>
            </a:r>
            <a:endParaRPr lang="en-US" sz="1200" dirty="0"/>
          </a:p>
        </p:txBody>
      </p:sp>
      <p:sp>
        <p:nvSpPr>
          <p:cNvPr id="15" name="Shape 13"/>
          <p:cNvSpPr/>
          <p:nvPr/>
        </p:nvSpPr>
        <p:spPr>
          <a:xfrm>
            <a:off x="9107424" y="2788920"/>
            <a:ext cx="960120" cy="457200"/>
          </a:xfrm>
          <a:prstGeom prst="roundRect">
            <a:avLst>
              <a:gd name="adj" fmla="val 14000"/>
            </a:avLst>
          </a:prstGeom>
          <a:solidFill>
            <a:srgbClr val="0B5FA5"/>
          </a:solidFill>
          <a:ln/>
        </p:spPr>
      </p:sp>
      <p:sp>
        <p:nvSpPr>
          <p:cNvPr id="16" name="Text 14"/>
          <p:cNvSpPr/>
          <p:nvPr/>
        </p:nvSpPr>
        <p:spPr>
          <a:xfrm>
            <a:off x="9107424" y="2788920"/>
            <a:ext cx="96012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Times New Roman" pitchFamily="34" charset="0"/>
                <a:ea typeface="Times New Roman" pitchFamily="34" charset="-122"/>
                <a:cs typeface="Times New Roman" pitchFamily="34" charset="-120"/>
              </a:rPr>
              <a:t>WL3</a:t>
            </a:r>
            <a:endParaRPr lang="en-US" sz="950" dirty="0"/>
          </a:p>
          <a:p>
            <a:pPr marL="0" indent="0" algn="ctr">
              <a:buNone/>
            </a:pPr>
            <a:r>
              <a:rPr lang="en-US" sz="950" b="1" dirty="0">
                <a:solidFill>
                  <a:srgbClr val="FFFFFF"/>
                </a:solidFill>
                <a:latin typeface="Times New Roman" pitchFamily="34" charset="0"/>
                <a:ea typeface="Times New Roman" pitchFamily="34" charset="-122"/>
                <a:cs typeface="Times New Roman" pitchFamily="34" charset="-120"/>
              </a:rPr>
              <a:t>Kabir</a:t>
            </a:r>
            <a:endParaRPr lang="en-US" sz="950" dirty="0"/>
          </a:p>
        </p:txBody>
      </p:sp>
      <p:sp>
        <p:nvSpPr>
          <p:cNvPr id="17" name="Shape 15"/>
          <p:cNvSpPr/>
          <p:nvPr/>
        </p:nvSpPr>
        <p:spPr>
          <a:xfrm>
            <a:off x="10186416" y="2788920"/>
            <a:ext cx="960120" cy="457200"/>
          </a:xfrm>
          <a:prstGeom prst="roundRect">
            <a:avLst>
              <a:gd name="adj" fmla="val 14000"/>
            </a:avLst>
          </a:prstGeom>
          <a:solidFill>
            <a:srgbClr val="0B5FA5"/>
          </a:solidFill>
          <a:ln/>
        </p:spPr>
      </p:sp>
      <p:sp>
        <p:nvSpPr>
          <p:cNvPr id="18" name="Text 16"/>
          <p:cNvSpPr/>
          <p:nvPr/>
        </p:nvSpPr>
        <p:spPr>
          <a:xfrm>
            <a:off x="10186416" y="2788920"/>
            <a:ext cx="9601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WL4</a:t>
            </a:r>
            <a:endParaRPr lang="en-US" sz="1200" dirty="0"/>
          </a:p>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Sailaja</a:t>
            </a:r>
            <a:endParaRPr lang="en-US" sz="1200" dirty="0"/>
          </a:p>
        </p:txBody>
      </p:sp>
      <p:sp>
        <p:nvSpPr>
          <p:cNvPr id="19" name="Text 17"/>
          <p:cNvSpPr/>
          <p:nvPr/>
        </p:nvSpPr>
        <p:spPr>
          <a:xfrm>
            <a:off x="6949440" y="3429000"/>
            <a:ext cx="4389120" cy="256032"/>
          </a:xfrm>
          <a:prstGeom prst="rect">
            <a:avLst/>
          </a:prstGeom>
          <a:noFill/>
          <a:ln/>
        </p:spPr>
        <p:txBody>
          <a:bodyPr wrap="square" lIns="0" tIns="0" rIns="0" bIns="0" rtlCol="0" anchor="ctr"/>
          <a:lstStyle/>
          <a:p>
            <a:pPr marL="0" indent="0">
              <a:buNone/>
            </a:pPr>
            <a:r>
              <a:rPr lang="en-US" sz="1400" b="1" dirty="0">
                <a:solidFill>
                  <a:srgbClr val="0B3D5C"/>
                </a:solidFill>
                <a:latin typeface="Times New Roman" pitchFamily="34" charset="0"/>
                <a:ea typeface="Times New Roman" pitchFamily="34" charset="-122"/>
                <a:cs typeface="Times New Roman" pitchFamily="34" charset="-120"/>
              </a:rPr>
              <a:t>After Unlink + Renumber:</a:t>
            </a:r>
            <a:endParaRPr lang="en-US" sz="1400" dirty="0"/>
          </a:p>
        </p:txBody>
      </p:sp>
      <p:sp>
        <p:nvSpPr>
          <p:cNvPr id="20" name="Shape 18"/>
          <p:cNvSpPr/>
          <p:nvPr/>
        </p:nvSpPr>
        <p:spPr>
          <a:xfrm>
            <a:off x="6949440" y="3749040"/>
            <a:ext cx="960120" cy="457200"/>
          </a:xfrm>
          <a:prstGeom prst="roundRect">
            <a:avLst>
              <a:gd name="adj" fmla="val 14000"/>
            </a:avLst>
          </a:prstGeom>
          <a:solidFill>
            <a:srgbClr val="0B5FA5"/>
          </a:solidFill>
          <a:ln/>
        </p:spPr>
      </p:sp>
      <p:sp>
        <p:nvSpPr>
          <p:cNvPr id="21" name="Text 19"/>
          <p:cNvSpPr/>
          <p:nvPr/>
        </p:nvSpPr>
        <p:spPr>
          <a:xfrm>
            <a:off x="6949440" y="3749040"/>
            <a:ext cx="9601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WL1</a:t>
            </a:r>
            <a:endParaRPr lang="en-US" sz="1200" dirty="0"/>
          </a:p>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Arjun</a:t>
            </a:r>
            <a:endParaRPr lang="en-US" sz="1200" dirty="0"/>
          </a:p>
        </p:txBody>
      </p:sp>
      <p:sp>
        <p:nvSpPr>
          <p:cNvPr id="22" name="Shape 20"/>
          <p:cNvSpPr/>
          <p:nvPr/>
        </p:nvSpPr>
        <p:spPr>
          <a:xfrm>
            <a:off x="8028432" y="3749040"/>
            <a:ext cx="960120" cy="457200"/>
          </a:xfrm>
          <a:prstGeom prst="roundRect">
            <a:avLst>
              <a:gd name="adj" fmla="val 14000"/>
            </a:avLst>
          </a:prstGeom>
          <a:solidFill>
            <a:srgbClr val="0B5FA5"/>
          </a:solidFill>
          <a:ln/>
        </p:spPr>
      </p:sp>
      <p:sp>
        <p:nvSpPr>
          <p:cNvPr id="23" name="Text 21"/>
          <p:cNvSpPr/>
          <p:nvPr/>
        </p:nvSpPr>
        <p:spPr>
          <a:xfrm>
            <a:off x="8028432" y="3749040"/>
            <a:ext cx="9601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WL2</a:t>
            </a:r>
            <a:endParaRPr lang="en-US" sz="1200" dirty="0"/>
          </a:p>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Kabir</a:t>
            </a:r>
            <a:endParaRPr lang="en-US" sz="1200" dirty="0"/>
          </a:p>
        </p:txBody>
      </p:sp>
      <p:sp>
        <p:nvSpPr>
          <p:cNvPr id="24" name="Shape 22"/>
          <p:cNvSpPr/>
          <p:nvPr/>
        </p:nvSpPr>
        <p:spPr>
          <a:xfrm>
            <a:off x="9107424" y="3749040"/>
            <a:ext cx="960120" cy="457200"/>
          </a:xfrm>
          <a:prstGeom prst="roundRect">
            <a:avLst>
              <a:gd name="adj" fmla="val 14000"/>
            </a:avLst>
          </a:prstGeom>
          <a:solidFill>
            <a:srgbClr val="0B5FA5"/>
          </a:solidFill>
          <a:ln/>
        </p:spPr>
      </p:sp>
      <p:sp>
        <p:nvSpPr>
          <p:cNvPr id="25" name="Text 23"/>
          <p:cNvSpPr/>
          <p:nvPr/>
        </p:nvSpPr>
        <p:spPr>
          <a:xfrm>
            <a:off x="9107424" y="3749040"/>
            <a:ext cx="9601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WL3</a:t>
            </a:r>
            <a:endParaRPr lang="en-US" sz="1200" dirty="0"/>
          </a:p>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Sailaja</a:t>
            </a:r>
            <a:endParaRPr lang="en-US" sz="1200" dirty="0"/>
          </a:p>
        </p:txBody>
      </p:sp>
      <p:sp>
        <p:nvSpPr>
          <p:cNvPr id="26" name="Shape 24"/>
          <p:cNvSpPr/>
          <p:nvPr/>
        </p:nvSpPr>
        <p:spPr>
          <a:xfrm>
            <a:off x="6949440" y="4503885"/>
            <a:ext cx="4160520" cy="0"/>
          </a:xfrm>
          <a:prstGeom prst="line">
            <a:avLst/>
          </a:prstGeom>
          <a:noFill/>
          <a:ln w="12700">
            <a:solidFill>
              <a:srgbClr val="BEE0DC"/>
            </a:solidFill>
            <a:prstDash val="solid"/>
          </a:ln>
        </p:spPr>
      </p:sp>
      <p:sp>
        <p:nvSpPr>
          <p:cNvPr id="27" name="Text 25"/>
          <p:cNvSpPr/>
          <p:nvPr/>
        </p:nvSpPr>
        <p:spPr>
          <a:xfrm>
            <a:off x="6949440" y="4389120"/>
            <a:ext cx="4389120" cy="1645920"/>
          </a:xfrm>
          <a:prstGeom prst="rect">
            <a:avLst/>
          </a:prstGeom>
          <a:noFill/>
          <a:ln/>
        </p:spPr>
        <p:txBody>
          <a:bodyPr wrap="square" lIns="0" tIns="0" rIns="0" bIns="0" rtlCol="0" anchor="ctr"/>
          <a:lstStyle/>
          <a:p>
            <a:pPr marL="0" indent="0">
              <a:lnSpc>
                <a:spcPts val="1600"/>
              </a:lnSpc>
              <a:spcAft>
                <a:spcPts val="600"/>
              </a:spcAft>
              <a:buNone/>
            </a:pPr>
            <a:r>
              <a:rPr lang="en-US" sz="1400" b="1" dirty="0">
                <a:solidFill>
                  <a:srgbClr val="0B3D5C"/>
                </a:solidFill>
                <a:latin typeface="Times New Roman" pitchFamily="34" charset="0"/>
                <a:ea typeface="Times New Roman" pitchFamily="34" charset="-122"/>
                <a:cs typeface="Times New Roman" pitchFamily="34" charset="-120"/>
              </a:rPr>
              <a:t>Step 1 — </a:t>
            </a:r>
            <a:r>
              <a:rPr lang="en-US" sz="1400" dirty="0">
                <a:solidFill>
                  <a:srgbClr val="1F2A37"/>
                </a:solidFill>
                <a:latin typeface="Times New Roman" pitchFamily="34" charset="0"/>
                <a:ea typeface="Times New Roman" pitchFamily="34" charset="-122"/>
                <a:cs typeface="Times New Roman" pitchFamily="34" charset="-120"/>
              </a:rPr>
              <a:t>Traverse to node before WL2, unlink Priya's node.
</a:t>
            </a:r>
            <a:r>
              <a:rPr lang="en-US" sz="1400" b="1" dirty="0">
                <a:solidFill>
                  <a:srgbClr val="0B3D5C"/>
                </a:solidFill>
                <a:latin typeface="Times New Roman" pitchFamily="34" charset="0"/>
                <a:ea typeface="Times New Roman" pitchFamily="34" charset="-122"/>
                <a:cs typeface="Times New Roman" pitchFamily="34" charset="-120"/>
              </a:rPr>
              <a:t>Step 2 — </a:t>
            </a:r>
            <a:r>
              <a:rPr lang="en-US" sz="1400" dirty="0">
                <a:solidFill>
                  <a:srgbClr val="1F2A37"/>
                </a:solidFill>
                <a:latin typeface="Times New Roman" pitchFamily="34" charset="0"/>
                <a:ea typeface="Times New Roman" pitchFamily="34" charset="-122"/>
                <a:cs typeface="Times New Roman" pitchFamily="34" charset="-120"/>
              </a:rPr>
              <a:t>Kabir's node becomes the new WL2 link target.
</a:t>
            </a:r>
            <a:r>
              <a:rPr lang="en-US" sz="1400" b="1" dirty="0">
                <a:solidFill>
                  <a:srgbClr val="0B3D5C"/>
                </a:solidFill>
                <a:latin typeface="Times New Roman" pitchFamily="34" charset="0"/>
                <a:ea typeface="Times New Roman" pitchFamily="34" charset="-122"/>
                <a:cs typeface="Times New Roman" pitchFamily="34" charset="-120"/>
              </a:rPr>
              <a:t>Step 3 — </a:t>
            </a:r>
            <a:r>
              <a:rPr lang="en-US" sz="1400" dirty="0">
                <a:solidFill>
                  <a:srgbClr val="1F2A37"/>
                </a:solidFill>
                <a:latin typeface="Times New Roman" pitchFamily="34" charset="0"/>
                <a:ea typeface="Times New Roman" pitchFamily="34" charset="-122"/>
                <a:cs typeface="Times New Roman" pitchFamily="34" charset="-120"/>
              </a:rPr>
              <a:t>Single traversal renumbers Kabir → WL2, Sailaja → WL3.</a:t>
            </a:r>
            <a:endParaRPr lang="en-US" sz="1400" dirty="0"/>
          </a:p>
        </p:txBody>
      </p:sp>
      <p:pic>
        <p:nvPicPr>
          <p:cNvPr id="28" name="Image 0" descr="assets/simats_logo.png"/>
          <p:cNvPicPr>
            <a:picLocks noChangeAspect="1"/>
          </p:cNvPicPr>
          <p:nvPr/>
        </p:nvPicPr>
        <p:blipFill>
          <a:blip r:embed="rId3"/>
          <a:stretch>
            <a:fillRect/>
          </a:stretch>
        </p:blipFill>
        <p:spPr>
          <a:xfrm>
            <a:off x="10680192" y="292608"/>
            <a:ext cx="1051560" cy="269932"/>
          </a:xfrm>
          <a:prstGeom prst="rect">
            <a:avLst/>
          </a:prstGeom>
        </p:spPr>
      </p:pic>
      <p:sp>
        <p:nvSpPr>
          <p:cNvPr id="32" name="Text 39">
            <a:extLst>
              <a:ext uri="{FF2B5EF4-FFF2-40B4-BE49-F238E27FC236}">
                <a16:creationId xmlns:a16="http://schemas.microsoft.com/office/drawing/2014/main" id="{F71109F0-F2D3-B462-7FDC-F3B518B361EA}"/>
              </a:ext>
            </a:extLst>
          </p:cNvPr>
          <p:cNvSpPr/>
          <p:nvPr/>
        </p:nvSpPr>
        <p:spPr>
          <a:xfrm>
            <a:off x="502920" y="6419973"/>
            <a:ext cx="7772400" cy="274320"/>
          </a:xfrm>
          <a:prstGeom prst="rect">
            <a:avLst/>
          </a:prstGeom>
          <a:noFill/>
          <a:ln/>
        </p:spPr>
        <p:txBody>
          <a:bodyPr wrap="square" lIns="0" tIns="0" rIns="0" bIns="0" rtlCol="0" anchor="ctr"/>
          <a:lstStyle/>
          <a:p>
            <a:pPr marL="0" indent="0" algn="l">
              <a:buNone/>
            </a:pPr>
            <a:r>
              <a:rPr lang="en-US" sz="1200" dirty="0">
                <a:solidFill>
                  <a:srgbClr val="5B6B79"/>
                </a:solidFill>
                <a:latin typeface="Times New Roman" pitchFamily="34" charset="0"/>
                <a:ea typeface="Times New Roman" pitchFamily="34" charset="-122"/>
                <a:cs typeface="Times New Roman" pitchFamily="34" charset="-120"/>
              </a:rPr>
              <a:t>CSA0306 | CO1 – AT3 | Variganji Sumanth Babu | Reg No: 192524447</a:t>
            </a:r>
            <a:endParaRPr lang="en-US" sz="1200" dirty="0"/>
          </a:p>
        </p:txBody>
      </p:sp>
      <p:sp>
        <p:nvSpPr>
          <p:cNvPr id="34" name="Text 40">
            <a:extLst>
              <a:ext uri="{FF2B5EF4-FFF2-40B4-BE49-F238E27FC236}">
                <a16:creationId xmlns:a16="http://schemas.microsoft.com/office/drawing/2014/main" id="{22766A9D-1EB7-1F8C-1E10-01007F777011}"/>
              </a:ext>
            </a:extLst>
          </p:cNvPr>
          <p:cNvSpPr/>
          <p:nvPr/>
        </p:nvSpPr>
        <p:spPr>
          <a:xfrm>
            <a:off x="10680192" y="6419973"/>
            <a:ext cx="1097280" cy="274320"/>
          </a:xfrm>
          <a:prstGeom prst="rect">
            <a:avLst/>
          </a:prstGeom>
          <a:noFill/>
          <a:ln/>
        </p:spPr>
        <p:txBody>
          <a:bodyPr wrap="square" lIns="0" tIns="0" rIns="0" bIns="0" rtlCol="0" anchor="ctr"/>
          <a:lstStyle/>
          <a:p>
            <a:pPr marL="0" indent="0" algn="r">
              <a:buNone/>
            </a:pPr>
            <a:r>
              <a:rPr lang="en-US" sz="1200" dirty="0">
                <a:solidFill>
                  <a:srgbClr val="5B6B79"/>
                </a:solidFill>
                <a:latin typeface="Times New Roman" pitchFamily="34" charset="0"/>
                <a:ea typeface="Times New Roman" pitchFamily="34" charset="-122"/>
                <a:cs typeface="Times New Roman" pitchFamily="34" charset="-120"/>
              </a:rPr>
              <a:t>Slide 5 of 11</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marL="0" indent="0">
              <a:buNone/>
            </a:pPr>
            <a:r>
              <a:rPr lang="en-US" sz="1400" b="1" kern="0" spc="200" dirty="0">
                <a:solidFill>
                  <a:srgbClr val="0E9594"/>
                </a:solidFill>
                <a:latin typeface="Times New Roman" pitchFamily="34" charset="0"/>
                <a:ea typeface="Times New Roman" pitchFamily="34" charset="-122"/>
                <a:cs typeface="Times New Roman" pitchFamily="34" charset="-120"/>
              </a:rPr>
              <a:t>COMPLEXITY ANALYSIS</a:t>
            </a:r>
            <a:endParaRPr lang="en-US" sz="1400" dirty="0"/>
          </a:p>
        </p:txBody>
      </p:sp>
      <p:sp>
        <p:nvSpPr>
          <p:cNvPr id="3" name="Text 1"/>
          <p:cNvSpPr/>
          <p:nvPr/>
        </p:nvSpPr>
        <p:spPr>
          <a:xfrm>
            <a:off x="548640" y="658368"/>
            <a:ext cx="9464040" cy="640080"/>
          </a:xfrm>
          <a:prstGeom prst="rect">
            <a:avLst/>
          </a:prstGeom>
          <a:noFill/>
          <a:ln/>
        </p:spPr>
        <p:txBody>
          <a:bodyPr wrap="square" lIns="0" tIns="0" rIns="0" bIns="0" rtlCol="0" anchor="ctr"/>
          <a:lstStyle/>
          <a:p>
            <a:pPr marL="0" indent="0">
              <a:buNone/>
            </a:pPr>
            <a:r>
              <a:rPr lang="en-US" sz="3000" b="1" dirty="0">
                <a:solidFill>
                  <a:srgbClr val="0B3D5C"/>
                </a:solidFill>
                <a:latin typeface="Times New Roman" pitchFamily="34" charset="0"/>
                <a:ea typeface="Times New Roman" pitchFamily="34" charset="-122"/>
                <a:cs typeface="Times New Roman" pitchFamily="34" charset="-120"/>
              </a:rPr>
              <a:t>Time and Space Complexity</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2552292499"/>
              </p:ext>
            </p:extLst>
          </p:nvPr>
        </p:nvGraphicFramePr>
        <p:xfrm>
          <a:off x="548640" y="1554480"/>
          <a:ext cx="7360920" cy="2606040"/>
        </p:xfrm>
        <a:graphic>
          <a:graphicData uri="http://schemas.openxmlformats.org/drawingml/2006/table">
            <a:tbl>
              <a:tblPr/>
              <a:tblGrid>
                <a:gridCol w="23317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521208">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Operation</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0B3D5C"/>
                    </a:solidFill>
                  </a:tcPr>
                </a:tc>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Time Complexity</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0B3D5C"/>
                    </a:solidFill>
                  </a:tcPr>
                </a:tc>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Space Complexity</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0B3D5C"/>
                    </a:solidFill>
                  </a:tcPr>
                </a:tc>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Notes</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0B3D5C"/>
                    </a:solidFill>
                  </a:tcPr>
                </a:tc>
                <a:extLst>
                  <a:ext uri="{0D108BD9-81ED-4DB2-BD59-A6C34878D82A}">
                    <a16:rowId xmlns:a16="http://schemas.microsoft.com/office/drawing/2014/main" val="10000"/>
                  </a:ext>
                </a:extLst>
              </a:tr>
              <a:tr h="521208">
                <a:tc>
                  <a:txBody>
                    <a:bodyPr/>
                    <a:lstStyle/>
                    <a:p>
                      <a:pPr marL="0" indent="0" algn="l">
                        <a:buNone/>
                      </a:pPr>
                      <a:r>
                        <a:rPr lang="en-US" sz="1250" b="1" dirty="0">
                          <a:solidFill>
                            <a:srgbClr val="0B3D5C"/>
                          </a:solidFill>
                          <a:latin typeface="Times New Roman" pitchFamily="34" charset="0"/>
                          <a:ea typeface="Times New Roman" pitchFamily="34" charset="-122"/>
                          <a:cs typeface="Times New Roman" pitchFamily="34" charset="-120"/>
                        </a:rPr>
                        <a:t>Insertion (append new booking)</a:t>
                      </a:r>
                      <a:endParaRPr lang="en-US" sz="125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EAF3FB"/>
                    </a:solidFill>
                  </a:tcPr>
                </a:tc>
                <a:tc>
                  <a:txBody>
                    <a:bodyPr/>
                    <a:lstStyle/>
                    <a:p>
                      <a:pPr marL="0" indent="0" algn="ctr">
                        <a:buNone/>
                      </a:pPr>
                      <a:r>
                        <a:rPr lang="en-US" sz="1250" dirty="0">
                          <a:solidFill>
                            <a:srgbClr val="1F2A37"/>
                          </a:solidFill>
                          <a:latin typeface="Times New Roman" pitchFamily="34" charset="0"/>
                          <a:ea typeface="Times New Roman" pitchFamily="34" charset="-122"/>
                          <a:cs typeface="Times New Roman" pitchFamily="34" charset="-120"/>
                        </a:rPr>
                        <a:t>O(1)*</a:t>
                      </a:r>
                      <a:endParaRPr lang="en-US" sz="125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EAF3FB"/>
                    </a:solidFill>
                  </a:tcPr>
                </a:tc>
                <a:tc>
                  <a:txBody>
                    <a:bodyPr/>
                    <a:lstStyle/>
                    <a:p>
                      <a:pPr marL="0" indent="0" algn="ctr">
                        <a:buNone/>
                      </a:pPr>
                      <a:r>
                        <a:rPr lang="en-US" sz="1250" dirty="0">
                          <a:solidFill>
                            <a:srgbClr val="1F2A37"/>
                          </a:solidFill>
                          <a:latin typeface="Times New Roman" pitchFamily="34" charset="0"/>
                          <a:ea typeface="Times New Roman" pitchFamily="34" charset="-122"/>
                          <a:cs typeface="Times New Roman" pitchFamily="34" charset="-120"/>
                        </a:rPr>
                        <a:t>O(1)</a:t>
                      </a:r>
                      <a:endParaRPr lang="en-US" sz="125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EAF3FB"/>
                    </a:solidFill>
                  </a:tcPr>
                </a:tc>
                <a:tc>
                  <a:txBody>
                    <a:bodyPr/>
                    <a:lstStyle/>
                    <a:p>
                      <a:pPr marL="0" indent="0" algn="ctr">
                        <a:buNone/>
                      </a:pPr>
                      <a:r>
                        <a:rPr lang="en-US" sz="1250" dirty="0">
                          <a:solidFill>
                            <a:srgbClr val="1F2A37"/>
                          </a:solidFill>
                          <a:latin typeface="Times New Roman" pitchFamily="34" charset="0"/>
                          <a:ea typeface="Times New Roman" pitchFamily="34" charset="-122"/>
                          <a:cs typeface="Times New Roman" pitchFamily="34" charset="-120"/>
                        </a:rPr>
                        <a:t>Constant with a maintained tail pointer</a:t>
                      </a:r>
                      <a:endParaRPr lang="en-US" sz="125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EAF3FB"/>
                    </a:solidFill>
                  </a:tcPr>
                </a:tc>
                <a:extLst>
                  <a:ext uri="{0D108BD9-81ED-4DB2-BD59-A6C34878D82A}">
                    <a16:rowId xmlns:a16="http://schemas.microsoft.com/office/drawing/2014/main" val="10001"/>
                  </a:ext>
                </a:extLst>
              </a:tr>
              <a:tr h="521208">
                <a:tc>
                  <a:txBody>
                    <a:bodyPr/>
                    <a:lstStyle/>
                    <a:p>
                      <a:pPr marL="0" indent="0" algn="l">
                        <a:buNone/>
                      </a:pPr>
                      <a:r>
                        <a:rPr lang="en-US" sz="1250" b="1" dirty="0">
                          <a:solidFill>
                            <a:srgbClr val="0B3D5C"/>
                          </a:solidFill>
                          <a:latin typeface="Times New Roman" pitchFamily="34" charset="0"/>
                          <a:ea typeface="Times New Roman" pitchFamily="34" charset="-122"/>
                          <a:cs typeface="Times New Roman" pitchFamily="34" charset="-120"/>
                        </a:rPr>
                        <a:t>Deletion (cancellation)</a:t>
                      </a:r>
                      <a:endParaRPr lang="en-US" sz="125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37"/>
                          </a:solidFill>
                          <a:latin typeface="Times New Roman" pitchFamily="34" charset="0"/>
                          <a:ea typeface="Times New Roman" pitchFamily="34" charset="-122"/>
                          <a:cs typeface="Times New Roman" pitchFamily="34" charset="-120"/>
                        </a:rPr>
                        <a:t>O(n)</a:t>
                      </a:r>
                      <a:endParaRPr lang="en-US" sz="125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37"/>
                          </a:solidFill>
                          <a:latin typeface="Times New Roman" pitchFamily="34" charset="0"/>
                          <a:ea typeface="Times New Roman" pitchFamily="34" charset="-122"/>
                          <a:cs typeface="Times New Roman" pitchFamily="34" charset="-120"/>
                        </a:rPr>
                        <a:t>O(1)</a:t>
                      </a:r>
                      <a:endParaRPr lang="en-US" sz="125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37"/>
                          </a:solidFill>
                          <a:latin typeface="Times New Roman" pitchFamily="34" charset="0"/>
                          <a:ea typeface="Times New Roman" pitchFamily="34" charset="-122"/>
                          <a:cs typeface="Times New Roman" pitchFamily="34" charset="-120"/>
                        </a:rPr>
                        <a:t>Locating the node is O(n); the unlink itself is O(1)</a:t>
                      </a:r>
                      <a:endParaRPr lang="en-US" sz="125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lgn="l">
                        <a:buNone/>
                      </a:pPr>
                      <a:r>
                        <a:rPr lang="en-US" sz="1250" b="1" dirty="0">
                          <a:solidFill>
                            <a:srgbClr val="0B3D5C"/>
                          </a:solidFill>
                          <a:latin typeface="Times New Roman" pitchFamily="34" charset="0"/>
                          <a:ea typeface="Times New Roman" pitchFamily="34" charset="-122"/>
                          <a:cs typeface="Times New Roman" pitchFamily="34" charset="-120"/>
                        </a:rPr>
                        <a:t>Search (find passenger / position)</a:t>
                      </a:r>
                      <a:endParaRPr lang="en-US" sz="125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EAF3FB"/>
                    </a:solidFill>
                  </a:tcPr>
                </a:tc>
                <a:tc>
                  <a:txBody>
                    <a:bodyPr/>
                    <a:lstStyle/>
                    <a:p>
                      <a:pPr marL="0" indent="0" algn="ctr">
                        <a:buNone/>
                      </a:pPr>
                      <a:r>
                        <a:rPr lang="en-US" sz="1250" dirty="0">
                          <a:solidFill>
                            <a:srgbClr val="1F2A37"/>
                          </a:solidFill>
                          <a:latin typeface="Times New Roman" pitchFamily="34" charset="0"/>
                          <a:ea typeface="Times New Roman" pitchFamily="34" charset="-122"/>
                          <a:cs typeface="Times New Roman" pitchFamily="34" charset="-120"/>
                        </a:rPr>
                        <a:t>O(n)</a:t>
                      </a:r>
                      <a:endParaRPr lang="en-US" sz="125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EAF3FB"/>
                    </a:solidFill>
                  </a:tcPr>
                </a:tc>
                <a:tc>
                  <a:txBody>
                    <a:bodyPr/>
                    <a:lstStyle/>
                    <a:p>
                      <a:pPr marL="0" indent="0" algn="ctr">
                        <a:buNone/>
                      </a:pPr>
                      <a:r>
                        <a:rPr lang="en-US" sz="1250" dirty="0">
                          <a:solidFill>
                            <a:srgbClr val="1F2A37"/>
                          </a:solidFill>
                          <a:latin typeface="Times New Roman" pitchFamily="34" charset="0"/>
                          <a:ea typeface="Times New Roman" pitchFamily="34" charset="-122"/>
                          <a:cs typeface="Times New Roman" pitchFamily="34" charset="-120"/>
                        </a:rPr>
                        <a:t>O(1)</a:t>
                      </a:r>
                      <a:endParaRPr lang="en-US" sz="125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EAF3FB"/>
                    </a:solidFill>
                  </a:tcPr>
                </a:tc>
                <a:tc>
                  <a:txBody>
                    <a:bodyPr/>
                    <a:lstStyle/>
                    <a:p>
                      <a:pPr marL="0" indent="0" algn="ctr">
                        <a:buNone/>
                      </a:pPr>
                      <a:r>
                        <a:rPr lang="en-US" sz="1250" dirty="0">
                          <a:solidFill>
                            <a:srgbClr val="1F2A37"/>
                          </a:solidFill>
                          <a:latin typeface="Times New Roman" pitchFamily="34" charset="0"/>
                          <a:ea typeface="Times New Roman" pitchFamily="34" charset="-122"/>
                          <a:cs typeface="Times New Roman" pitchFamily="34" charset="-120"/>
                        </a:rPr>
                        <a:t>Linear scan from HEAD in the worst case</a:t>
                      </a:r>
                      <a:endParaRPr lang="en-US" sz="125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EAF3FB"/>
                    </a:solidFill>
                  </a:tcPr>
                </a:tc>
                <a:extLst>
                  <a:ext uri="{0D108BD9-81ED-4DB2-BD59-A6C34878D82A}">
                    <a16:rowId xmlns:a16="http://schemas.microsoft.com/office/drawing/2014/main" val="10003"/>
                  </a:ext>
                </a:extLst>
              </a:tr>
              <a:tr h="521208">
                <a:tc>
                  <a:txBody>
                    <a:bodyPr/>
                    <a:lstStyle/>
                    <a:p>
                      <a:pPr marL="0" indent="0" algn="l">
                        <a:buNone/>
                      </a:pPr>
                      <a:r>
                        <a:rPr lang="en-US" sz="1250" b="1" dirty="0">
                          <a:solidFill>
                            <a:srgbClr val="0B3D5C"/>
                          </a:solidFill>
                          <a:latin typeface="Times New Roman" pitchFamily="34" charset="0"/>
                          <a:ea typeface="Times New Roman" pitchFamily="34" charset="-122"/>
                          <a:cs typeface="Times New Roman" pitchFamily="34" charset="-120"/>
                        </a:rPr>
                        <a:t>Update (renumber after change)</a:t>
                      </a:r>
                      <a:endParaRPr lang="en-US" sz="125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37"/>
                          </a:solidFill>
                          <a:latin typeface="Times New Roman" pitchFamily="34" charset="0"/>
                          <a:ea typeface="Times New Roman" pitchFamily="34" charset="-122"/>
                          <a:cs typeface="Times New Roman" pitchFamily="34" charset="-120"/>
                        </a:rPr>
                        <a:t>O(n)</a:t>
                      </a:r>
                      <a:endParaRPr lang="en-US" sz="125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37"/>
                          </a:solidFill>
                          <a:latin typeface="Times New Roman" pitchFamily="34" charset="0"/>
                          <a:ea typeface="Times New Roman" pitchFamily="34" charset="-122"/>
                          <a:cs typeface="Times New Roman" pitchFamily="34" charset="-120"/>
                        </a:rPr>
                        <a:t>O(1)</a:t>
                      </a:r>
                      <a:endParaRPr lang="en-US" sz="125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F2A37"/>
                          </a:solidFill>
                          <a:latin typeface="Times New Roman" pitchFamily="34" charset="0"/>
                          <a:ea typeface="Times New Roman" pitchFamily="34" charset="-122"/>
                          <a:cs typeface="Times New Roman" pitchFamily="34" charset="-120"/>
                        </a:rPr>
                        <a:t>One full traversal reassigns all ranks</a:t>
                      </a:r>
                      <a:endParaRPr lang="en-US" sz="125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48640" y="4279392"/>
            <a:ext cx="7360920" cy="502920"/>
          </a:xfrm>
          <a:prstGeom prst="rect">
            <a:avLst/>
          </a:prstGeom>
          <a:noFill/>
          <a:ln/>
        </p:spPr>
        <p:txBody>
          <a:bodyPr wrap="square" lIns="0" tIns="0" rIns="0" bIns="0" rtlCol="0" anchor="ctr"/>
          <a:lstStyle/>
          <a:p>
            <a:pPr marL="0" indent="0">
              <a:lnSpc>
                <a:spcPts val="1400"/>
              </a:lnSpc>
              <a:buNone/>
            </a:pPr>
            <a:r>
              <a:rPr lang="en-US" sz="1200" i="1" dirty="0">
                <a:solidFill>
                  <a:srgbClr val="5B6B79"/>
                </a:solidFill>
                <a:latin typeface="Times New Roman" pitchFamily="34" charset="0"/>
                <a:ea typeface="Times New Roman" pitchFamily="34" charset="-122"/>
                <a:cs typeface="Times New Roman" pitchFamily="34" charset="-120"/>
              </a:rPr>
              <a:t>*Insertion is O(1) only when a tail pointer is maintained; without it, appending requires an O(n) traversal to the last node.</a:t>
            </a:r>
            <a:endParaRPr lang="en-US" sz="1200" dirty="0"/>
          </a:p>
        </p:txBody>
      </p:sp>
      <p:sp>
        <p:nvSpPr>
          <p:cNvPr id="6" name="Shape 3"/>
          <p:cNvSpPr/>
          <p:nvPr/>
        </p:nvSpPr>
        <p:spPr>
          <a:xfrm>
            <a:off x="548640" y="4892040"/>
            <a:ext cx="7360920" cy="1188720"/>
          </a:xfrm>
          <a:prstGeom prst="roundRect">
            <a:avLst>
              <a:gd name="adj" fmla="val 7692"/>
            </a:avLst>
          </a:prstGeom>
          <a:solidFill>
            <a:srgbClr val="E6F7F6"/>
          </a:solidFill>
          <a:ln/>
        </p:spPr>
      </p:sp>
      <p:sp>
        <p:nvSpPr>
          <p:cNvPr id="7" name="Text 4"/>
          <p:cNvSpPr/>
          <p:nvPr/>
        </p:nvSpPr>
        <p:spPr>
          <a:xfrm>
            <a:off x="777240" y="5029200"/>
            <a:ext cx="6903720" cy="914400"/>
          </a:xfrm>
          <a:prstGeom prst="rect">
            <a:avLst/>
          </a:prstGeom>
          <a:noFill/>
          <a:ln/>
        </p:spPr>
        <p:txBody>
          <a:bodyPr wrap="square" lIns="0" tIns="0" rIns="0" bIns="0" rtlCol="0" anchor="ctr"/>
          <a:lstStyle/>
          <a:p>
            <a:pPr marL="0" indent="0">
              <a:lnSpc>
                <a:spcPts val="1600"/>
              </a:lnSpc>
              <a:buNone/>
            </a:pPr>
            <a:r>
              <a:rPr lang="en-US" sz="1400" b="1" dirty="0">
                <a:solidFill>
                  <a:srgbClr val="0B3D5C"/>
                </a:solidFill>
                <a:latin typeface="Times New Roman" pitchFamily="34" charset="0"/>
                <a:ea typeface="Times New Roman" pitchFamily="34" charset="-122"/>
                <a:cs typeface="Times New Roman" pitchFamily="34" charset="-120"/>
              </a:rPr>
              <a:t>Space Overview:  </a:t>
            </a:r>
            <a:r>
              <a:rPr lang="en-US" sz="1400" dirty="0">
                <a:solidFill>
                  <a:srgbClr val="1F2A37"/>
                </a:solidFill>
                <a:latin typeface="Times New Roman" pitchFamily="34" charset="0"/>
                <a:ea typeface="Times New Roman" pitchFamily="34" charset="-122"/>
                <a:cs typeface="Times New Roman" pitchFamily="34" charset="-120"/>
              </a:rPr>
              <a:t>Total space is O(n) for n waiting passengers — one node per passenger, each carrying one extra pointer field. No extra memory is pre-allocated or wasted, unlike a fixed-size array.</a:t>
            </a:r>
            <a:endParaRPr lang="en-US" sz="1400" dirty="0"/>
          </a:p>
        </p:txBody>
      </p:sp>
      <p:sp>
        <p:nvSpPr>
          <p:cNvPr id="4" name="Shape 5"/>
          <p:cNvSpPr/>
          <p:nvPr/>
        </p:nvSpPr>
        <p:spPr>
          <a:xfrm>
            <a:off x="8138160" y="1554480"/>
            <a:ext cx="3520440" cy="4526280"/>
          </a:xfrm>
          <a:prstGeom prst="roundRect">
            <a:avLst>
              <a:gd name="adj" fmla="val 2597"/>
            </a:avLst>
          </a:prstGeom>
          <a:solidFill>
            <a:srgbClr val="FFFFFF"/>
          </a:solidFill>
          <a:ln w="12700">
            <a:solidFill>
              <a:srgbClr val="D7E3ED"/>
            </a:solidFill>
            <a:prstDash val="solid"/>
          </a:ln>
        </p:spPr>
      </p:sp>
      <p:sp>
        <p:nvSpPr>
          <p:cNvPr id="9" name="Text 6"/>
          <p:cNvSpPr/>
          <p:nvPr/>
        </p:nvSpPr>
        <p:spPr>
          <a:xfrm>
            <a:off x="8321040" y="1691640"/>
            <a:ext cx="3108960" cy="256032"/>
          </a:xfrm>
          <a:prstGeom prst="rect">
            <a:avLst/>
          </a:prstGeom>
          <a:noFill/>
          <a:ln/>
        </p:spPr>
        <p:txBody>
          <a:bodyPr wrap="square" lIns="0" tIns="0" rIns="0" bIns="0" rtlCol="0" anchor="ctr"/>
          <a:lstStyle/>
          <a:p>
            <a:pPr marL="0" indent="0">
              <a:buNone/>
            </a:pPr>
            <a:r>
              <a:rPr lang="en-US" sz="1400" b="1" dirty="0">
                <a:solidFill>
                  <a:srgbClr val="0B3D5C"/>
                </a:solidFill>
                <a:latin typeface="Times New Roman" pitchFamily="34" charset="0"/>
                <a:ea typeface="Times New Roman" pitchFamily="34" charset="-122"/>
                <a:cs typeface="Times New Roman" pitchFamily="34" charset="-120"/>
              </a:rPr>
              <a:t>Relative Operation Cost</a:t>
            </a:r>
            <a:endParaRPr lang="en-US" sz="1400" dirty="0"/>
          </a:p>
        </p:txBody>
      </p:sp>
      <p:sp>
        <p:nvSpPr>
          <p:cNvPr id="10" name="Text 7"/>
          <p:cNvSpPr/>
          <p:nvPr/>
        </p:nvSpPr>
        <p:spPr>
          <a:xfrm>
            <a:off x="8321040" y="1946874"/>
            <a:ext cx="3200400" cy="219456"/>
          </a:xfrm>
          <a:prstGeom prst="rect">
            <a:avLst/>
          </a:prstGeom>
          <a:noFill/>
          <a:ln/>
        </p:spPr>
        <p:txBody>
          <a:bodyPr wrap="square" lIns="0" tIns="0" rIns="0" bIns="0" rtlCol="0" anchor="ctr"/>
          <a:lstStyle/>
          <a:p>
            <a:pPr marL="0" indent="0">
              <a:buNone/>
            </a:pPr>
            <a:r>
              <a:rPr lang="en-US" sz="1200" i="1" dirty="0">
                <a:solidFill>
                  <a:srgbClr val="5B6B79"/>
                </a:solidFill>
                <a:latin typeface="Times New Roman" pitchFamily="34" charset="0"/>
                <a:ea typeface="Times New Roman" pitchFamily="34" charset="-122"/>
                <a:cs typeface="Times New Roman" pitchFamily="34" charset="-120"/>
              </a:rPr>
              <a:t>Steps required for n = 10 passengers</a:t>
            </a:r>
            <a:endParaRPr lang="en-US" sz="1200" dirty="0"/>
          </a:p>
        </p:txBody>
      </p:sp>
      <p:graphicFrame>
        <p:nvGraphicFramePr>
          <p:cNvPr id="11" name="Chart 0"/>
          <p:cNvGraphicFramePr/>
          <p:nvPr/>
        </p:nvGraphicFramePr>
        <p:xfrm>
          <a:off x="8275320" y="2240280"/>
          <a:ext cx="3246120" cy="3611880"/>
        </p:xfrm>
        <a:graphic>
          <a:graphicData uri="http://schemas.openxmlformats.org/drawingml/2006/chart">
            <c:chart xmlns:c="http://schemas.openxmlformats.org/drawingml/2006/chart" xmlns:r="http://schemas.openxmlformats.org/officeDocument/2006/relationships" r:id="rId3"/>
          </a:graphicData>
        </a:graphic>
      </p:graphicFrame>
      <p:pic>
        <p:nvPicPr>
          <p:cNvPr id="12" name="Image 0" descr="assets/simats_logo.png"/>
          <p:cNvPicPr>
            <a:picLocks noChangeAspect="1"/>
          </p:cNvPicPr>
          <p:nvPr/>
        </p:nvPicPr>
        <p:blipFill>
          <a:blip r:embed="rId4"/>
          <a:stretch>
            <a:fillRect/>
          </a:stretch>
        </p:blipFill>
        <p:spPr>
          <a:xfrm>
            <a:off x="10680192" y="292608"/>
            <a:ext cx="1051560" cy="269932"/>
          </a:xfrm>
          <a:prstGeom prst="rect">
            <a:avLst/>
          </a:prstGeom>
        </p:spPr>
      </p:pic>
      <p:sp>
        <p:nvSpPr>
          <p:cNvPr id="16" name="Text 39">
            <a:extLst>
              <a:ext uri="{FF2B5EF4-FFF2-40B4-BE49-F238E27FC236}">
                <a16:creationId xmlns:a16="http://schemas.microsoft.com/office/drawing/2014/main" id="{82F95EB6-27CF-C984-E3AE-ECF3A35A9AE4}"/>
              </a:ext>
            </a:extLst>
          </p:cNvPr>
          <p:cNvSpPr/>
          <p:nvPr/>
        </p:nvSpPr>
        <p:spPr>
          <a:xfrm>
            <a:off x="502920" y="6419973"/>
            <a:ext cx="7772400" cy="274320"/>
          </a:xfrm>
          <a:prstGeom prst="rect">
            <a:avLst/>
          </a:prstGeom>
          <a:noFill/>
          <a:ln/>
        </p:spPr>
        <p:txBody>
          <a:bodyPr wrap="square" lIns="0" tIns="0" rIns="0" bIns="0" rtlCol="0" anchor="ctr"/>
          <a:lstStyle/>
          <a:p>
            <a:pPr marL="0" indent="0" algn="l">
              <a:buNone/>
            </a:pPr>
            <a:r>
              <a:rPr lang="en-US" sz="1200" dirty="0">
                <a:solidFill>
                  <a:srgbClr val="5B6B79"/>
                </a:solidFill>
                <a:latin typeface="Times New Roman" pitchFamily="34" charset="0"/>
                <a:ea typeface="Times New Roman" pitchFamily="34" charset="-122"/>
                <a:cs typeface="Times New Roman" pitchFamily="34" charset="-120"/>
              </a:rPr>
              <a:t>CSA0306 | CO1 – AT3 | Variganji Sumanth Babu | Reg No: 192524447</a:t>
            </a:r>
            <a:endParaRPr lang="en-US" sz="1200" dirty="0"/>
          </a:p>
        </p:txBody>
      </p:sp>
      <p:sp>
        <p:nvSpPr>
          <p:cNvPr id="18" name="Text 40">
            <a:extLst>
              <a:ext uri="{FF2B5EF4-FFF2-40B4-BE49-F238E27FC236}">
                <a16:creationId xmlns:a16="http://schemas.microsoft.com/office/drawing/2014/main" id="{99FFB6F4-CF44-2939-EFB5-6C69C87ABC46}"/>
              </a:ext>
            </a:extLst>
          </p:cNvPr>
          <p:cNvSpPr/>
          <p:nvPr/>
        </p:nvSpPr>
        <p:spPr>
          <a:xfrm>
            <a:off x="10680192" y="6419973"/>
            <a:ext cx="1097280" cy="274320"/>
          </a:xfrm>
          <a:prstGeom prst="rect">
            <a:avLst/>
          </a:prstGeom>
          <a:noFill/>
          <a:ln/>
        </p:spPr>
        <p:txBody>
          <a:bodyPr wrap="square" lIns="0" tIns="0" rIns="0" bIns="0" rtlCol="0" anchor="ctr"/>
          <a:lstStyle/>
          <a:p>
            <a:pPr marL="0" indent="0" algn="r">
              <a:buNone/>
            </a:pPr>
            <a:r>
              <a:rPr lang="en-US" sz="1200" dirty="0">
                <a:solidFill>
                  <a:srgbClr val="5B6B79"/>
                </a:solidFill>
                <a:latin typeface="Times New Roman" pitchFamily="34" charset="0"/>
                <a:ea typeface="Times New Roman" pitchFamily="34" charset="-122"/>
                <a:cs typeface="Times New Roman" pitchFamily="34" charset="-120"/>
              </a:rPr>
              <a:t>Slide 6 of 11</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marL="0" indent="0">
              <a:buNone/>
            </a:pPr>
            <a:r>
              <a:rPr lang="en-US" sz="1400" b="1" kern="0" spc="200" dirty="0">
                <a:solidFill>
                  <a:srgbClr val="0E9594"/>
                </a:solidFill>
                <a:latin typeface="Times New Roman" pitchFamily="34" charset="0"/>
                <a:ea typeface="Times New Roman" pitchFamily="34" charset="-122"/>
                <a:cs typeface="Times New Roman" pitchFamily="34" charset="-120"/>
              </a:rPr>
              <a:t>COMPARATIVE ANALYSIS</a:t>
            </a:r>
            <a:endParaRPr lang="en-US" sz="1400" dirty="0"/>
          </a:p>
        </p:txBody>
      </p:sp>
      <p:sp>
        <p:nvSpPr>
          <p:cNvPr id="3" name="Text 1"/>
          <p:cNvSpPr/>
          <p:nvPr/>
        </p:nvSpPr>
        <p:spPr>
          <a:xfrm>
            <a:off x="548640" y="658368"/>
            <a:ext cx="9464040" cy="640080"/>
          </a:xfrm>
          <a:prstGeom prst="rect">
            <a:avLst/>
          </a:prstGeom>
          <a:noFill/>
          <a:ln/>
        </p:spPr>
        <p:txBody>
          <a:bodyPr wrap="square" lIns="0" tIns="0" rIns="0" bIns="0" rtlCol="0" anchor="ctr"/>
          <a:lstStyle/>
          <a:p>
            <a:pPr marL="0" indent="0">
              <a:buNone/>
            </a:pPr>
            <a:r>
              <a:rPr lang="en-US" sz="3000" b="1" dirty="0">
                <a:solidFill>
                  <a:srgbClr val="0B3D5C"/>
                </a:solidFill>
                <a:latin typeface="Times New Roman" pitchFamily="34" charset="0"/>
                <a:ea typeface="Times New Roman" pitchFamily="34" charset="-122"/>
                <a:cs typeface="Times New Roman" pitchFamily="34" charset="-120"/>
              </a:rPr>
              <a:t>Linked List vs Array vs Queue</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2495152023"/>
              </p:ext>
            </p:extLst>
          </p:nvPr>
        </p:nvGraphicFramePr>
        <p:xfrm>
          <a:off x="548640" y="1600200"/>
          <a:ext cx="11064240" cy="2834640"/>
        </p:xfrm>
        <a:graphic>
          <a:graphicData uri="http://schemas.openxmlformats.org/drawingml/2006/table">
            <a:tbl>
              <a:tblPr/>
              <a:tblGrid>
                <a:gridCol w="26517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2880360">
                  <a:extLst>
                    <a:ext uri="{9D8B030D-6E8A-4147-A177-3AD203B41FA5}">
                      <a16:colId xmlns:a16="http://schemas.microsoft.com/office/drawing/2014/main" val="20003"/>
                    </a:ext>
                  </a:extLst>
                </a:gridCol>
              </a:tblGrid>
              <a:tr h="566928">
                <a:tc>
                  <a:txBody>
                    <a:bodyP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Criteria</a:t>
                      </a:r>
                      <a:endParaRPr lang="en-US" sz="16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0B3D5C"/>
                    </a:solidFill>
                  </a:tcPr>
                </a:tc>
                <a:tc>
                  <a:txBody>
                    <a:bodyP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Array</a:t>
                      </a:r>
                      <a:endParaRPr lang="en-US" sz="16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0B3D5C"/>
                    </a:solidFill>
                  </a:tcPr>
                </a:tc>
                <a:tc>
                  <a:txBody>
                    <a:bodyP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Linked List</a:t>
                      </a:r>
                      <a:endParaRPr lang="en-US" sz="16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0E9594"/>
                    </a:solidFill>
                  </a:tcPr>
                </a:tc>
                <a:tc>
                  <a:txBody>
                    <a:bodyP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Queue (Array-based)</a:t>
                      </a:r>
                      <a:endParaRPr lang="en-US" sz="16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0B3D5C"/>
                    </a:solidFill>
                  </a:tcPr>
                </a:tc>
                <a:extLst>
                  <a:ext uri="{0D108BD9-81ED-4DB2-BD59-A6C34878D82A}">
                    <a16:rowId xmlns:a16="http://schemas.microsoft.com/office/drawing/2014/main" val="10000"/>
                  </a:ext>
                </a:extLst>
              </a:tr>
              <a:tr h="566928">
                <a:tc>
                  <a:txBody>
                    <a:bodyPr/>
                    <a:lstStyle/>
                    <a:p>
                      <a:pPr marL="0" indent="0" algn="l">
                        <a:buNone/>
                      </a:pPr>
                      <a:r>
                        <a:rPr lang="en-US" sz="1400" b="1" dirty="0">
                          <a:solidFill>
                            <a:srgbClr val="1F2A37"/>
                          </a:solidFill>
                          <a:latin typeface="Times New Roman" pitchFamily="34" charset="0"/>
                          <a:ea typeface="Times New Roman" pitchFamily="34" charset="-122"/>
                          <a:cs typeface="Times New Roman" pitchFamily="34" charset="-120"/>
                        </a:rPr>
                        <a:t>Insertion (at rank)</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EAF3FB"/>
                    </a:solidFill>
                  </a:tcPr>
                </a:tc>
                <a:tc>
                  <a:txBody>
                    <a:bodyPr/>
                    <a:lstStyle/>
                    <a:p>
                      <a:pPr marL="0" indent="0" algn="ctr">
                        <a:buNone/>
                      </a:pPr>
                      <a:r>
                        <a:rPr lang="en-US" sz="1400" dirty="0">
                          <a:solidFill>
                            <a:srgbClr val="1F2A37"/>
                          </a:solidFill>
                          <a:latin typeface="Times New Roman" pitchFamily="34" charset="0"/>
                          <a:ea typeface="Times New Roman" pitchFamily="34" charset="-122"/>
                          <a:cs typeface="Times New Roman" pitchFamily="34" charset="-120"/>
                        </a:rPr>
                        <a:t>O(n) — shift elements</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EAF3FB"/>
                    </a:solidFill>
                  </a:tcPr>
                </a:tc>
                <a:tc>
                  <a:txBody>
                    <a:bodyPr/>
                    <a:lstStyle/>
                    <a:p>
                      <a:pPr marL="0" indent="0" algn="ctr">
                        <a:buNone/>
                      </a:pPr>
                      <a:r>
                        <a:rPr lang="en-US" sz="1400" b="1" dirty="0">
                          <a:solidFill>
                            <a:srgbClr val="0B3D5C"/>
                          </a:solidFill>
                          <a:latin typeface="Times New Roman" pitchFamily="34" charset="0"/>
                          <a:ea typeface="Times New Roman" pitchFamily="34" charset="-122"/>
                          <a:cs typeface="Times New Roman" pitchFamily="34" charset="-120"/>
                        </a:rPr>
                        <a:t>O(1) at tail / O(n) mid-list</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E6F7F6"/>
                    </a:solidFill>
                  </a:tcPr>
                </a:tc>
                <a:tc>
                  <a:txBody>
                    <a:bodyPr/>
                    <a:lstStyle/>
                    <a:p>
                      <a:pPr marL="0" indent="0" algn="ctr">
                        <a:buNone/>
                      </a:pPr>
                      <a:r>
                        <a:rPr lang="en-US" sz="1400" dirty="0">
                          <a:solidFill>
                            <a:srgbClr val="1F2A37"/>
                          </a:solidFill>
                          <a:latin typeface="Times New Roman" pitchFamily="34" charset="0"/>
                          <a:ea typeface="Times New Roman" pitchFamily="34" charset="-122"/>
                          <a:cs typeface="Times New Roman" pitchFamily="34" charset="-120"/>
                        </a:rPr>
                        <a:t>O(1) only at rear</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EAF3FB"/>
                    </a:solidFill>
                  </a:tcPr>
                </a:tc>
                <a:extLst>
                  <a:ext uri="{0D108BD9-81ED-4DB2-BD59-A6C34878D82A}">
                    <a16:rowId xmlns:a16="http://schemas.microsoft.com/office/drawing/2014/main" val="10001"/>
                  </a:ext>
                </a:extLst>
              </a:tr>
              <a:tr h="566928">
                <a:tc>
                  <a:txBody>
                    <a:bodyPr/>
                    <a:lstStyle/>
                    <a:p>
                      <a:pPr marL="0" indent="0" algn="l">
                        <a:buNone/>
                      </a:pPr>
                      <a:r>
                        <a:rPr lang="en-US" sz="1400" b="1" dirty="0">
                          <a:solidFill>
                            <a:srgbClr val="1F2A37"/>
                          </a:solidFill>
                          <a:latin typeface="Times New Roman" pitchFamily="34" charset="0"/>
                          <a:ea typeface="Times New Roman" pitchFamily="34" charset="-122"/>
                          <a:cs typeface="Times New Roman" pitchFamily="34" charset="-120"/>
                        </a:rPr>
                        <a:t>Deletion (mid-list)</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A37"/>
                          </a:solidFill>
                          <a:latin typeface="Times New Roman" pitchFamily="34" charset="0"/>
                          <a:ea typeface="Times New Roman" pitchFamily="34" charset="-122"/>
                          <a:cs typeface="Times New Roman" pitchFamily="34" charset="-120"/>
                        </a:rPr>
                        <a:t>O(n) — shift elements</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B3D5C"/>
                          </a:solidFill>
                          <a:latin typeface="Times New Roman" pitchFamily="34" charset="0"/>
                          <a:ea typeface="Times New Roman" pitchFamily="34" charset="-122"/>
                          <a:cs typeface="Times New Roman" pitchFamily="34" charset="-120"/>
                        </a:rPr>
                        <a:t>O(n) traverse + O(1) unlink</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E6F7F6"/>
                    </a:solidFill>
                  </a:tcPr>
                </a:tc>
                <a:tc>
                  <a:txBody>
                    <a:bodyPr/>
                    <a:lstStyle/>
                    <a:p>
                      <a:pPr marL="0" indent="0" algn="ctr">
                        <a:buNone/>
                      </a:pPr>
                      <a:r>
                        <a:rPr lang="en-US" sz="1400" dirty="0">
                          <a:solidFill>
                            <a:srgbClr val="1F2A37"/>
                          </a:solidFill>
                          <a:latin typeface="Times New Roman" pitchFamily="34" charset="0"/>
                          <a:ea typeface="Times New Roman" pitchFamily="34" charset="-122"/>
                          <a:cs typeface="Times New Roman" pitchFamily="34" charset="-120"/>
                        </a:rPr>
                        <a:t>O(n) — not native to queue</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lgn="l">
                        <a:buNone/>
                      </a:pPr>
                      <a:r>
                        <a:rPr lang="en-US" sz="1400" b="1" dirty="0">
                          <a:solidFill>
                            <a:srgbClr val="1F2A37"/>
                          </a:solidFill>
                          <a:latin typeface="Times New Roman" pitchFamily="34" charset="0"/>
                          <a:ea typeface="Times New Roman" pitchFamily="34" charset="-122"/>
                          <a:cs typeface="Times New Roman" pitchFamily="34" charset="-120"/>
                        </a:rPr>
                        <a:t>Memory Usage</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EAF3FB"/>
                    </a:solidFill>
                  </a:tcPr>
                </a:tc>
                <a:tc>
                  <a:txBody>
                    <a:bodyPr/>
                    <a:lstStyle/>
                    <a:p>
                      <a:pPr marL="0" indent="0" algn="ctr">
                        <a:buNone/>
                      </a:pPr>
                      <a:r>
                        <a:rPr lang="en-US" sz="1400" dirty="0">
                          <a:solidFill>
                            <a:srgbClr val="1F2A37"/>
                          </a:solidFill>
                          <a:latin typeface="Times New Roman" pitchFamily="34" charset="0"/>
                          <a:ea typeface="Times New Roman" pitchFamily="34" charset="-122"/>
                          <a:cs typeface="Times New Roman" pitchFamily="34" charset="-120"/>
                        </a:rPr>
                        <a:t>Fixed / pre-allocated, may waste space</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EAF3FB"/>
                    </a:solidFill>
                  </a:tcPr>
                </a:tc>
                <a:tc>
                  <a:txBody>
                    <a:bodyPr/>
                    <a:lstStyle/>
                    <a:p>
                      <a:pPr marL="0" indent="0" algn="ctr">
                        <a:buNone/>
                      </a:pPr>
                      <a:r>
                        <a:rPr lang="en-US" sz="1400" b="1" dirty="0">
                          <a:solidFill>
                            <a:srgbClr val="0B3D5C"/>
                          </a:solidFill>
                          <a:latin typeface="Times New Roman" pitchFamily="34" charset="0"/>
                          <a:ea typeface="Times New Roman" pitchFamily="34" charset="-122"/>
                          <a:cs typeface="Times New Roman" pitchFamily="34" charset="-120"/>
                        </a:rPr>
                        <a:t>Dynamic, exact-fit + pointer overhead</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E6F7F6"/>
                    </a:solidFill>
                  </a:tcPr>
                </a:tc>
                <a:tc>
                  <a:txBody>
                    <a:bodyPr/>
                    <a:lstStyle/>
                    <a:p>
                      <a:pPr marL="0" indent="0" algn="ctr">
                        <a:buNone/>
                      </a:pPr>
                      <a:r>
                        <a:rPr lang="en-US" sz="1400" dirty="0">
                          <a:solidFill>
                            <a:srgbClr val="1F2A37"/>
                          </a:solidFill>
                          <a:latin typeface="Times New Roman" pitchFamily="34" charset="0"/>
                          <a:ea typeface="Times New Roman" pitchFamily="34" charset="-122"/>
                          <a:cs typeface="Times New Roman" pitchFamily="34" charset="-120"/>
                        </a:rPr>
                        <a:t>Fixed / pre-allocated</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EAF3FB"/>
                    </a:solidFill>
                  </a:tcPr>
                </a:tc>
                <a:extLst>
                  <a:ext uri="{0D108BD9-81ED-4DB2-BD59-A6C34878D82A}">
                    <a16:rowId xmlns:a16="http://schemas.microsoft.com/office/drawing/2014/main" val="10003"/>
                  </a:ext>
                </a:extLst>
              </a:tr>
              <a:tr h="566928">
                <a:tc>
                  <a:txBody>
                    <a:bodyPr/>
                    <a:lstStyle/>
                    <a:p>
                      <a:pPr marL="0" indent="0" algn="l">
                        <a:buNone/>
                      </a:pPr>
                      <a:r>
                        <a:rPr lang="en-US" sz="1400" b="1" dirty="0">
                          <a:solidFill>
                            <a:srgbClr val="1F2A37"/>
                          </a:solidFill>
                          <a:latin typeface="Times New Roman" pitchFamily="34" charset="0"/>
                          <a:ea typeface="Times New Roman" pitchFamily="34" charset="-122"/>
                          <a:cs typeface="Times New Roman" pitchFamily="34" charset="-120"/>
                        </a:rPr>
                        <a:t>Flexibility for WL</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A37"/>
                          </a:solidFill>
                          <a:latin typeface="Times New Roman" pitchFamily="34" charset="0"/>
                          <a:ea typeface="Times New Roman" pitchFamily="34" charset="-122"/>
                          <a:cs typeface="Times New Roman" pitchFamily="34" charset="-120"/>
                        </a:rPr>
                        <a:t>Poor — resizing is costly</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B3D5C"/>
                          </a:solidFill>
                          <a:latin typeface="Times New Roman" pitchFamily="34" charset="0"/>
                          <a:ea typeface="Times New Roman" pitchFamily="34" charset="-122"/>
                          <a:cs typeface="Times New Roman" pitchFamily="34" charset="-120"/>
                        </a:rPr>
                        <a:t>Excellent — grows/shrinks freely</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E6F7F6"/>
                    </a:solidFill>
                  </a:tcPr>
                </a:tc>
                <a:tc>
                  <a:txBody>
                    <a:bodyPr/>
                    <a:lstStyle/>
                    <a:p>
                      <a:pPr marL="0" indent="0" algn="ctr">
                        <a:buNone/>
                      </a:pPr>
                      <a:r>
                        <a:rPr lang="en-US" sz="1400" dirty="0">
                          <a:solidFill>
                            <a:srgbClr val="1F2A37"/>
                          </a:solidFill>
                          <a:latin typeface="Times New Roman" pitchFamily="34" charset="0"/>
                          <a:ea typeface="Times New Roman" pitchFamily="34" charset="-122"/>
                          <a:cs typeface="Times New Roman" pitchFamily="34" charset="-120"/>
                        </a:rPr>
                        <a:t>Poor — no random-position cancel</a:t>
                      </a:r>
                      <a:endParaRPr lang="en-US" sz="1400" dirty="0">
                        <a:latin typeface="Times New Roman" charset="0"/>
                        <a:ea typeface="Times New Roman" charset="0"/>
                        <a:cs typeface="Times New Roman" charset="0"/>
                      </a:endParaRPr>
                    </a:p>
                  </a:txBody>
                  <a:tcPr anchor="ctr">
                    <a:lnL w="9525" cap="flat" cmpd="sng" algn="ctr">
                      <a:solidFill>
                        <a:srgbClr val="D7E3ED"/>
                      </a:solidFill>
                      <a:prstDash val="solid"/>
                      <a:round/>
                      <a:headEnd type="none" w="med" len="med"/>
                      <a:tailEnd type="none" w="med" len="med"/>
                    </a:lnL>
                    <a:lnR w="9525" cap="flat" cmpd="sng" algn="ctr">
                      <a:solidFill>
                        <a:srgbClr val="D7E3ED"/>
                      </a:solidFill>
                      <a:prstDash val="solid"/>
                      <a:round/>
                      <a:headEnd type="none" w="med" len="med"/>
                      <a:tailEnd type="none" w="med" len="med"/>
                    </a:lnR>
                    <a:lnT w="9525" cap="flat" cmpd="sng" algn="ctr">
                      <a:solidFill>
                        <a:srgbClr val="D7E3ED"/>
                      </a:solidFill>
                      <a:prstDash val="solid"/>
                      <a:round/>
                      <a:headEnd type="none" w="med" len="med"/>
                      <a:tailEnd type="none" w="med" len="med"/>
                    </a:lnT>
                    <a:lnB w="9525" cap="flat" cmpd="sng" algn="ctr">
                      <a:solidFill>
                        <a:srgbClr val="D7E3E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4709160"/>
            <a:ext cx="3566160" cy="1463040"/>
          </a:xfrm>
          <a:prstGeom prst="roundRect">
            <a:avLst>
              <a:gd name="adj" fmla="val 6250"/>
            </a:avLst>
          </a:prstGeom>
          <a:solidFill>
            <a:srgbClr val="F7E7E7"/>
          </a:solidFill>
          <a:ln/>
        </p:spPr>
      </p:sp>
      <p:sp>
        <p:nvSpPr>
          <p:cNvPr id="6" name="Shape 3"/>
          <p:cNvSpPr/>
          <p:nvPr/>
        </p:nvSpPr>
        <p:spPr>
          <a:xfrm>
            <a:off x="731520" y="4892040"/>
            <a:ext cx="457200" cy="457200"/>
          </a:xfrm>
          <a:prstGeom prst="ellipse">
            <a:avLst/>
          </a:prstGeom>
          <a:solidFill>
            <a:srgbClr val="8A3B3B"/>
          </a:solidFill>
          <a:ln/>
        </p:spPr>
      </p:sp>
      <p:pic>
        <p:nvPicPr>
          <p:cNvPr id="7" name="Image 0" descr="icons/cross_white.png"/>
          <p:cNvPicPr>
            <a:picLocks noChangeAspect="1"/>
          </p:cNvPicPr>
          <p:nvPr/>
        </p:nvPicPr>
        <p:blipFill>
          <a:blip r:embed="rId3"/>
          <a:stretch>
            <a:fillRect/>
          </a:stretch>
        </p:blipFill>
        <p:spPr>
          <a:xfrm>
            <a:off x="786384" y="4946904"/>
            <a:ext cx="347472" cy="347472"/>
          </a:xfrm>
          <a:prstGeom prst="rect">
            <a:avLst/>
          </a:prstGeom>
        </p:spPr>
      </p:pic>
      <p:sp>
        <p:nvSpPr>
          <p:cNvPr id="8" name="Text 4"/>
          <p:cNvSpPr/>
          <p:nvPr/>
        </p:nvSpPr>
        <p:spPr>
          <a:xfrm>
            <a:off x="1325880" y="4910328"/>
            <a:ext cx="2651760" cy="320040"/>
          </a:xfrm>
          <a:prstGeom prst="rect">
            <a:avLst/>
          </a:prstGeom>
          <a:noFill/>
          <a:ln/>
        </p:spPr>
        <p:txBody>
          <a:bodyPr wrap="square" lIns="0" tIns="0" rIns="0" bIns="0" rtlCol="0" anchor="ctr"/>
          <a:lstStyle/>
          <a:p>
            <a:pPr marL="0" indent="0">
              <a:buNone/>
            </a:pPr>
            <a:r>
              <a:rPr lang="en-US" sz="1600" b="1" dirty="0">
                <a:solidFill>
                  <a:srgbClr val="0B3D5C"/>
                </a:solidFill>
                <a:latin typeface="Times New Roman" pitchFamily="34" charset="0"/>
                <a:ea typeface="Times New Roman" pitchFamily="34" charset="-122"/>
                <a:cs typeface="Times New Roman" pitchFamily="34" charset="-120"/>
              </a:rPr>
              <a:t>Array</a:t>
            </a:r>
            <a:endParaRPr lang="en-US" sz="1600" dirty="0"/>
          </a:p>
        </p:txBody>
      </p:sp>
      <p:sp>
        <p:nvSpPr>
          <p:cNvPr id="4" name="Text 5"/>
          <p:cNvSpPr/>
          <p:nvPr/>
        </p:nvSpPr>
        <p:spPr>
          <a:xfrm>
            <a:off x="777240" y="5367528"/>
            <a:ext cx="3108960" cy="731520"/>
          </a:xfrm>
          <a:prstGeom prst="rect">
            <a:avLst/>
          </a:prstGeom>
          <a:noFill/>
          <a:ln/>
        </p:spPr>
        <p:txBody>
          <a:bodyPr wrap="square" lIns="0" tIns="0" rIns="0" bIns="0" rtlCol="0" anchor="ctr"/>
          <a:lstStyle/>
          <a:p>
            <a:pPr marL="0" indent="0">
              <a:lnSpc>
                <a:spcPts val="1400"/>
              </a:lnSpc>
              <a:buNone/>
            </a:pPr>
            <a:r>
              <a:rPr lang="en-US" sz="1400" dirty="0">
                <a:solidFill>
                  <a:srgbClr val="1F2A37"/>
                </a:solidFill>
                <a:latin typeface="Times New Roman" pitchFamily="34" charset="0"/>
                <a:ea typeface="Times New Roman" pitchFamily="34" charset="-122"/>
                <a:cs typeface="Times New Roman" pitchFamily="34" charset="-120"/>
              </a:rPr>
              <a:t>Rigid size and costly shifts make it unsuitable for a fluctuating waiting list.</a:t>
            </a:r>
            <a:endParaRPr lang="en-US" sz="1400" dirty="0"/>
          </a:p>
        </p:txBody>
      </p:sp>
      <p:sp>
        <p:nvSpPr>
          <p:cNvPr id="10" name="Shape 6"/>
          <p:cNvSpPr/>
          <p:nvPr/>
        </p:nvSpPr>
        <p:spPr>
          <a:xfrm>
            <a:off x="4297680" y="4709160"/>
            <a:ext cx="3566160" cy="1463040"/>
          </a:xfrm>
          <a:prstGeom prst="roundRect">
            <a:avLst>
              <a:gd name="adj" fmla="val 6250"/>
            </a:avLst>
          </a:prstGeom>
          <a:solidFill>
            <a:srgbClr val="E6F7F6"/>
          </a:solidFill>
          <a:ln/>
        </p:spPr>
      </p:sp>
      <p:sp>
        <p:nvSpPr>
          <p:cNvPr id="11" name="Shape 7"/>
          <p:cNvSpPr/>
          <p:nvPr/>
        </p:nvSpPr>
        <p:spPr>
          <a:xfrm>
            <a:off x="4480560" y="4892040"/>
            <a:ext cx="457200" cy="457200"/>
          </a:xfrm>
          <a:prstGeom prst="ellipse">
            <a:avLst/>
          </a:prstGeom>
          <a:solidFill>
            <a:srgbClr val="0E9594"/>
          </a:solidFill>
          <a:ln/>
        </p:spPr>
      </p:sp>
      <p:pic>
        <p:nvPicPr>
          <p:cNvPr id="12" name="Image 1" descr="icons/check_white.png"/>
          <p:cNvPicPr>
            <a:picLocks noChangeAspect="1"/>
          </p:cNvPicPr>
          <p:nvPr/>
        </p:nvPicPr>
        <p:blipFill>
          <a:blip r:embed="rId4"/>
          <a:stretch>
            <a:fillRect/>
          </a:stretch>
        </p:blipFill>
        <p:spPr>
          <a:xfrm>
            <a:off x="4535424" y="4946904"/>
            <a:ext cx="347472" cy="347472"/>
          </a:xfrm>
          <a:prstGeom prst="rect">
            <a:avLst/>
          </a:prstGeom>
        </p:spPr>
      </p:pic>
      <p:sp>
        <p:nvSpPr>
          <p:cNvPr id="13" name="Text 8"/>
          <p:cNvSpPr/>
          <p:nvPr/>
        </p:nvSpPr>
        <p:spPr>
          <a:xfrm>
            <a:off x="5074920" y="4910328"/>
            <a:ext cx="2651760" cy="320040"/>
          </a:xfrm>
          <a:prstGeom prst="rect">
            <a:avLst/>
          </a:prstGeom>
          <a:noFill/>
          <a:ln/>
        </p:spPr>
        <p:txBody>
          <a:bodyPr wrap="square" lIns="0" tIns="0" rIns="0" bIns="0" rtlCol="0" anchor="ctr"/>
          <a:lstStyle/>
          <a:p>
            <a:pPr marL="0" indent="0">
              <a:buNone/>
            </a:pPr>
            <a:r>
              <a:rPr lang="en-US" sz="1600" b="1" dirty="0">
                <a:solidFill>
                  <a:srgbClr val="0B3D5C"/>
                </a:solidFill>
                <a:latin typeface="Times New Roman" pitchFamily="34" charset="0"/>
                <a:ea typeface="Times New Roman" pitchFamily="34" charset="-122"/>
                <a:cs typeface="Times New Roman" pitchFamily="34" charset="-120"/>
              </a:rPr>
              <a:t>Linked List</a:t>
            </a:r>
            <a:endParaRPr lang="en-US" sz="1600" dirty="0"/>
          </a:p>
        </p:txBody>
      </p:sp>
      <p:sp>
        <p:nvSpPr>
          <p:cNvPr id="14" name="Text 9"/>
          <p:cNvSpPr/>
          <p:nvPr/>
        </p:nvSpPr>
        <p:spPr>
          <a:xfrm>
            <a:off x="4526280" y="5367528"/>
            <a:ext cx="3108960" cy="731520"/>
          </a:xfrm>
          <a:prstGeom prst="rect">
            <a:avLst/>
          </a:prstGeom>
          <a:noFill/>
          <a:ln/>
        </p:spPr>
        <p:txBody>
          <a:bodyPr wrap="square" lIns="0" tIns="0" rIns="0" bIns="0" rtlCol="0" anchor="ctr"/>
          <a:lstStyle/>
          <a:p>
            <a:pPr marL="0" indent="0">
              <a:lnSpc>
                <a:spcPts val="1400"/>
              </a:lnSpc>
              <a:buNone/>
            </a:pPr>
            <a:r>
              <a:rPr lang="en-US" sz="1400" dirty="0">
                <a:solidFill>
                  <a:srgbClr val="1F2A37"/>
                </a:solidFill>
                <a:latin typeface="Times New Roman" pitchFamily="34" charset="0"/>
                <a:ea typeface="Times New Roman" pitchFamily="34" charset="-122"/>
                <a:cs typeface="Times New Roman" pitchFamily="34" charset="-120"/>
              </a:rPr>
              <a:t>Dynamic sizing and O(1) unlinking make it the best fit for this problem.</a:t>
            </a:r>
            <a:endParaRPr lang="en-US" sz="1400" dirty="0"/>
          </a:p>
        </p:txBody>
      </p:sp>
      <p:sp>
        <p:nvSpPr>
          <p:cNvPr id="15" name="Shape 10"/>
          <p:cNvSpPr/>
          <p:nvPr/>
        </p:nvSpPr>
        <p:spPr>
          <a:xfrm>
            <a:off x="8046720" y="4709160"/>
            <a:ext cx="3566160" cy="1463040"/>
          </a:xfrm>
          <a:prstGeom prst="roundRect">
            <a:avLst>
              <a:gd name="adj" fmla="val 6250"/>
            </a:avLst>
          </a:prstGeom>
          <a:solidFill>
            <a:srgbClr val="F7E7E7"/>
          </a:solidFill>
          <a:ln/>
        </p:spPr>
      </p:sp>
      <p:sp>
        <p:nvSpPr>
          <p:cNvPr id="16" name="Shape 11"/>
          <p:cNvSpPr/>
          <p:nvPr/>
        </p:nvSpPr>
        <p:spPr>
          <a:xfrm>
            <a:off x="8229600" y="4892040"/>
            <a:ext cx="457200" cy="457200"/>
          </a:xfrm>
          <a:prstGeom prst="ellipse">
            <a:avLst/>
          </a:prstGeom>
          <a:solidFill>
            <a:srgbClr val="8A3B3B"/>
          </a:solidFill>
          <a:ln/>
        </p:spPr>
      </p:sp>
      <p:pic>
        <p:nvPicPr>
          <p:cNvPr id="17" name="Image 2" descr="icons/cross_white.png"/>
          <p:cNvPicPr>
            <a:picLocks noChangeAspect="1"/>
          </p:cNvPicPr>
          <p:nvPr/>
        </p:nvPicPr>
        <p:blipFill>
          <a:blip r:embed="rId3"/>
          <a:stretch>
            <a:fillRect/>
          </a:stretch>
        </p:blipFill>
        <p:spPr>
          <a:xfrm>
            <a:off x="8284464" y="4946904"/>
            <a:ext cx="347472" cy="347472"/>
          </a:xfrm>
          <a:prstGeom prst="rect">
            <a:avLst/>
          </a:prstGeom>
        </p:spPr>
      </p:pic>
      <p:sp>
        <p:nvSpPr>
          <p:cNvPr id="18" name="Text 12"/>
          <p:cNvSpPr/>
          <p:nvPr/>
        </p:nvSpPr>
        <p:spPr>
          <a:xfrm>
            <a:off x="8823960" y="4910328"/>
            <a:ext cx="2651760" cy="320040"/>
          </a:xfrm>
          <a:prstGeom prst="rect">
            <a:avLst/>
          </a:prstGeom>
          <a:noFill/>
          <a:ln/>
        </p:spPr>
        <p:txBody>
          <a:bodyPr wrap="square" lIns="0" tIns="0" rIns="0" bIns="0" rtlCol="0" anchor="ctr"/>
          <a:lstStyle/>
          <a:p>
            <a:pPr marL="0" indent="0">
              <a:buNone/>
            </a:pPr>
            <a:r>
              <a:rPr lang="en-US" sz="1600" b="1" dirty="0">
                <a:solidFill>
                  <a:srgbClr val="0B3D5C"/>
                </a:solidFill>
                <a:latin typeface="Times New Roman" pitchFamily="34" charset="0"/>
                <a:ea typeface="Times New Roman" pitchFamily="34" charset="-122"/>
                <a:cs typeface="Times New Roman" pitchFamily="34" charset="-120"/>
              </a:rPr>
              <a:t>Queue</a:t>
            </a:r>
            <a:endParaRPr lang="en-US" sz="1600" dirty="0"/>
          </a:p>
        </p:txBody>
      </p:sp>
      <p:sp>
        <p:nvSpPr>
          <p:cNvPr id="19" name="Text 13"/>
          <p:cNvSpPr/>
          <p:nvPr/>
        </p:nvSpPr>
        <p:spPr>
          <a:xfrm>
            <a:off x="8275320" y="5367528"/>
            <a:ext cx="3108960" cy="731520"/>
          </a:xfrm>
          <a:prstGeom prst="rect">
            <a:avLst/>
          </a:prstGeom>
          <a:noFill/>
          <a:ln/>
        </p:spPr>
        <p:txBody>
          <a:bodyPr wrap="square" lIns="0" tIns="0" rIns="0" bIns="0" rtlCol="0" anchor="ctr"/>
          <a:lstStyle/>
          <a:p>
            <a:pPr marL="0" indent="0">
              <a:lnSpc>
                <a:spcPts val="1400"/>
              </a:lnSpc>
              <a:buNone/>
            </a:pPr>
            <a:r>
              <a:rPr lang="en-US" sz="1400" dirty="0">
                <a:solidFill>
                  <a:srgbClr val="1F2A37"/>
                </a:solidFill>
                <a:latin typeface="Times New Roman" pitchFamily="34" charset="0"/>
                <a:ea typeface="Times New Roman" pitchFamily="34" charset="-122"/>
                <a:cs typeface="Times New Roman" pitchFamily="34" charset="-120"/>
              </a:rPr>
              <a:t>Only supports front/rear operations — cannot cancel from the middle efficiently.</a:t>
            </a:r>
            <a:endParaRPr lang="en-US" sz="1400" dirty="0"/>
          </a:p>
        </p:txBody>
      </p:sp>
      <p:pic>
        <p:nvPicPr>
          <p:cNvPr id="20" name="Image 3" descr="assets/simats_logo.png"/>
          <p:cNvPicPr>
            <a:picLocks noChangeAspect="1"/>
          </p:cNvPicPr>
          <p:nvPr/>
        </p:nvPicPr>
        <p:blipFill>
          <a:blip r:embed="rId5"/>
          <a:stretch>
            <a:fillRect/>
          </a:stretch>
        </p:blipFill>
        <p:spPr>
          <a:xfrm>
            <a:off x="10680192" y="292608"/>
            <a:ext cx="1051560" cy="269932"/>
          </a:xfrm>
          <a:prstGeom prst="rect">
            <a:avLst/>
          </a:prstGeom>
        </p:spPr>
      </p:pic>
      <p:sp>
        <p:nvSpPr>
          <p:cNvPr id="24" name="Text 39">
            <a:extLst>
              <a:ext uri="{FF2B5EF4-FFF2-40B4-BE49-F238E27FC236}">
                <a16:creationId xmlns:a16="http://schemas.microsoft.com/office/drawing/2014/main" id="{A2E1ADAB-BC6B-ED07-7DCB-0934A056DA05}"/>
              </a:ext>
            </a:extLst>
          </p:cNvPr>
          <p:cNvSpPr/>
          <p:nvPr/>
        </p:nvSpPr>
        <p:spPr>
          <a:xfrm>
            <a:off x="502920" y="6419973"/>
            <a:ext cx="7772400" cy="274320"/>
          </a:xfrm>
          <a:prstGeom prst="rect">
            <a:avLst/>
          </a:prstGeom>
          <a:noFill/>
          <a:ln/>
        </p:spPr>
        <p:txBody>
          <a:bodyPr wrap="square" lIns="0" tIns="0" rIns="0" bIns="0" rtlCol="0" anchor="ctr"/>
          <a:lstStyle/>
          <a:p>
            <a:pPr marL="0" indent="0" algn="l">
              <a:buNone/>
            </a:pPr>
            <a:r>
              <a:rPr lang="en-US" sz="1200" dirty="0">
                <a:solidFill>
                  <a:srgbClr val="5B6B79"/>
                </a:solidFill>
                <a:latin typeface="Times New Roman" pitchFamily="34" charset="0"/>
                <a:ea typeface="Times New Roman" pitchFamily="34" charset="-122"/>
                <a:cs typeface="Times New Roman" pitchFamily="34" charset="-120"/>
              </a:rPr>
              <a:t>CSA0306 | CO1 – AT3 | Variganji Sumanth Babu | Reg No: 192524447</a:t>
            </a:r>
            <a:endParaRPr lang="en-US" sz="1200" dirty="0"/>
          </a:p>
        </p:txBody>
      </p:sp>
      <p:sp>
        <p:nvSpPr>
          <p:cNvPr id="26" name="Text 40">
            <a:extLst>
              <a:ext uri="{FF2B5EF4-FFF2-40B4-BE49-F238E27FC236}">
                <a16:creationId xmlns:a16="http://schemas.microsoft.com/office/drawing/2014/main" id="{BFD659CE-7611-6D44-2E54-2747F459C5E0}"/>
              </a:ext>
            </a:extLst>
          </p:cNvPr>
          <p:cNvSpPr/>
          <p:nvPr/>
        </p:nvSpPr>
        <p:spPr>
          <a:xfrm>
            <a:off x="10680192" y="6419973"/>
            <a:ext cx="1097280" cy="274320"/>
          </a:xfrm>
          <a:prstGeom prst="rect">
            <a:avLst/>
          </a:prstGeom>
          <a:noFill/>
          <a:ln/>
        </p:spPr>
        <p:txBody>
          <a:bodyPr wrap="square" lIns="0" tIns="0" rIns="0" bIns="0" rtlCol="0" anchor="ctr"/>
          <a:lstStyle/>
          <a:p>
            <a:pPr marL="0" indent="0" algn="r">
              <a:buNone/>
            </a:pPr>
            <a:r>
              <a:rPr lang="en-US" sz="1200" dirty="0">
                <a:solidFill>
                  <a:srgbClr val="5B6B79"/>
                </a:solidFill>
                <a:latin typeface="Times New Roman" pitchFamily="34" charset="0"/>
                <a:ea typeface="Times New Roman" pitchFamily="34" charset="-122"/>
                <a:cs typeface="Times New Roman" pitchFamily="34" charset="-120"/>
              </a:rPr>
              <a:t>Slide 7 of 11</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marL="0" indent="0">
              <a:buNone/>
            </a:pPr>
            <a:r>
              <a:rPr lang="en-US" sz="1400" b="1" kern="0" spc="200" dirty="0">
                <a:solidFill>
                  <a:srgbClr val="0E9594"/>
                </a:solidFill>
                <a:latin typeface="Times New Roman" pitchFamily="34" charset="0"/>
                <a:ea typeface="Times New Roman" pitchFamily="34" charset="-122"/>
                <a:cs typeface="Times New Roman" pitchFamily="34" charset="-120"/>
              </a:rPr>
              <a:t>CRITICAL EVALUATION</a:t>
            </a:r>
            <a:endParaRPr lang="en-US" sz="1400" dirty="0"/>
          </a:p>
        </p:txBody>
      </p:sp>
      <p:sp>
        <p:nvSpPr>
          <p:cNvPr id="3" name="Text 1"/>
          <p:cNvSpPr/>
          <p:nvPr/>
        </p:nvSpPr>
        <p:spPr>
          <a:xfrm>
            <a:off x="548640" y="658368"/>
            <a:ext cx="9464040" cy="640080"/>
          </a:xfrm>
          <a:prstGeom prst="rect">
            <a:avLst/>
          </a:prstGeom>
          <a:noFill/>
          <a:ln/>
        </p:spPr>
        <p:txBody>
          <a:bodyPr wrap="square" lIns="0" tIns="0" rIns="0" bIns="0" rtlCol="0" anchor="ctr"/>
          <a:lstStyle/>
          <a:p>
            <a:pPr marL="0" indent="0">
              <a:buNone/>
            </a:pPr>
            <a:r>
              <a:rPr lang="en-US" sz="3000" b="1" dirty="0">
                <a:solidFill>
                  <a:srgbClr val="0B3D5C"/>
                </a:solidFill>
                <a:latin typeface="Times New Roman" pitchFamily="34" charset="0"/>
                <a:ea typeface="Times New Roman" pitchFamily="34" charset="-122"/>
                <a:cs typeface="Times New Roman" pitchFamily="34" charset="-120"/>
              </a:rPr>
              <a:t>Advantages and Limitations</a:t>
            </a:r>
            <a:endParaRPr lang="en-US" sz="3000" dirty="0"/>
          </a:p>
        </p:txBody>
      </p:sp>
      <p:sp>
        <p:nvSpPr>
          <p:cNvPr id="4" name="Shape 2"/>
          <p:cNvSpPr/>
          <p:nvPr/>
        </p:nvSpPr>
        <p:spPr>
          <a:xfrm>
            <a:off x="548640" y="1554480"/>
            <a:ext cx="5486400" cy="4572000"/>
          </a:xfrm>
          <a:prstGeom prst="roundRect">
            <a:avLst>
              <a:gd name="adj" fmla="val 2400"/>
            </a:avLst>
          </a:prstGeom>
          <a:solidFill>
            <a:srgbClr val="E6F7F6"/>
          </a:solidFill>
          <a:ln/>
        </p:spPr>
      </p:sp>
      <p:sp>
        <p:nvSpPr>
          <p:cNvPr id="5" name="Shape 3"/>
          <p:cNvSpPr/>
          <p:nvPr/>
        </p:nvSpPr>
        <p:spPr>
          <a:xfrm>
            <a:off x="822960" y="1755648"/>
            <a:ext cx="640080" cy="640080"/>
          </a:xfrm>
          <a:prstGeom prst="ellipse">
            <a:avLst/>
          </a:prstGeom>
          <a:solidFill>
            <a:srgbClr val="0E9594"/>
          </a:solidFill>
          <a:ln/>
        </p:spPr>
      </p:sp>
      <p:pic>
        <p:nvPicPr>
          <p:cNvPr id="6" name="Image 0" descr="icons/check_white.png"/>
          <p:cNvPicPr>
            <a:picLocks noChangeAspect="1"/>
          </p:cNvPicPr>
          <p:nvPr/>
        </p:nvPicPr>
        <p:blipFill>
          <a:blip r:embed="rId3"/>
          <a:stretch>
            <a:fillRect/>
          </a:stretch>
        </p:blipFill>
        <p:spPr>
          <a:xfrm>
            <a:off x="899770" y="1832458"/>
            <a:ext cx="486461" cy="486461"/>
          </a:xfrm>
          <a:prstGeom prst="rect">
            <a:avLst/>
          </a:prstGeom>
        </p:spPr>
      </p:pic>
      <p:sp>
        <p:nvSpPr>
          <p:cNvPr id="7" name="Text 4"/>
          <p:cNvSpPr/>
          <p:nvPr/>
        </p:nvSpPr>
        <p:spPr>
          <a:xfrm>
            <a:off x="1600200" y="1920240"/>
            <a:ext cx="4297680" cy="384048"/>
          </a:xfrm>
          <a:prstGeom prst="rect">
            <a:avLst/>
          </a:prstGeom>
          <a:noFill/>
          <a:ln/>
        </p:spPr>
        <p:txBody>
          <a:bodyPr wrap="square" lIns="0" tIns="0" rIns="0" bIns="0" rtlCol="0" anchor="ctr"/>
          <a:lstStyle/>
          <a:p>
            <a:pPr marL="0" indent="0">
              <a:buNone/>
            </a:pPr>
            <a:r>
              <a:rPr lang="en-US" sz="1900" b="1" dirty="0">
                <a:solidFill>
                  <a:srgbClr val="0B3D5C"/>
                </a:solidFill>
                <a:latin typeface="Times New Roman" pitchFamily="34" charset="0"/>
                <a:ea typeface="Times New Roman" pitchFamily="34" charset="-122"/>
                <a:cs typeface="Times New Roman" pitchFamily="34" charset="-120"/>
              </a:rPr>
              <a:t>Advantages</a:t>
            </a:r>
            <a:endParaRPr lang="en-US" sz="1900" dirty="0"/>
          </a:p>
        </p:txBody>
      </p:sp>
      <p:sp>
        <p:nvSpPr>
          <p:cNvPr id="8" name="Shape 5"/>
          <p:cNvSpPr/>
          <p:nvPr/>
        </p:nvSpPr>
        <p:spPr>
          <a:xfrm>
            <a:off x="822960" y="2834994"/>
            <a:ext cx="146304" cy="146304"/>
          </a:xfrm>
          <a:prstGeom prst="ellipse">
            <a:avLst/>
          </a:prstGeom>
          <a:solidFill>
            <a:srgbClr val="0E9594"/>
          </a:solidFill>
          <a:ln/>
        </p:spPr>
      </p:sp>
      <p:sp>
        <p:nvSpPr>
          <p:cNvPr id="9" name="Text 6"/>
          <p:cNvSpPr/>
          <p:nvPr/>
        </p:nvSpPr>
        <p:spPr>
          <a:xfrm>
            <a:off x="1097280" y="2734410"/>
            <a:ext cx="4709160" cy="502920"/>
          </a:xfrm>
          <a:prstGeom prst="rect">
            <a:avLst/>
          </a:prstGeom>
          <a:noFill/>
          <a:ln/>
        </p:spPr>
        <p:txBody>
          <a:bodyPr wrap="square" lIns="0" tIns="0" rIns="0" bIns="0" rtlCol="0" anchor="ctr"/>
          <a:lstStyle/>
          <a:p>
            <a:pPr marL="0" indent="0">
              <a:lnSpc>
                <a:spcPts val="1500"/>
              </a:lnSpc>
              <a:buNone/>
            </a:pPr>
            <a:r>
              <a:rPr lang="en-US" sz="1400" dirty="0">
                <a:solidFill>
                  <a:srgbClr val="1F2A37"/>
                </a:solidFill>
                <a:latin typeface="Times New Roman" pitchFamily="34" charset="0"/>
                <a:ea typeface="Times New Roman" pitchFamily="34" charset="-122"/>
                <a:cs typeface="Times New Roman" pitchFamily="34" charset="-120"/>
              </a:rPr>
              <a:t>Dynamic size — grows and shrinks with real bookings, no wasted memory.</a:t>
            </a:r>
            <a:endParaRPr lang="en-US" sz="1400" dirty="0"/>
          </a:p>
        </p:txBody>
      </p:sp>
      <p:sp>
        <p:nvSpPr>
          <p:cNvPr id="10" name="Shape 7"/>
          <p:cNvSpPr/>
          <p:nvPr/>
        </p:nvSpPr>
        <p:spPr>
          <a:xfrm>
            <a:off x="822960" y="3429354"/>
            <a:ext cx="146304" cy="146304"/>
          </a:xfrm>
          <a:prstGeom prst="ellipse">
            <a:avLst/>
          </a:prstGeom>
          <a:solidFill>
            <a:srgbClr val="0E9594"/>
          </a:solidFill>
          <a:ln/>
        </p:spPr>
      </p:sp>
      <p:sp>
        <p:nvSpPr>
          <p:cNvPr id="11" name="Text 8"/>
          <p:cNvSpPr/>
          <p:nvPr/>
        </p:nvSpPr>
        <p:spPr>
          <a:xfrm>
            <a:off x="1097280" y="3328770"/>
            <a:ext cx="4709160" cy="502920"/>
          </a:xfrm>
          <a:prstGeom prst="rect">
            <a:avLst/>
          </a:prstGeom>
          <a:noFill/>
          <a:ln/>
        </p:spPr>
        <p:txBody>
          <a:bodyPr wrap="square" lIns="0" tIns="0" rIns="0" bIns="0" rtlCol="0" anchor="ctr"/>
          <a:lstStyle/>
          <a:p>
            <a:pPr marL="0" indent="0">
              <a:lnSpc>
                <a:spcPts val="1500"/>
              </a:lnSpc>
              <a:buNone/>
            </a:pPr>
            <a:r>
              <a:rPr lang="en-US" sz="1400" dirty="0">
                <a:solidFill>
                  <a:srgbClr val="1F2A37"/>
                </a:solidFill>
                <a:latin typeface="Times New Roman" pitchFamily="34" charset="0"/>
                <a:ea typeface="Times New Roman" pitchFamily="34" charset="-122"/>
                <a:cs typeface="Times New Roman" pitchFamily="34" charset="-120"/>
              </a:rPr>
              <a:t>Efficient mid-list deletion — cancellation needs only pointer re-linking.</a:t>
            </a:r>
            <a:endParaRPr lang="en-US" sz="1400" dirty="0"/>
          </a:p>
        </p:txBody>
      </p:sp>
      <p:sp>
        <p:nvSpPr>
          <p:cNvPr id="12" name="Shape 9"/>
          <p:cNvSpPr/>
          <p:nvPr/>
        </p:nvSpPr>
        <p:spPr>
          <a:xfrm>
            <a:off x="822960" y="4023714"/>
            <a:ext cx="146304" cy="146304"/>
          </a:xfrm>
          <a:prstGeom prst="ellipse">
            <a:avLst/>
          </a:prstGeom>
          <a:solidFill>
            <a:srgbClr val="0E9594"/>
          </a:solidFill>
          <a:ln/>
        </p:spPr>
      </p:sp>
      <p:sp>
        <p:nvSpPr>
          <p:cNvPr id="13" name="Text 10"/>
          <p:cNvSpPr/>
          <p:nvPr/>
        </p:nvSpPr>
        <p:spPr>
          <a:xfrm>
            <a:off x="1097280" y="3923130"/>
            <a:ext cx="4709160" cy="502920"/>
          </a:xfrm>
          <a:prstGeom prst="rect">
            <a:avLst/>
          </a:prstGeom>
          <a:noFill/>
          <a:ln/>
        </p:spPr>
        <p:txBody>
          <a:bodyPr wrap="square" lIns="0" tIns="0" rIns="0" bIns="0" rtlCol="0" anchor="ctr"/>
          <a:lstStyle/>
          <a:p>
            <a:pPr marL="0" indent="0">
              <a:lnSpc>
                <a:spcPts val="1500"/>
              </a:lnSpc>
              <a:buNone/>
            </a:pPr>
            <a:r>
              <a:rPr lang="en-US" sz="1400" dirty="0">
                <a:solidFill>
                  <a:srgbClr val="1F2A37"/>
                </a:solidFill>
                <a:latin typeface="Times New Roman" pitchFamily="34" charset="0"/>
                <a:ea typeface="Times New Roman" pitchFamily="34" charset="-122"/>
                <a:cs typeface="Times New Roman" pitchFamily="34" charset="-120"/>
              </a:rPr>
              <a:t>No large-scale shifting of elements, unlike arrays.</a:t>
            </a:r>
            <a:endParaRPr lang="en-US" sz="1400" dirty="0"/>
          </a:p>
        </p:txBody>
      </p:sp>
      <p:sp>
        <p:nvSpPr>
          <p:cNvPr id="14" name="Shape 11"/>
          <p:cNvSpPr/>
          <p:nvPr/>
        </p:nvSpPr>
        <p:spPr>
          <a:xfrm>
            <a:off x="822960" y="4618074"/>
            <a:ext cx="146304" cy="146304"/>
          </a:xfrm>
          <a:prstGeom prst="ellipse">
            <a:avLst/>
          </a:prstGeom>
          <a:solidFill>
            <a:srgbClr val="0E9594"/>
          </a:solidFill>
          <a:ln/>
        </p:spPr>
      </p:sp>
      <p:sp>
        <p:nvSpPr>
          <p:cNvPr id="15" name="Text 12"/>
          <p:cNvSpPr/>
          <p:nvPr/>
        </p:nvSpPr>
        <p:spPr>
          <a:xfrm>
            <a:off x="1097280" y="4517490"/>
            <a:ext cx="4709160" cy="502920"/>
          </a:xfrm>
          <a:prstGeom prst="rect">
            <a:avLst/>
          </a:prstGeom>
          <a:noFill/>
          <a:ln/>
        </p:spPr>
        <p:txBody>
          <a:bodyPr wrap="square" lIns="0" tIns="0" rIns="0" bIns="0" rtlCol="0" anchor="ctr"/>
          <a:lstStyle/>
          <a:p>
            <a:pPr marL="0" indent="0">
              <a:lnSpc>
                <a:spcPts val="1500"/>
              </a:lnSpc>
              <a:buNone/>
            </a:pPr>
            <a:r>
              <a:rPr lang="en-US" sz="1400" dirty="0">
                <a:solidFill>
                  <a:srgbClr val="1F2A37"/>
                </a:solidFill>
                <a:latin typeface="Times New Roman" pitchFamily="34" charset="0"/>
                <a:ea typeface="Times New Roman" pitchFamily="34" charset="-122"/>
                <a:cs typeface="Times New Roman" pitchFamily="34" charset="-120"/>
              </a:rPr>
              <a:t>Natural fit for sequential rank-based ordering (WL1, WL2, WL3…).</a:t>
            </a:r>
            <a:endParaRPr lang="en-US" sz="1400" dirty="0"/>
          </a:p>
        </p:txBody>
      </p:sp>
      <p:sp>
        <p:nvSpPr>
          <p:cNvPr id="16" name="Shape 13"/>
          <p:cNvSpPr/>
          <p:nvPr/>
        </p:nvSpPr>
        <p:spPr>
          <a:xfrm>
            <a:off x="822960" y="5212434"/>
            <a:ext cx="146304" cy="146304"/>
          </a:xfrm>
          <a:prstGeom prst="ellipse">
            <a:avLst/>
          </a:prstGeom>
          <a:solidFill>
            <a:srgbClr val="0E9594"/>
          </a:solidFill>
          <a:ln/>
        </p:spPr>
      </p:sp>
      <p:sp>
        <p:nvSpPr>
          <p:cNvPr id="17" name="Text 14"/>
          <p:cNvSpPr/>
          <p:nvPr/>
        </p:nvSpPr>
        <p:spPr>
          <a:xfrm>
            <a:off x="1097280" y="5111850"/>
            <a:ext cx="4709160" cy="502920"/>
          </a:xfrm>
          <a:prstGeom prst="rect">
            <a:avLst/>
          </a:prstGeom>
          <a:noFill/>
          <a:ln/>
        </p:spPr>
        <p:txBody>
          <a:bodyPr wrap="square" lIns="0" tIns="0" rIns="0" bIns="0" rtlCol="0" anchor="ctr"/>
          <a:lstStyle/>
          <a:p>
            <a:pPr marL="0" indent="0">
              <a:lnSpc>
                <a:spcPts val="1500"/>
              </a:lnSpc>
              <a:buNone/>
            </a:pPr>
            <a:r>
              <a:rPr lang="en-US" sz="1400" dirty="0">
                <a:solidFill>
                  <a:srgbClr val="1F2A37"/>
                </a:solidFill>
                <a:latin typeface="Times New Roman" pitchFamily="34" charset="0"/>
                <a:ea typeface="Times New Roman" pitchFamily="34" charset="-122"/>
                <a:cs typeface="Times New Roman" pitchFamily="34" charset="-120"/>
              </a:rPr>
              <a:t>Easily extendable to a doubly linked list for backward traversal.</a:t>
            </a:r>
            <a:endParaRPr lang="en-US" sz="1400" dirty="0"/>
          </a:p>
        </p:txBody>
      </p:sp>
      <p:sp>
        <p:nvSpPr>
          <p:cNvPr id="18" name="Shape 15"/>
          <p:cNvSpPr/>
          <p:nvPr/>
        </p:nvSpPr>
        <p:spPr>
          <a:xfrm>
            <a:off x="6217920" y="1554480"/>
            <a:ext cx="5422392" cy="4572000"/>
          </a:xfrm>
          <a:prstGeom prst="roundRect">
            <a:avLst>
              <a:gd name="adj" fmla="val 2400"/>
            </a:avLst>
          </a:prstGeom>
          <a:solidFill>
            <a:srgbClr val="F7E7E7"/>
          </a:solidFill>
          <a:ln/>
        </p:spPr>
      </p:sp>
      <p:sp>
        <p:nvSpPr>
          <p:cNvPr id="19" name="Shape 16"/>
          <p:cNvSpPr/>
          <p:nvPr/>
        </p:nvSpPr>
        <p:spPr>
          <a:xfrm>
            <a:off x="6492240" y="1755648"/>
            <a:ext cx="640080" cy="640080"/>
          </a:xfrm>
          <a:prstGeom prst="ellipse">
            <a:avLst/>
          </a:prstGeom>
          <a:solidFill>
            <a:srgbClr val="A94442"/>
          </a:solidFill>
          <a:ln/>
        </p:spPr>
      </p:sp>
      <p:pic>
        <p:nvPicPr>
          <p:cNvPr id="20" name="Image 1" descr="icons/cross_white.png"/>
          <p:cNvPicPr>
            <a:picLocks noChangeAspect="1"/>
          </p:cNvPicPr>
          <p:nvPr/>
        </p:nvPicPr>
        <p:blipFill>
          <a:blip r:embed="rId4"/>
          <a:stretch>
            <a:fillRect/>
          </a:stretch>
        </p:blipFill>
        <p:spPr>
          <a:xfrm>
            <a:off x="6569050" y="1832458"/>
            <a:ext cx="486461" cy="486461"/>
          </a:xfrm>
          <a:prstGeom prst="rect">
            <a:avLst/>
          </a:prstGeom>
        </p:spPr>
      </p:pic>
      <p:sp>
        <p:nvSpPr>
          <p:cNvPr id="21" name="Text 17"/>
          <p:cNvSpPr/>
          <p:nvPr/>
        </p:nvSpPr>
        <p:spPr>
          <a:xfrm>
            <a:off x="7269480" y="1920240"/>
            <a:ext cx="4297680" cy="384048"/>
          </a:xfrm>
          <a:prstGeom prst="rect">
            <a:avLst/>
          </a:prstGeom>
          <a:noFill/>
          <a:ln/>
        </p:spPr>
        <p:txBody>
          <a:bodyPr wrap="square" lIns="0" tIns="0" rIns="0" bIns="0" rtlCol="0" anchor="ctr"/>
          <a:lstStyle/>
          <a:p>
            <a:pPr marL="0" indent="0">
              <a:buNone/>
            </a:pPr>
            <a:r>
              <a:rPr lang="en-US" sz="1900" b="1" dirty="0">
                <a:solidFill>
                  <a:srgbClr val="0B3D5C"/>
                </a:solidFill>
                <a:latin typeface="Times New Roman" pitchFamily="34" charset="0"/>
                <a:ea typeface="Times New Roman" pitchFamily="34" charset="-122"/>
                <a:cs typeface="Times New Roman" pitchFamily="34" charset="-120"/>
              </a:rPr>
              <a:t>Limitations</a:t>
            </a:r>
            <a:endParaRPr lang="en-US" sz="1900" dirty="0"/>
          </a:p>
        </p:txBody>
      </p:sp>
      <p:sp>
        <p:nvSpPr>
          <p:cNvPr id="22" name="Shape 18"/>
          <p:cNvSpPr/>
          <p:nvPr/>
        </p:nvSpPr>
        <p:spPr>
          <a:xfrm>
            <a:off x="6492240" y="2834994"/>
            <a:ext cx="146304" cy="146304"/>
          </a:xfrm>
          <a:prstGeom prst="ellipse">
            <a:avLst/>
          </a:prstGeom>
          <a:solidFill>
            <a:srgbClr val="A94442"/>
          </a:solidFill>
          <a:ln/>
        </p:spPr>
      </p:sp>
      <p:sp>
        <p:nvSpPr>
          <p:cNvPr id="23" name="Text 19"/>
          <p:cNvSpPr/>
          <p:nvPr/>
        </p:nvSpPr>
        <p:spPr>
          <a:xfrm>
            <a:off x="6766560" y="2734410"/>
            <a:ext cx="4663440" cy="502920"/>
          </a:xfrm>
          <a:prstGeom prst="rect">
            <a:avLst/>
          </a:prstGeom>
          <a:noFill/>
          <a:ln/>
        </p:spPr>
        <p:txBody>
          <a:bodyPr wrap="square" lIns="0" tIns="0" rIns="0" bIns="0" rtlCol="0" anchor="ctr"/>
          <a:lstStyle/>
          <a:p>
            <a:pPr marL="0" indent="0">
              <a:lnSpc>
                <a:spcPts val="1500"/>
              </a:lnSpc>
              <a:buNone/>
            </a:pPr>
            <a:r>
              <a:rPr lang="en-US" sz="1400" dirty="0">
                <a:solidFill>
                  <a:srgbClr val="1F2A37"/>
                </a:solidFill>
                <a:latin typeface="Times New Roman" pitchFamily="34" charset="0"/>
                <a:ea typeface="Times New Roman" pitchFamily="34" charset="-122"/>
                <a:cs typeface="Times New Roman" pitchFamily="34" charset="-120"/>
              </a:rPr>
              <a:t>No random access — reaching the k-th passenger needs O(n) traversal.</a:t>
            </a:r>
            <a:endParaRPr lang="en-US" sz="1400" dirty="0"/>
          </a:p>
        </p:txBody>
      </p:sp>
      <p:sp>
        <p:nvSpPr>
          <p:cNvPr id="24" name="Shape 20"/>
          <p:cNvSpPr/>
          <p:nvPr/>
        </p:nvSpPr>
        <p:spPr>
          <a:xfrm>
            <a:off x="6492240" y="3429354"/>
            <a:ext cx="146304" cy="146304"/>
          </a:xfrm>
          <a:prstGeom prst="ellipse">
            <a:avLst/>
          </a:prstGeom>
          <a:solidFill>
            <a:srgbClr val="A94442"/>
          </a:solidFill>
          <a:ln/>
        </p:spPr>
      </p:sp>
      <p:sp>
        <p:nvSpPr>
          <p:cNvPr id="25" name="Text 21"/>
          <p:cNvSpPr/>
          <p:nvPr/>
        </p:nvSpPr>
        <p:spPr>
          <a:xfrm>
            <a:off x="6766560" y="3328770"/>
            <a:ext cx="4663440" cy="502920"/>
          </a:xfrm>
          <a:prstGeom prst="rect">
            <a:avLst/>
          </a:prstGeom>
          <a:noFill/>
          <a:ln/>
        </p:spPr>
        <p:txBody>
          <a:bodyPr wrap="square" lIns="0" tIns="0" rIns="0" bIns="0" rtlCol="0" anchor="ctr"/>
          <a:lstStyle/>
          <a:p>
            <a:pPr marL="0" indent="0">
              <a:lnSpc>
                <a:spcPts val="1500"/>
              </a:lnSpc>
              <a:buNone/>
            </a:pPr>
            <a:r>
              <a:rPr lang="en-US" sz="1400" dirty="0">
                <a:solidFill>
                  <a:srgbClr val="1F2A37"/>
                </a:solidFill>
                <a:latin typeface="Times New Roman" pitchFamily="34" charset="0"/>
                <a:ea typeface="Times New Roman" pitchFamily="34" charset="-122"/>
                <a:cs typeface="Times New Roman" pitchFamily="34" charset="-120"/>
              </a:rPr>
              <a:t>Extra memory per node for storing the pointer field.</a:t>
            </a:r>
            <a:endParaRPr lang="en-US" sz="1400" dirty="0"/>
          </a:p>
        </p:txBody>
      </p:sp>
      <p:sp>
        <p:nvSpPr>
          <p:cNvPr id="26" name="Shape 22"/>
          <p:cNvSpPr/>
          <p:nvPr/>
        </p:nvSpPr>
        <p:spPr>
          <a:xfrm>
            <a:off x="6492240" y="4023714"/>
            <a:ext cx="146304" cy="146304"/>
          </a:xfrm>
          <a:prstGeom prst="ellipse">
            <a:avLst/>
          </a:prstGeom>
          <a:solidFill>
            <a:srgbClr val="A94442"/>
          </a:solidFill>
          <a:ln/>
        </p:spPr>
      </p:sp>
      <p:sp>
        <p:nvSpPr>
          <p:cNvPr id="27" name="Text 23"/>
          <p:cNvSpPr/>
          <p:nvPr/>
        </p:nvSpPr>
        <p:spPr>
          <a:xfrm>
            <a:off x="6766560" y="3923130"/>
            <a:ext cx="4663440" cy="502920"/>
          </a:xfrm>
          <a:prstGeom prst="rect">
            <a:avLst/>
          </a:prstGeom>
          <a:noFill/>
          <a:ln/>
        </p:spPr>
        <p:txBody>
          <a:bodyPr wrap="square" lIns="0" tIns="0" rIns="0" bIns="0" rtlCol="0" anchor="ctr"/>
          <a:lstStyle/>
          <a:p>
            <a:pPr marL="0" indent="0">
              <a:lnSpc>
                <a:spcPts val="1500"/>
              </a:lnSpc>
              <a:buNone/>
            </a:pPr>
            <a:r>
              <a:rPr lang="en-US" sz="1400" dirty="0">
                <a:solidFill>
                  <a:srgbClr val="1F2A37"/>
                </a:solidFill>
                <a:latin typeface="Times New Roman" pitchFamily="34" charset="0"/>
                <a:ea typeface="Times New Roman" pitchFamily="34" charset="-122"/>
                <a:cs typeface="Times New Roman" pitchFamily="34" charset="-120"/>
              </a:rPr>
              <a:t>Search and update remain O(n) in the worst case.</a:t>
            </a:r>
            <a:endParaRPr lang="en-US" sz="1400" dirty="0"/>
          </a:p>
        </p:txBody>
      </p:sp>
      <p:sp>
        <p:nvSpPr>
          <p:cNvPr id="28" name="Shape 24"/>
          <p:cNvSpPr/>
          <p:nvPr/>
        </p:nvSpPr>
        <p:spPr>
          <a:xfrm>
            <a:off x="6492240" y="4618074"/>
            <a:ext cx="146304" cy="146304"/>
          </a:xfrm>
          <a:prstGeom prst="ellipse">
            <a:avLst/>
          </a:prstGeom>
          <a:solidFill>
            <a:srgbClr val="A94442"/>
          </a:solidFill>
          <a:ln/>
        </p:spPr>
      </p:sp>
      <p:sp>
        <p:nvSpPr>
          <p:cNvPr id="29" name="Text 25"/>
          <p:cNvSpPr/>
          <p:nvPr/>
        </p:nvSpPr>
        <p:spPr>
          <a:xfrm>
            <a:off x="6766560" y="4517490"/>
            <a:ext cx="4663440" cy="502920"/>
          </a:xfrm>
          <a:prstGeom prst="rect">
            <a:avLst/>
          </a:prstGeom>
          <a:noFill/>
          <a:ln/>
        </p:spPr>
        <p:txBody>
          <a:bodyPr wrap="square" lIns="0" tIns="0" rIns="0" bIns="0" rtlCol="0" anchor="ctr"/>
          <a:lstStyle/>
          <a:p>
            <a:pPr marL="0" indent="0">
              <a:lnSpc>
                <a:spcPts val="1500"/>
              </a:lnSpc>
              <a:buNone/>
            </a:pPr>
            <a:r>
              <a:rPr lang="en-US" sz="1400" dirty="0">
                <a:solidFill>
                  <a:srgbClr val="1F2A37"/>
                </a:solidFill>
                <a:latin typeface="Times New Roman" pitchFamily="34" charset="0"/>
                <a:ea typeface="Times New Roman" pitchFamily="34" charset="-122"/>
                <a:cs typeface="Times New Roman" pitchFamily="34" charset="-120"/>
              </a:rPr>
              <a:t>Cache performance is weaker than arrays due to non-contiguous memory.</a:t>
            </a:r>
            <a:endParaRPr lang="en-US" sz="1400" dirty="0"/>
          </a:p>
        </p:txBody>
      </p:sp>
      <p:sp>
        <p:nvSpPr>
          <p:cNvPr id="30" name="Shape 26"/>
          <p:cNvSpPr/>
          <p:nvPr/>
        </p:nvSpPr>
        <p:spPr>
          <a:xfrm>
            <a:off x="6492240" y="5212434"/>
            <a:ext cx="146304" cy="146304"/>
          </a:xfrm>
          <a:prstGeom prst="ellipse">
            <a:avLst/>
          </a:prstGeom>
          <a:solidFill>
            <a:srgbClr val="A94442"/>
          </a:solidFill>
          <a:ln/>
        </p:spPr>
      </p:sp>
      <p:sp>
        <p:nvSpPr>
          <p:cNvPr id="31" name="Text 27"/>
          <p:cNvSpPr/>
          <p:nvPr/>
        </p:nvSpPr>
        <p:spPr>
          <a:xfrm>
            <a:off x="6766560" y="5111850"/>
            <a:ext cx="4663440" cy="502920"/>
          </a:xfrm>
          <a:prstGeom prst="rect">
            <a:avLst/>
          </a:prstGeom>
          <a:noFill/>
          <a:ln/>
        </p:spPr>
        <p:txBody>
          <a:bodyPr wrap="square" lIns="0" tIns="0" rIns="0" bIns="0" rtlCol="0" anchor="ctr"/>
          <a:lstStyle/>
          <a:p>
            <a:pPr marL="0" indent="0">
              <a:lnSpc>
                <a:spcPts val="1500"/>
              </a:lnSpc>
              <a:buNone/>
            </a:pPr>
            <a:r>
              <a:rPr lang="en-US" sz="1400" dirty="0">
                <a:solidFill>
                  <a:srgbClr val="1F2A37"/>
                </a:solidFill>
                <a:latin typeface="Times New Roman" pitchFamily="34" charset="0"/>
                <a:ea typeface="Times New Roman" pitchFamily="34" charset="-122"/>
                <a:cs typeface="Times New Roman" pitchFamily="34" charset="-120"/>
              </a:rPr>
              <a:t>Slightly more complex to implement and debug than a plain array.</a:t>
            </a:r>
            <a:endParaRPr lang="en-US" sz="1400" dirty="0"/>
          </a:p>
        </p:txBody>
      </p:sp>
      <p:pic>
        <p:nvPicPr>
          <p:cNvPr id="32" name="Image 2" descr="assets/simats_logo.png"/>
          <p:cNvPicPr>
            <a:picLocks noChangeAspect="1"/>
          </p:cNvPicPr>
          <p:nvPr/>
        </p:nvPicPr>
        <p:blipFill>
          <a:blip r:embed="rId5"/>
          <a:stretch>
            <a:fillRect/>
          </a:stretch>
        </p:blipFill>
        <p:spPr>
          <a:xfrm>
            <a:off x="10680192" y="292608"/>
            <a:ext cx="1051560" cy="269932"/>
          </a:xfrm>
          <a:prstGeom prst="rect">
            <a:avLst/>
          </a:prstGeom>
        </p:spPr>
      </p:pic>
      <p:sp>
        <p:nvSpPr>
          <p:cNvPr id="36" name="Text 39">
            <a:extLst>
              <a:ext uri="{FF2B5EF4-FFF2-40B4-BE49-F238E27FC236}">
                <a16:creationId xmlns:a16="http://schemas.microsoft.com/office/drawing/2014/main" id="{88927B98-DD06-5D92-0945-F6F19DC0E20A}"/>
              </a:ext>
            </a:extLst>
          </p:cNvPr>
          <p:cNvSpPr/>
          <p:nvPr/>
        </p:nvSpPr>
        <p:spPr>
          <a:xfrm>
            <a:off x="502920" y="6419973"/>
            <a:ext cx="7772400" cy="274320"/>
          </a:xfrm>
          <a:prstGeom prst="rect">
            <a:avLst/>
          </a:prstGeom>
          <a:noFill/>
          <a:ln/>
        </p:spPr>
        <p:txBody>
          <a:bodyPr wrap="square" lIns="0" tIns="0" rIns="0" bIns="0" rtlCol="0" anchor="ctr"/>
          <a:lstStyle/>
          <a:p>
            <a:pPr marL="0" indent="0" algn="l">
              <a:buNone/>
            </a:pPr>
            <a:r>
              <a:rPr lang="en-US" sz="1200" dirty="0">
                <a:solidFill>
                  <a:srgbClr val="5B6B79"/>
                </a:solidFill>
                <a:latin typeface="Times New Roman" pitchFamily="34" charset="0"/>
                <a:ea typeface="Times New Roman" pitchFamily="34" charset="-122"/>
                <a:cs typeface="Times New Roman" pitchFamily="34" charset="-120"/>
              </a:rPr>
              <a:t>CSA0306 | CO1 – AT3 | Variganji Sumanth Babu | Reg No: 192524447</a:t>
            </a:r>
            <a:endParaRPr lang="en-US" sz="1200" dirty="0"/>
          </a:p>
        </p:txBody>
      </p:sp>
      <p:sp>
        <p:nvSpPr>
          <p:cNvPr id="38" name="Text 40">
            <a:extLst>
              <a:ext uri="{FF2B5EF4-FFF2-40B4-BE49-F238E27FC236}">
                <a16:creationId xmlns:a16="http://schemas.microsoft.com/office/drawing/2014/main" id="{EA293EE6-9763-43D2-5B68-7EBD255C5EEC}"/>
              </a:ext>
            </a:extLst>
          </p:cNvPr>
          <p:cNvSpPr/>
          <p:nvPr/>
        </p:nvSpPr>
        <p:spPr>
          <a:xfrm>
            <a:off x="10680192" y="6419973"/>
            <a:ext cx="1097280" cy="274320"/>
          </a:xfrm>
          <a:prstGeom prst="rect">
            <a:avLst/>
          </a:prstGeom>
          <a:noFill/>
          <a:ln/>
        </p:spPr>
        <p:txBody>
          <a:bodyPr wrap="square" lIns="0" tIns="0" rIns="0" bIns="0" rtlCol="0" anchor="ctr"/>
          <a:lstStyle/>
          <a:p>
            <a:pPr marL="0" indent="0" algn="r">
              <a:buNone/>
            </a:pPr>
            <a:r>
              <a:rPr lang="en-US" sz="1200" dirty="0">
                <a:solidFill>
                  <a:srgbClr val="5B6B79"/>
                </a:solidFill>
                <a:latin typeface="Times New Roman" pitchFamily="34" charset="0"/>
                <a:ea typeface="Times New Roman" pitchFamily="34" charset="-122"/>
                <a:cs typeface="Times New Roman" pitchFamily="34" charset="-120"/>
              </a:rPr>
              <a:t>Slide 8 of 11</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marL="0" indent="0">
              <a:buNone/>
            </a:pPr>
            <a:r>
              <a:rPr lang="en-US" sz="1400" b="1" kern="0" spc="200" dirty="0">
                <a:solidFill>
                  <a:srgbClr val="0E9594"/>
                </a:solidFill>
                <a:latin typeface="Times New Roman" pitchFamily="34" charset="0"/>
                <a:ea typeface="Times New Roman" pitchFamily="34" charset="-122"/>
                <a:cs typeface="Times New Roman" pitchFamily="34" charset="-120"/>
              </a:rPr>
              <a:t>REAL-WORLD APPLICATIONS</a:t>
            </a:r>
            <a:endParaRPr lang="en-US" sz="1400" dirty="0"/>
          </a:p>
        </p:txBody>
      </p:sp>
      <p:sp>
        <p:nvSpPr>
          <p:cNvPr id="3" name="Text 1"/>
          <p:cNvSpPr/>
          <p:nvPr/>
        </p:nvSpPr>
        <p:spPr>
          <a:xfrm>
            <a:off x="548640" y="658368"/>
            <a:ext cx="9464040" cy="640080"/>
          </a:xfrm>
          <a:prstGeom prst="rect">
            <a:avLst/>
          </a:prstGeom>
          <a:noFill/>
          <a:ln/>
        </p:spPr>
        <p:txBody>
          <a:bodyPr wrap="square" lIns="0" tIns="0" rIns="0" bIns="0" rtlCol="0" anchor="ctr"/>
          <a:lstStyle/>
          <a:p>
            <a:pPr marL="0" indent="0">
              <a:buNone/>
            </a:pPr>
            <a:r>
              <a:rPr lang="en-US" sz="3000" b="1" dirty="0">
                <a:solidFill>
                  <a:srgbClr val="0B3D5C"/>
                </a:solidFill>
                <a:latin typeface="Times New Roman" pitchFamily="34" charset="0"/>
                <a:ea typeface="Times New Roman" pitchFamily="34" charset="-122"/>
                <a:cs typeface="Times New Roman" pitchFamily="34" charset="-120"/>
              </a:rPr>
              <a:t>Where This Pattern Is Used</a:t>
            </a:r>
            <a:endParaRPr lang="en-US" sz="3000" dirty="0"/>
          </a:p>
        </p:txBody>
      </p:sp>
      <p:sp>
        <p:nvSpPr>
          <p:cNvPr id="4" name="Shape 2"/>
          <p:cNvSpPr/>
          <p:nvPr/>
        </p:nvSpPr>
        <p:spPr>
          <a:xfrm>
            <a:off x="548640" y="1600200"/>
            <a:ext cx="5440680" cy="2057400"/>
          </a:xfrm>
          <a:prstGeom prst="roundRect">
            <a:avLst>
              <a:gd name="adj" fmla="val 5333"/>
            </a:avLst>
          </a:prstGeom>
          <a:solidFill>
            <a:srgbClr val="EAF3FB"/>
          </a:solidFill>
          <a:ln/>
        </p:spPr>
      </p:sp>
      <p:sp>
        <p:nvSpPr>
          <p:cNvPr id="5" name="Shape 3"/>
          <p:cNvSpPr/>
          <p:nvPr/>
        </p:nvSpPr>
        <p:spPr>
          <a:xfrm>
            <a:off x="822960" y="1856232"/>
            <a:ext cx="841248" cy="841248"/>
          </a:xfrm>
          <a:prstGeom prst="ellipse">
            <a:avLst/>
          </a:prstGeom>
          <a:solidFill>
            <a:srgbClr val="0B5FA5"/>
          </a:solidFill>
          <a:ln/>
        </p:spPr>
      </p:sp>
      <p:pic>
        <p:nvPicPr>
          <p:cNvPr id="6" name="Image 0" descr="icons/train_white.png"/>
          <p:cNvPicPr>
            <a:picLocks noChangeAspect="1"/>
          </p:cNvPicPr>
          <p:nvPr/>
        </p:nvPicPr>
        <p:blipFill>
          <a:blip r:embed="rId3"/>
          <a:stretch>
            <a:fillRect/>
          </a:stretch>
        </p:blipFill>
        <p:spPr>
          <a:xfrm>
            <a:off x="923910" y="1957182"/>
            <a:ext cx="639348" cy="639348"/>
          </a:xfrm>
          <a:prstGeom prst="rect">
            <a:avLst/>
          </a:prstGeom>
        </p:spPr>
      </p:pic>
      <p:sp>
        <p:nvSpPr>
          <p:cNvPr id="7" name="Text 4"/>
          <p:cNvSpPr/>
          <p:nvPr/>
        </p:nvSpPr>
        <p:spPr>
          <a:xfrm>
            <a:off x="1874520" y="1892808"/>
            <a:ext cx="3886200" cy="457200"/>
          </a:xfrm>
          <a:prstGeom prst="rect">
            <a:avLst/>
          </a:prstGeom>
          <a:noFill/>
          <a:ln/>
        </p:spPr>
        <p:txBody>
          <a:bodyPr wrap="square" lIns="0" tIns="0" rIns="0" bIns="0" rtlCol="0" anchor="ctr"/>
          <a:lstStyle/>
          <a:p>
            <a:pPr marL="0" indent="0">
              <a:buNone/>
            </a:pPr>
            <a:r>
              <a:rPr lang="en-US" sz="1600" b="1" dirty="0">
                <a:solidFill>
                  <a:srgbClr val="0B3D5C"/>
                </a:solidFill>
                <a:latin typeface="Times New Roman" pitchFamily="34" charset="0"/>
                <a:ea typeface="Times New Roman" pitchFamily="34" charset="-122"/>
                <a:cs typeface="Times New Roman" pitchFamily="34" charset="-120"/>
              </a:rPr>
              <a:t>Railway Reservation Systems</a:t>
            </a:r>
            <a:endParaRPr lang="en-US" sz="1600" dirty="0"/>
          </a:p>
        </p:txBody>
      </p:sp>
      <p:sp>
        <p:nvSpPr>
          <p:cNvPr id="8" name="Text 5"/>
          <p:cNvSpPr/>
          <p:nvPr/>
        </p:nvSpPr>
        <p:spPr>
          <a:xfrm>
            <a:off x="1874520" y="2377440"/>
            <a:ext cx="3886200" cy="1097280"/>
          </a:xfrm>
          <a:prstGeom prst="rect">
            <a:avLst/>
          </a:prstGeom>
          <a:noFill/>
          <a:ln/>
        </p:spPr>
        <p:txBody>
          <a:bodyPr wrap="square" lIns="0" tIns="0" rIns="0" bIns="0" rtlCol="0" anchor="ctr"/>
          <a:lstStyle/>
          <a:p>
            <a:pPr marL="0" indent="0">
              <a:lnSpc>
                <a:spcPts val="1600"/>
              </a:lnSpc>
              <a:buNone/>
            </a:pPr>
            <a:r>
              <a:rPr lang="en-US" sz="1400" dirty="0">
                <a:solidFill>
                  <a:srgbClr val="1F2A37"/>
                </a:solidFill>
                <a:latin typeface="Times New Roman" pitchFamily="34" charset="0"/>
                <a:ea typeface="Times New Roman" pitchFamily="34" charset="-122"/>
                <a:cs typeface="Times New Roman" pitchFamily="34" charset="-120"/>
              </a:rPr>
              <a:t>Managing WL/RAC passenger positions as seats are confirmed or cancelled.</a:t>
            </a:r>
            <a:endParaRPr lang="en-US" sz="1400" dirty="0"/>
          </a:p>
        </p:txBody>
      </p:sp>
      <p:sp>
        <p:nvSpPr>
          <p:cNvPr id="9" name="Shape 6"/>
          <p:cNvSpPr/>
          <p:nvPr/>
        </p:nvSpPr>
        <p:spPr>
          <a:xfrm>
            <a:off x="6263640" y="1600200"/>
            <a:ext cx="5440680" cy="2057400"/>
          </a:xfrm>
          <a:prstGeom prst="roundRect">
            <a:avLst>
              <a:gd name="adj" fmla="val 5333"/>
            </a:avLst>
          </a:prstGeom>
          <a:solidFill>
            <a:srgbClr val="E6F7F6"/>
          </a:solidFill>
          <a:ln/>
        </p:spPr>
      </p:sp>
      <p:sp>
        <p:nvSpPr>
          <p:cNvPr id="10" name="Shape 7"/>
          <p:cNvSpPr/>
          <p:nvPr/>
        </p:nvSpPr>
        <p:spPr>
          <a:xfrm>
            <a:off x="6537960" y="1856232"/>
            <a:ext cx="841248" cy="841248"/>
          </a:xfrm>
          <a:prstGeom prst="ellipse">
            <a:avLst/>
          </a:prstGeom>
          <a:solidFill>
            <a:srgbClr val="0E9594"/>
          </a:solidFill>
          <a:ln/>
        </p:spPr>
      </p:sp>
      <p:pic>
        <p:nvPicPr>
          <p:cNvPr id="11" name="Image 1" descr="icons/hospital_white.png"/>
          <p:cNvPicPr>
            <a:picLocks noChangeAspect="1"/>
          </p:cNvPicPr>
          <p:nvPr/>
        </p:nvPicPr>
        <p:blipFill>
          <a:blip r:embed="rId4"/>
          <a:stretch>
            <a:fillRect/>
          </a:stretch>
        </p:blipFill>
        <p:spPr>
          <a:xfrm>
            <a:off x="6638910" y="1957182"/>
            <a:ext cx="639348" cy="639348"/>
          </a:xfrm>
          <a:prstGeom prst="rect">
            <a:avLst/>
          </a:prstGeom>
        </p:spPr>
      </p:pic>
      <p:sp>
        <p:nvSpPr>
          <p:cNvPr id="12" name="Text 8"/>
          <p:cNvSpPr/>
          <p:nvPr/>
        </p:nvSpPr>
        <p:spPr>
          <a:xfrm>
            <a:off x="7589520" y="1892808"/>
            <a:ext cx="3886200" cy="457200"/>
          </a:xfrm>
          <a:prstGeom prst="rect">
            <a:avLst/>
          </a:prstGeom>
          <a:noFill/>
          <a:ln/>
        </p:spPr>
        <p:txBody>
          <a:bodyPr wrap="square" lIns="0" tIns="0" rIns="0" bIns="0" rtlCol="0" anchor="ctr"/>
          <a:lstStyle/>
          <a:p>
            <a:pPr marL="0" indent="0">
              <a:buNone/>
            </a:pPr>
            <a:r>
              <a:rPr lang="en-US" sz="1600" b="1" dirty="0">
                <a:solidFill>
                  <a:srgbClr val="0B3D5C"/>
                </a:solidFill>
                <a:latin typeface="Times New Roman" pitchFamily="34" charset="0"/>
                <a:ea typeface="Times New Roman" pitchFamily="34" charset="-122"/>
                <a:cs typeface="Times New Roman" pitchFamily="34" charset="-120"/>
              </a:rPr>
              <a:t>Hospital Waiting Lists</a:t>
            </a:r>
            <a:endParaRPr lang="en-US" sz="1600" dirty="0"/>
          </a:p>
        </p:txBody>
      </p:sp>
      <p:sp>
        <p:nvSpPr>
          <p:cNvPr id="13" name="Text 9"/>
          <p:cNvSpPr/>
          <p:nvPr/>
        </p:nvSpPr>
        <p:spPr>
          <a:xfrm>
            <a:off x="7589520" y="2377440"/>
            <a:ext cx="3886200" cy="1097280"/>
          </a:xfrm>
          <a:prstGeom prst="rect">
            <a:avLst/>
          </a:prstGeom>
          <a:noFill/>
          <a:ln/>
        </p:spPr>
        <p:txBody>
          <a:bodyPr wrap="square" lIns="0" tIns="0" rIns="0" bIns="0" rtlCol="0" anchor="ctr"/>
          <a:lstStyle/>
          <a:p>
            <a:pPr marL="0" indent="0">
              <a:lnSpc>
                <a:spcPts val="1600"/>
              </a:lnSpc>
              <a:buNone/>
            </a:pPr>
            <a:r>
              <a:rPr lang="en-US" sz="1400" dirty="0">
                <a:solidFill>
                  <a:srgbClr val="1F2A37"/>
                </a:solidFill>
                <a:latin typeface="Times New Roman" pitchFamily="34" charset="0"/>
                <a:ea typeface="Times New Roman" pitchFamily="34" charset="-122"/>
                <a:cs typeface="Times New Roman" pitchFamily="34" charset="-120"/>
              </a:rPr>
              <a:t>Ordering patients for beds or procedures as availability changes.</a:t>
            </a:r>
            <a:endParaRPr lang="en-US" sz="1400" dirty="0"/>
          </a:p>
        </p:txBody>
      </p:sp>
      <p:sp>
        <p:nvSpPr>
          <p:cNvPr id="14" name="Shape 10"/>
          <p:cNvSpPr/>
          <p:nvPr/>
        </p:nvSpPr>
        <p:spPr>
          <a:xfrm>
            <a:off x="548640" y="3931920"/>
            <a:ext cx="5440680" cy="2057400"/>
          </a:xfrm>
          <a:prstGeom prst="roundRect">
            <a:avLst>
              <a:gd name="adj" fmla="val 5333"/>
            </a:avLst>
          </a:prstGeom>
          <a:solidFill>
            <a:srgbClr val="EAF3FB"/>
          </a:solidFill>
          <a:ln/>
        </p:spPr>
      </p:sp>
      <p:sp>
        <p:nvSpPr>
          <p:cNvPr id="15" name="Shape 11"/>
          <p:cNvSpPr/>
          <p:nvPr/>
        </p:nvSpPr>
        <p:spPr>
          <a:xfrm>
            <a:off x="822960" y="4187952"/>
            <a:ext cx="841248" cy="841248"/>
          </a:xfrm>
          <a:prstGeom prst="ellipse">
            <a:avLst/>
          </a:prstGeom>
          <a:solidFill>
            <a:srgbClr val="0B5FA5"/>
          </a:solidFill>
          <a:ln/>
        </p:spPr>
      </p:sp>
      <p:pic>
        <p:nvPicPr>
          <p:cNvPr id="16" name="Image 2" descr="icons/headset_white.png"/>
          <p:cNvPicPr>
            <a:picLocks noChangeAspect="1"/>
          </p:cNvPicPr>
          <p:nvPr/>
        </p:nvPicPr>
        <p:blipFill>
          <a:blip r:embed="rId5"/>
          <a:stretch>
            <a:fillRect/>
          </a:stretch>
        </p:blipFill>
        <p:spPr>
          <a:xfrm>
            <a:off x="923910" y="4288902"/>
            <a:ext cx="639348" cy="639348"/>
          </a:xfrm>
          <a:prstGeom prst="rect">
            <a:avLst/>
          </a:prstGeom>
        </p:spPr>
      </p:pic>
      <p:sp>
        <p:nvSpPr>
          <p:cNvPr id="17" name="Text 12"/>
          <p:cNvSpPr/>
          <p:nvPr/>
        </p:nvSpPr>
        <p:spPr>
          <a:xfrm>
            <a:off x="1874520" y="4224528"/>
            <a:ext cx="3886200" cy="457200"/>
          </a:xfrm>
          <a:prstGeom prst="rect">
            <a:avLst/>
          </a:prstGeom>
          <a:noFill/>
          <a:ln/>
        </p:spPr>
        <p:txBody>
          <a:bodyPr wrap="square" lIns="0" tIns="0" rIns="0" bIns="0" rtlCol="0" anchor="ctr"/>
          <a:lstStyle/>
          <a:p>
            <a:pPr marL="0" indent="0">
              <a:buNone/>
            </a:pPr>
            <a:r>
              <a:rPr lang="en-US" sz="1600" b="1" dirty="0">
                <a:solidFill>
                  <a:srgbClr val="0B3D5C"/>
                </a:solidFill>
                <a:latin typeface="Times New Roman" pitchFamily="34" charset="0"/>
                <a:ea typeface="Times New Roman" pitchFamily="34" charset="-122"/>
                <a:cs typeface="Times New Roman" pitchFamily="34" charset="-120"/>
              </a:rPr>
              <a:t>Customer Service Queues</a:t>
            </a:r>
            <a:endParaRPr lang="en-US" sz="1600" dirty="0"/>
          </a:p>
        </p:txBody>
      </p:sp>
      <p:sp>
        <p:nvSpPr>
          <p:cNvPr id="18" name="Text 13"/>
          <p:cNvSpPr/>
          <p:nvPr/>
        </p:nvSpPr>
        <p:spPr>
          <a:xfrm>
            <a:off x="1874520" y="4709160"/>
            <a:ext cx="3886200" cy="1097280"/>
          </a:xfrm>
          <a:prstGeom prst="rect">
            <a:avLst/>
          </a:prstGeom>
          <a:noFill/>
          <a:ln/>
        </p:spPr>
        <p:txBody>
          <a:bodyPr wrap="square" lIns="0" tIns="0" rIns="0" bIns="0" rtlCol="0" anchor="ctr"/>
          <a:lstStyle/>
          <a:p>
            <a:pPr marL="0" indent="0">
              <a:lnSpc>
                <a:spcPts val="1600"/>
              </a:lnSpc>
              <a:buNone/>
            </a:pPr>
            <a:r>
              <a:rPr lang="en-US" sz="1400" dirty="0">
                <a:solidFill>
                  <a:srgbClr val="1F2A37"/>
                </a:solidFill>
                <a:latin typeface="Times New Roman" pitchFamily="34" charset="0"/>
                <a:ea typeface="Times New Roman" pitchFamily="34" charset="-122"/>
                <a:cs typeface="Times New Roman" pitchFamily="34" charset="-120"/>
              </a:rPr>
              <a:t>Routing callers to agents in arrival order, updating live on hang-ups.</a:t>
            </a:r>
            <a:endParaRPr lang="en-US" sz="1400" dirty="0"/>
          </a:p>
        </p:txBody>
      </p:sp>
      <p:sp>
        <p:nvSpPr>
          <p:cNvPr id="19" name="Shape 14"/>
          <p:cNvSpPr/>
          <p:nvPr/>
        </p:nvSpPr>
        <p:spPr>
          <a:xfrm>
            <a:off x="6263640" y="3931920"/>
            <a:ext cx="5440680" cy="2057400"/>
          </a:xfrm>
          <a:prstGeom prst="roundRect">
            <a:avLst>
              <a:gd name="adj" fmla="val 5333"/>
            </a:avLst>
          </a:prstGeom>
          <a:solidFill>
            <a:srgbClr val="E6F7F6"/>
          </a:solidFill>
          <a:ln/>
        </p:spPr>
      </p:sp>
      <p:sp>
        <p:nvSpPr>
          <p:cNvPr id="20" name="Shape 15"/>
          <p:cNvSpPr/>
          <p:nvPr/>
        </p:nvSpPr>
        <p:spPr>
          <a:xfrm>
            <a:off x="6537960" y="4187952"/>
            <a:ext cx="841248" cy="841248"/>
          </a:xfrm>
          <a:prstGeom prst="ellipse">
            <a:avLst/>
          </a:prstGeom>
          <a:solidFill>
            <a:srgbClr val="0E9594"/>
          </a:solidFill>
          <a:ln/>
        </p:spPr>
      </p:sp>
      <p:pic>
        <p:nvPicPr>
          <p:cNvPr id="21" name="Image 3" descr="icons/tasks_white.png"/>
          <p:cNvPicPr>
            <a:picLocks noChangeAspect="1"/>
          </p:cNvPicPr>
          <p:nvPr/>
        </p:nvPicPr>
        <p:blipFill>
          <a:blip r:embed="rId6"/>
          <a:stretch>
            <a:fillRect/>
          </a:stretch>
        </p:blipFill>
        <p:spPr>
          <a:xfrm>
            <a:off x="6638910" y="4288902"/>
            <a:ext cx="639348" cy="639348"/>
          </a:xfrm>
          <a:prstGeom prst="rect">
            <a:avLst/>
          </a:prstGeom>
        </p:spPr>
      </p:pic>
      <p:sp>
        <p:nvSpPr>
          <p:cNvPr id="22" name="Text 16"/>
          <p:cNvSpPr/>
          <p:nvPr/>
        </p:nvSpPr>
        <p:spPr>
          <a:xfrm>
            <a:off x="7589520" y="4224528"/>
            <a:ext cx="3886200" cy="457200"/>
          </a:xfrm>
          <a:prstGeom prst="rect">
            <a:avLst/>
          </a:prstGeom>
          <a:noFill/>
          <a:ln/>
        </p:spPr>
        <p:txBody>
          <a:bodyPr wrap="square" lIns="0" tIns="0" rIns="0" bIns="0" rtlCol="0" anchor="ctr"/>
          <a:lstStyle/>
          <a:p>
            <a:pPr marL="0" indent="0">
              <a:buNone/>
            </a:pPr>
            <a:r>
              <a:rPr lang="en-US" sz="1600" b="1" dirty="0">
                <a:solidFill>
                  <a:srgbClr val="0B3D5C"/>
                </a:solidFill>
                <a:latin typeface="Times New Roman" pitchFamily="34" charset="0"/>
                <a:ea typeface="Times New Roman" pitchFamily="34" charset="-122"/>
                <a:cs typeface="Times New Roman" pitchFamily="34" charset="-120"/>
              </a:rPr>
              <a:t>Job Scheduling</a:t>
            </a:r>
            <a:endParaRPr lang="en-US" sz="1600" dirty="0"/>
          </a:p>
        </p:txBody>
      </p:sp>
      <p:sp>
        <p:nvSpPr>
          <p:cNvPr id="23" name="Text 17"/>
          <p:cNvSpPr/>
          <p:nvPr/>
        </p:nvSpPr>
        <p:spPr>
          <a:xfrm>
            <a:off x="7589520" y="4709160"/>
            <a:ext cx="3886200" cy="1097280"/>
          </a:xfrm>
          <a:prstGeom prst="rect">
            <a:avLst/>
          </a:prstGeom>
          <a:noFill/>
          <a:ln/>
        </p:spPr>
        <p:txBody>
          <a:bodyPr wrap="square" lIns="0" tIns="0" rIns="0" bIns="0" rtlCol="0" anchor="ctr"/>
          <a:lstStyle/>
          <a:p>
            <a:pPr marL="0" indent="0">
              <a:lnSpc>
                <a:spcPts val="1600"/>
              </a:lnSpc>
              <a:buNone/>
            </a:pPr>
            <a:r>
              <a:rPr lang="en-US" sz="1400" dirty="0">
                <a:solidFill>
                  <a:srgbClr val="1F2A37"/>
                </a:solidFill>
                <a:latin typeface="Times New Roman" pitchFamily="34" charset="0"/>
                <a:ea typeface="Times New Roman" pitchFamily="34" charset="-122"/>
                <a:cs typeface="Times New Roman" pitchFamily="34" charset="-120"/>
              </a:rPr>
              <a:t>Operating systems maintaining a dynamic list of processes awaiting CPU time.</a:t>
            </a:r>
            <a:endParaRPr lang="en-US" sz="1400" dirty="0"/>
          </a:p>
        </p:txBody>
      </p:sp>
      <p:pic>
        <p:nvPicPr>
          <p:cNvPr id="24" name="Image 4" descr="assets/simats_logo.png"/>
          <p:cNvPicPr>
            <a:picLocks noChangeAspect="1"/>
          </p:cNvPicPr>
          <p:nvPr/>
        </p:nvPicPr>
        <p:blipFill>
          <a:blip r:embed="rId7"/>
          <a:stretch>
            <a:fillRect/>
          </a:stretch>
        </p:blipFill>
        <p:spPr>
          <a:xfrm>
            <a:off x="10680192" y="292608"/>
            <a:ext cx="1051560" cy="269932"/>
          </a:xfrm>
          <a:prstGeom prst="rect">
            <a:avLst/>
          </a:prstGeom>
        </p:spPr>
      </p:pic>
      <p:sp>
        <p:nvSpPr>
          <p:cNvPr id="28" name="Text 39">
            <a:extLst>
              <a:ext uri="{FF2B5EF4-FFF2-40B4-BE49-F238E27FC236}">
                <a16:creationId xmlns:a16="http://schemas.microsoft.com/office/drawing/2014/main" id="{EEEB7C2D-C24E-897B-0A2D-964A7140D45C}"/>
              </a:ext>
            </a:extLst>
          </p:cNvPr>
          <p:cNvSpPr/>
          <p:nvPr/>
        </p:nvSpPr>
        <p:spPr>
          <a:xfrm>
            <a:off x="502920" y="6419973"/>
            <a:ext cx="7772400" cy="274320"/>
          </a:xfrm>
          <a:prstGeom prst="rect">
            <a:avLst/>
          </a:prstGeom>
          <a:noFill/>
          <a:ln/>
        </p:spPr>
        <p:txBody>
          <a:bodyPr wrap="square" lIns="0" tIns="0" rIns="0" bIns="0" rtlCol="0" anchor="ctr"/>
          <a:lstStyle/>
          <a:p>
            <a:pPr marL="0" indent="0" algn="l">
              <a:buNone/>
            </a:pPr>
            <a:r>
              <a:rPr lang="en-US" sz="1200" dirty="0">
                <a:solidFill>
                  <a:srgbClr val="5B6B79"/>
                </a:solidFill>
                <a:latin typeface="Times New Roman" pitchFamily="34" charset="0"/>
                <a:ea typeface="Times New Roman" pitchFamily="34" charset="-122"/>
                <a:cs typeface="Times New Roman" pitchFamily="34" charset="-120"/>
              </a:rPr>
              <a:t>CSA0306 | CO1 – AT3 | Variganji Sumanth Babu | Reg No: 192524447</a:t>
            </a:r>
            <a:endParaRPr lang="en-US" sz="1200" dirty="0"/>
          </a:p>
        </p:txBody>
      </p:sp>
      <p:sp>
        <p:nvSpPr>
          <p:cNvPr id="30" name="Text 40">
            <a:extLst>
              <a:ext uri="{FF2B5EF4-FFF2-40B4-BE49-F238E27FC236}">
                <a16:creationId xmlns:a16="http://schemas.microsoft.com/office/drawing/2014/main" id="{AEF2BBC9-B98B-9CF6-6ED9-AF3B056E34CB}"/>
              </a:ext>
            </a:extLst>
          </p:cNvPr>
          <p:cNvSpPr/>
          <p:nvPr/>
        </p:nvSpPr>
        <p:spPr>
          <a:xfrm>
            <a:off x="10680192" y="6419973"/>
            <a:ext cx="1097280" cy="274320"/>
          </a:xfrm>
          <a:prstGeom prst="rect">
            <a:avLst/>
          </a:prstGeom>
          <a:noFill/>
          <a:ln/>
        </p:spPr>
        <p:txBody>
          <a:bodyPr wrap="square" lIns="0" tIns="0" rIns="0" bIns="0" rtlCol="0" anchor="ctr"/>
          <a:lstStyle/>
          <a:p>
            <a:pPr marL="0" indent="0" algn="r">
              <a:buNone/>
            </a:pPr>
            <a:r>
              <a:rPr lang="en-US" sz="1200" dirty="0">
                <a:solidFill>
                  <a:srgbClr val="5B6B79"/>
                </a:solidFill>
                <a:latin typeface="Times New Roman" pitchFamily="34" charset="0"/>
                <a:ea typeface="Times New Roman" pitchFamily="34" charset="-122"/>
                <a:cs typeface="Times New Roman" pitchFamily="34" charset="-120"/>
              </a:rPr>
              <a:t>Slide 9 of 11</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3D5C"/>
        </a:solidFill>
        <a:effectLst/>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0E9594">
              <a:alpha val="65000"/>
            </a:srgbClr>
          </a:solidFill>
          <a:ln/>
        </p:spPr>
      </p:sp>
      <p:sp>
        <p:nvSpPr>
          <p:cNvPr id="3" name="Shape 1"/>
          <p:cNvSpPr/>
          <p:nvPr/>
        </p:nvSpPr>
        <p:spPr>
          <a:xfrm>
            <a:off x="-1188720" y="4937760"/>
            <a:ext cx="3840480" cy="3840480"/>
          </a:xfrm>
          <a:prstGeom prst="roundRect">
            <a:avLst>
              <a:gd name="adj" fmla="val 9524"/>
            </a:avLst>
          </a:prstGeom>
          <a:solidFill>
            <a:srgbClr val="0B5FA5">
              <a:alpha val="60000"/>
            </a:srgbClr>
          </a:solidFill>
          <a:ln/>
        </p:spPr>
      </p:sp>
      <p:sp>
        <p:nvSpPr>
          <p:cNvPr id="4" name="Text 2"/>
          <p:cNvSpPr/>
          <p:nvPr/>
        </p:nvSpPr>
        <p:spPr>
          <a:xfrm>
            <a:off x="640080" y="502920"/>
            <a:ext cx="5486400" cy="320040"/>
          </a:xfrm>
          <a:prstGeom prst="rect">
            <a:avLst/>
          </a:prstGeom>
          <a:noFill/>
          <a:ln/>
        </p:spPr>
        <p:txBody>
          <a:bodyPr wrap="square" lIns="0" tIns="0" rIns="0" bIns="0" rtlCol="0" anchor="ctr"/>
          <a:lstStyle/>
          <a:p>
            <a:pPr marL="0" indent="0">
              <a:buNone/>
            </a:pPr>
            <a:r>
              <a:rPr lang="en-US" sz="1400" b="1" kern="0" spc="200" dirty="0">
                <a:solidFill>
                  <a:srgbClr val="8FD6CC"/>
                </a:solidFill>
                <a:latin typeface="Times New Roman" pitchFamily="34" charset="0"/>
                <a:ea typeface="Times New Roman" pitchFamily="34" charset="-122"/>
                <a:cs typeface="Times New Roman" pitchFamily="34" charset="-120"/>
              </a:rPr>
              <a:t>CONCLUSION</a:t>
            </a:r>
            <a:endParaRPr lang="en-US" sz="1400" dirty="0"/>
          </a:p>
        </p:txBody>
      </p:sp>
      <p:sp>
        <p:nvSpPr>
          <p:cNvPr id="5" name="Text 3"/>
          <p:cNvSpPr/>
          <p:nvPr/>
        </p:nvSpPr>
        <p:spPr>
          <a:xfrm>
            <a:off x="640080" y="822960"/>
            <a:ext cx="9144000" cy="640080"/>
          </a:xfrm>
          <a:prstGeom prst="rect">
            <a:avLst/>
          </a:prstGeom>
          <a:noFill/>
          <a:ln/>
        </p:spPr>
        <p:txBody>
          <a:bodyPr wrap="square" lIns="0" tIns="0" rIns="0" bIns="0" rtlCol="0" anchor="ctr"/>
          <a:lstStyle/>
          <a:p>
            <a:pPr marL="0" indent="0">
              <a:buNone/>
            </a:pPr>
            <a:r>
              <a:rPr lang="en-US" sz="3000" b="1" dirty="0">
                <a:solidFill>
                  <a:srgbClr val="FFFFFF"/>
                </a:solidFill>
                <a:latin typeface="Times New Roman" pitchFamily="34" charset="0"/>
                <a:ea typeface="Times New Roman" pitchFamily="34" charset="-122"/>
                <a:cs typeface="Times New Roman" pitchFamily="34" charset="-120"/>
              </a:rPr>
              <a:t>The Linked List Is the Right Fit</a:t>
            </a:r>
            <a:endParaRPr lang="en-US" sz="3000" dirty="0"/>
          </a:p>
        </p:txBody>
      </p:sp>
      <p:sp>
        <p:nvSpPr>
          <p:cNvPr id="6" name="Text 4"/>
          <p:cNvSpPr/>
          <p:nvPr/>
        </p:nvSpPr>
        <p:spPr>
          <a:xfrm>
            <a:off x="640080" y="1691640"/>
            <a:ext cx="7315200" cy="3017520"/>
          </a:xfrm>
          <a:prstGeom prst="rect">
            <a:avLst/>
          </a:prstGeom>
          <a:noFill/>
          <a:ln/>
        </p:spPr>
        <p:txBody>
          <a:bodyPr wrap="square" lIns="0" tIns="0" rIns="0" bIns="0" rtlCol="0" anchor="ctr"/>
          <a:lstStyle/>
          <a:p>
            <a:pPr marL="203200" indent="-203200">
              <a:lnSpc>
                <a:spcPts val="2200"/>
              </a:lnSpc>
              <a:spcAft>
                <a:spcPts val="900"/>
              </a:spcAft>
              <a:buSzPct val="100000"/>
              <a:buChar char="•"/>
            </a:pPr>
            <a:r>
              <a:rPr lang="en-US" sz="1400" dirty="0">
                <a:solidFill>
                  <a:srgbClr val="E4EEF6"/>
                </a:solidFill>
                <a:latin typeface="Times New Roman" pitchFamily="34" charset="0"/>
                <a:ea typeface="Times New Roman" pitchFamily="34" charset="-122"/>
                <a:cs typeface="Times New Roman" pitchFamily="34" charset="-120"/>
              </a:rPr>
              <a:t>The railway waiting list is inherently dynamic — its length and content change unpredictably with every booking and cancellation.</a:t>
            </a:r>
            <a:endParaRPr lang="en-US" sz="1400" dirty="0"/>
          </a:p>
          <a:p>
            <a:pPr marL="203200" indent="-203200">
              <a:lnSpc>
                <a:spcPts val="2200"/>
              </a:lnSpc>
              <a:spcAft>
                <a:spcPts val="900"/>
              </a:spcAft>
              <a:buSzPct val="100000"/>
              <a:buChar char="•"/>
            </a:pPr>
            <a:r>
              <a:rPr lang="en-US" sz="1400" dirty="0">
                <a:solidFill>
                  <a:srgbClr val="E4EEF6"/>
                </a:solidFill>
                <a:latin typeface="Times New Roman" pitchFamily="34" charset="0"/>
                <a:ea typeface="Times New Roman" pitchFamily="34" charset="-122"/>
                <a:cs typeface="Times New Roman" pitchFamily="34" charset="-120"/>
              </a:rPr>
              <a:t>A singly linked list accommodates this directly: O(1) tail insertion, and O(1) unlinking once a cancelled node is located.</a:t>
            </a:r>
            <a:endParaRPr lang="en-US" sz="1400" dirty="0"/>
          </a:p>
          <a:p>
            <a:pPr marL="203200" indent="-203200">
              <a:lnSpc>
                <a:spcPts val="2200"/>
              </a:lnSpc>
              <a:spcAft>
                <a:spcPts val="900"/>
              </a:spcAft>
              <a:buSzPct val="100000"/>
              <a:buChar char="•"/>
            </a:pPr>
            <a:r>
              <a:rPr lang="en-US" sz="1400" dirty="0">
                <a:solidFill>
                  <a:srgbClr val="E4EEF6"/>
                </a:solidFill>
                <a:latin typeface="Times New Roman" pitchFamily="34" charset="0"/>
                <a:ea typeface="Times New Roman" pitchFamily="34" charset="-122"/>
                <a:cs typeface="Times New Roman" pitchFamily="34" charset="-120"/>
              </a:rPr>
              <a:t>Position renumbering after any change is handled in a single, efficient traversal — O(n) but with minimal, predictable cost.</a:t>
            </a:r>
            <a:endParaRPr lang="en-US" sz="1400" dirty="0"/>
          </a:p>
          <a:p>
            <a:pPr marL="203200" indent="-203200">
              <a:lnSpc>
                <a:spcPts val="2200"/>
              </a:lnSpc>
              <a:spcAft>
                <a:spcPts val="900"/>
              </a:spcAft>
              <a:buSzPct val="100000"/>
              <a:buChar char="•"/>
            </a:pPr>
            <a:r>
              <a:rPr lang="en-US" sz="1400" dirty="0">
                <a:solidFill>
                  <a:srgbClr val="E4EEF6"/>
                </a:solidFill>
                <a:latin typeface="Times New Roman" pitchFamily="34" charset="0"/>
                <a:ea typeface="Times New Roman" pitchFamily="34" charset="-122"/>
                <a:cs typeface="Times New Roman" pitchFamily="34" charset="-120"/>
              </a:rPr>
              <a:t>Compared to arrays and queues, it alone offers the flexibility to grow, shrink and reorder without wasted memory or bulk shifting.</a:t>
            </a:r>
            <a:endParaRPr lang="en-US" sz="1400" dirty="0"/>
          </a:p>
          <a:p>
            <a:pPr marL="203200" indent="-203200">
              <a:lnSpc>
                <a:spcPts val="2200"/>
              </a:lnSpc>
              <a:spcAft>
                <a:spcPts val="900"/>
              </a:spcAft>
              <a:buSzPct val="100000"/>
              <a:buChar char="•"/>
            </a:pPr>
            <a:r>
              <a:rPr lang="en-US" sz="1400" dirty="0">
                <a:solidFill>
                  <a:srgbClr val="E4EEF6"/>
                </a:solidFill>
                <a:latin typeface="Times New Roman" pitchFamily="34" charset="0"/>
                <a:ea typeface="Times New Roman" pitchFamily="34" charset="-122"/>
                <a:cs typeface="Times New Roman" pitchFamily="34" charset="-120"/>
              </a:rPr>
              <a:t>Overall, the linked list delivers the best balance of efficiency, memory economy and real-world correctness for this problem.</a:t>
            </a:r>
            <a:endParaRPr lang="en-US" sz="1400" dirty="0"/>
          </a:p>
        </p:txBody>
      </p:sp>
      <p:sp>
        <p:nvSpPr>
          <p:cNvPr id="7" name="Shape 5"/>
          <p:cNvSpPr/>
          <p:nvPr/>
        </p:nvSpPr>
        <p:spPr>
          <a:xfrm>
            <a:off x="640080" y="5029200"/>
            <a:ext cx="7315200" cy="914400"/>
          </a:xfrm>
          <a:prstGeom prst="roundRect">
            <a:avLst>
              <a:gd name="adj" fmla="val 10000"/>
            </a:avLst>
          </a:prstGeom>
          <a:solidFill>
            <a:srgbClr val="0E9594">
              <a:alpha val="22000"/>
            </a:srgbClr>
          </a:solidFill>
          <a:ln w="12700">
            <a:solidFill>
              <a:srgbClr val="2E7D78"/>
            </a:solidFill>
            <a:prstDash val="solid"/>
          </a:ln>
        </p:spPr>
      </p:sp>
      <p:sp>
        <p:nvSpPr>
          <p:cNvPr id="8" name="Text 6"/>
          <p:cNvSpPr/>
          <p:nvPr/>
        </p:nvSpPr>
        <p:spPr>
          <a:xfrm>
            <a:off x="868680" y="5102352"/>
            <a:ext cx="6858000" cy="777240"/>
          </a:xfrm>
          <a:prstGeom prst="rect">
            <a:avLst/>
          </a:prstGeom>
          <a:noFill/>
          <a:ln/>
        </p:spPr>
        <p:txBody>
          <a:bodyPr wrap="square" lIns="0" tIns="0" rIns="0" bIns="0" rtlCol="0" anchor="ctr"/>
          <a:lstStyle/>
          <a:p>
            <a:pPr marL="0" indent="0">
              <a:lnSpc>
                <a:spcPts val="1900"/>
              </a:lnSpc>
              <a:buNone/>
            </a:pPr>
            <a:r>
              <a:rPr lang="en-US" sz="1400" b="1" i="1" dirty="0">
                <a:solidFill>
                  <a:srgbClr val="17C3A2"/>
                </a:solidFill>
                <a:latin typeface="Times New Roman" pitchFamily="34" charset="0"/>
                <a:ea typeface="Times New Roman" pitchFamily="34" charset="-122"/>
                <a:cs typeface="Times New Roman" pitchFamily="34" charset="-120"/>
              </a:rPr>
              <a:t>Hence, a Singly Linked List is the most suitable data structure for managing a dynamically changing railway reservation waiting list.</a:t>
            </a:r>
            <a:endParaRPr lang="en-US" sz="1400" dirty="0"/>
          </a:p>
        </p:txBody>
      </p:sp>
      <p:sp>
        <p:nvSpPr>
          <p:cNvPr id="9" name="Shape 7"/>
          <p:cNvSpPr/>
          <p:nvPr/>
        </p:nvSpPr>
        <p:spPr>
          <a:xfrm>
            <a:off x="8321040" y="1737360"/>
            <a:ext cx="3291840" cy="4206240"/>
          </a:xfrm>
          <a:prstGeom prst="roundRect">
            <a:avLst>
              <a:gd name="adj" fmla="val 3333"/>
            </a:avLst>
          </a:prstGeom>
          <a:solidFill>
            <a:srgbClr val="FFFFFF">
              <a:alpha val="92000"/>
            </a:srgbClr>
          </a:solidFill>
          <a:ln w="12700">
            <a:solidFill>
              <a:srgbClr val="3E6A8A"/>
            </a:solidFill>
            <a:prstDash val="solid"/>
          </a:ln>
        </p:spPr>
      </p:sp>
      <p:sp>
        <p:nvSpPr>
          <p:cNvPr id="10" name="Text 8"/>
          <p:cNvSpPr/>
          <p:nvPr/>
        </p:nvSpPr>
        <p:spPr>
          <a:xfrm>
            <a:off x="8549640" y="1920240"/>
            <a:ext cx="2834640" cy="274320"/>
          </a:xfrm>
          <a:prstGeom prst="rect">
            <a:avLst/>
          </a:prstGeom>
          <a:noFill/>
          <a:ln/>
        </p:spPr>
        <p:txBody>
          <a:bodyPr wrap="square" lIns="0" tIns="0" rIns="0" bIns="0" rtlCol="0" anchor="ctr"/>
          <a:lstStyle/>
          <a:p>
            <a:pPr marL="0" indent="0">
              <a:buNone/>
            </a:pPr>
            <a:r>
              <a:rPr lang="en-US" sz="1600" b="1" dirty="0">
                <a:solidFill>
                  <a:srgbClr val="8FD6CC"/>
                </a:solidFill>
                <a:latin typeface="Times New Roman" pitchFamily="34" charset="0"/>
                <a:ea typeface="Times New Roman" pitchFamily="34" charset="-122"/>
                <a:cs typeface="Times New Roman" pitchFamily="34" charset="-120"/>
              </a:rPr>
              <a:t>At a Glance</a:t>
            </a:r>
            <a:endParaRPr lang="en-US" sz="1600" dirty="0"/>
          </a:p>
        </p:txBody>
      </p:sp>
      <p:sp>
        <p:nvSpPr>
          <p:cNvPr id="11" name="Text 9"/>
          <p:cNvSpPr/>
          <p:nvPr/>
        </p:nvSpPr>
        <p:spPr>
          <a:xfrm>
            <a:off x="8549640" y="2331720"/>
            <a:ext cx="2834640" cy="502920"/>
          </a:xfrm>
          <a:prstGeom prst="rect">
            <a:avLst/>
          </a:prstGeom>
          <a:noFill/>
          <a:ln/>
        </p:spPr>
        <p:txBody>
          <a:bodyPr wrap="square" lIns="0" tIns="0" rIns="0" bIns="0" rtlCol="0" anchor="ctr"/>
          <a:lstStyle/>
          <a:p>
            <a:pPr marL="0" indent="0">
              <a:buNone/>
            </a:pPr>
            <a:r>
              <a:rPr lang="en-US" sz="2600" b="1" dirty="0">
                <a:solidFill>
                  <a:srgbClr val="17C3A2"/>
                </a:solidFill>
                <a:latin typeface="Times New Roman" pitchFamily="34" charset="0"/>
                <a:ea typeface="Times New Roman" pitchFamily="34" charset="-122"/>
                <a:cs typeface="Times New Roman" pitchFamily="34" charset="-120"/>
              </a:rPr>
              <a:t>O(1)</a:t>
            </a:r>
            <a:endParaRPr lang="en-US" sz="2600" dirty="0"/>
          </a:p>
        </p:txBody>
      </p:sp>
      <p:sp>
        <p:nvSpPr>
          <p:cNvPr id="12" name="Text 10"/>
          <p:cNvSpPr/>
          <p:nvPr/>
        </p:nvSpPr>
        <p:spPr>
          <a:xfrm>
            <a:off x="8549640" y="2834640"/>
            <a:ext cx="2834640" cy="274320"/>
          </a:xfrm>
          <a:prstGeom prst="rect">
            <a:avLst/>
          </a:prstGeom>
          <a:noFill/>
          <a:ln/>
        </p:spPr>
        <p:txBody>
          <a:bodyPr wrap="square" lIns="0" tIns="0" rIns="0" bIns="0" rtlCol="0" anchor="ctr"/>
          <a:lstStyle/>
          <a:p>
            <a:pPr marL="0" indent="0">
              <a:buNone/>
            </a:pPr>
            <a:r>
              <a:rPr lang="en-US" sz="1400" dirty="0">
                <a:solidFill>
                  <a:schemeClr val="accent6">
                    <a:lumMod val="60000"/>
                    <a:lumOff val="40000"/>
                  </a:schemeClr>
                </a:solidFill>
                <a:latin typeface="Times New Roman" pitchFamily="34" charset="0"/>
                <a:ea typeface="Times New Roman" pitchFamily="34" charset="-122"/>
                <a:cs typeface="Times New Roman" pitchFamily="34" charset="-120"/>
              </a:rPr>
              <a:t>Insertion</a:t>
            </a:r>
            <a:endParaRPr lang="en-US" sz="1400" dirty="0">
              <a:solidFill>
                <a:schemeClr val="accent6">
                  <a:lumMod val="60000"/>
                  <a:lumOff val="40000"/>
                </a:schemeClr>
              </a:solidFill>
            </a:endParaRPr>
          </a:p>
        </p:txBody>
      </p:sp>
      <p:sp>
        <p:nvSpPr>
          <p:cNvPr id="13" name="Text 11"/>
          <p:cNvSpPr/>
          <p:nvPr/>
        </p:nvSpPr>
        <p:spPr>
          <a:xfrm>
            <a:off x="8549640" y="3200400"/>
            <a:ext cx="2834640" cy="502920"/>
          </a:xfrm>
          <a:prstGeom prst="rect">
            <a:avLst/>
          </a:prstGeom>
          <a:noFill/>
          <a:ln/>
        </p:spPr>
        <p:txBody>
          <a:bodyPr wrap="square" lIns="0" tIns="0" rIns="0" bIns="0" rtlCol="0" anchor="ctr"/>
          <a:lstStyle/>
          <a:p>
            <a:pPr marL="0" indent="0">
              <a:buNone/>
            </a:pPr>
            <a:r>
              <a:rPr lang="en-US" sz="2600" b="1" dirty="0">
                <a:solidFill>
                  <a:srgbClr val="17C3A2"/>
                </a:solidFill>
                <a:latin typeface="Times New Roman" pitchFamily="34" charset="0"/>
                <a:ea typeface="Times New Roman" pitchFamily="34" charset="-122"/>
                <a:cs typeface="Times New Roman" pitchFamily="34" charset="-120"/>
              </a:rPr>
              <a:t>O(n)</a:t>
            </a:r>
            <a:endParaRPr lang="en-US" sz="2600" dirty="0"/>
          </a:p>
        </p:txBody>
      </p:sp>
      <p:sp>
        <p:nvSpPr>
          <p:cNvPr id="14" name="Text 12"/>
          <p:cNvSpPr/>
          <p:nvPr/>
        </p:nvSpPr>
        <p:spPr>
          <a:xfrm>
            <a:off x="8549640" y="3703320"/>
            <a:ext cx="2834640" cy="274320"/>
          </a:xfrm>
          <a:prstGeom prst="rect">
            <a:avLst/>
          </a:prstGeom>
          <a:noFill/>
          <a:ln/>
        </p:spPr>
        <p:txBody>
          <a:bodyPr wrap="square" lIns="0" tIns="0" rIns="0" bIns="0" rtlCol="0" anchor="ctr"/>
          <a:lstStyle/>
          <a:p>
            <a:pPr marL="0" indent="0">
              <a:buNone/>
            </a:pPr>
            <a:r>
              <a:rPr lang="en-US" sz="1400" dirty="0">
                <a:solidFill>
                  <a:schemeClr val="accent6">
                    <a:lumMod val="60000"/>
                    <a:lumOff val="40000"/>
                  </a:schemeClr>
                </a:solidFill>
                <a:latin typeface="Times New Roman" pitchFamily="34" charset="0"/>
                <a:ea typeface="Times New Roman" pitchFamily="34" charset="-122"/>
                <a:cs typeface="Times New Roman" pitchFamily="34" charset="-120"/>
              </a:rPr>
              <a:t>Deletion</a:t>
            </a:r>
            <a:endParaRPr lang="en-US" sz="1400" dirty="0">
              <a:solidFill>
                <a:schemeClr val="accent6">
                  <a:lumMod val="60000"/>
                  <a:lumOff val="40000"/>
                </a:schemeClr>
              </a:solidFill>
            </a:endParaRPr>
          </a:p>
        </p:txBody>
      </p:sp>
      <p:sp>
        <p:nvSpPr>
          <p:cNvPr id="15" name="Text 13"/>
          <p:cNvSpPr/>
          <p:nvPr/>
        </p:nvSpPr>
        <p:spPr>
          <a:xfrm>
            <a:off x="8549640" y="4069080"/>
            <a:ext cx="2834640" cy="502920"/>
          </a:xfrm>
          <a:prstGeom prst="rect">
            <a:avLst/>
          </a:prstGeom>
          <a:noFill/>
          <a:ln/>
        </p:spPr>
        <p:txBody>
          <a:bodyPr wrap="square" lIns="0" tIns="0" rIns="0" bIns="0" rtlCol="0" anchor="ctr"/>
          <a:lstStyle/>
          <a:p>
            <a:pPr marL="0" indent="0">
              <a:buNone/>
            </a:pPr>
            <a:r>
              <a:rPr lang="en-US" sz="2600" b="1" dirty="0">
                <a:solidFill>
                  <a:srgbClr val="17C3A2"/>
                </a:solidFill>
                <a:latin typeface="Times New Roman" pitchFamily="34" charset="0"/>
                <a:ea typeface="Times New Roman" pitchFamily="34" charset="-122"/>
                <a:cs typeface="Times New Roman" pitchFamily="34" charset="-120"/>
              </a:rPr>
              <a:t>O(n)</a:t>
            </a:r>
            <a:endParaRPr lang="en-US" sz="2600" dirty="0"/>
          </a:p>
        </p:txBody>
      </p:sp>
      <p:sp>
        <p:nvSpPr>
          <p:cNvPr id="16" name="Text 14"/>
          <p:cNvSpPr/>
          <p:nvPr/>
        </p:nvSpPr>
        <p:spPr>
          <a:xfrm>
            <a:off x="8549640" y="4572000"/>
            <a:ext cx="2834640" cy="274320"/>
          </a:xfrm>
          <a:prstGeom prst="rect">
            <a:avLst/>
          </a:prstGeom>
          <a:noFill/>
          <a:ln/>
        </p:spPr>
        <p:txBody>
          <a:bodyPr wrap="square" lIns="0" tIns="0" rIns="0" bIns="0" rtlCol="0" anchor="ctr"/>
          <a:lstStyle/>
          <a:p>
            <a:pPr marL="0" indent="0">
              <a:buNone/>
            </a:pPr>
            <a:r>
              <a:rPr lang="en-US" sz="1400" dirty="0">
                <a:solidFill>
                  <a:schemeClr val="accent6">
                    <a:lumMod val="60000"/>
                    <a:lumOff val="40000"/>
                  </a:schemeClr>
                </a:solidFill>
                <a:latin typeface="Times New Roman" pitchFamily="34" charset="0"/>
                <a:ea typeface="Times New Roman" pitchFamily="34" charset="-122"/>
                <a:cs typeface="Times New Roman" pitchFamily="34" charset="-120"/>
              </a:rPr>
              <a:t>Search</a:t>
            </a:r>
            <a:endParaRPr lang="en-US" sz="1400" dirty="0">
              <a:solidFill>
                <a:schemeClr val="accent6">
                  <a:lumMod val="60000"/>
                  <a:lumOff val="40000"/>
                </a:schemeClr>
              </a:solidFill>
            </a:endParaRPr>
          </a:p>
        </p:txBody>
      </p:sp>
      <p:sp>
        <p:nvSpPr>
          <p:cNvPr id="17" name="Text 15"/>
          <p:cNvSpPr/>
          <p:nvPr/>
        </p:nvSpPr>
        <p:spPr>
          <a:xfrm>
            <a:off x="8549640" y="4937760"/>
            <a:ext cx="2834640" cy="502920"/>
          </a:xfrm>
          <a:prstGeom prst="rect">
            <a:avLst/>
          </a:prstGeom>
          <a:noFill/>
          <a:ln/>
        </p:spPr>
        <p:txBody>
          <a:bodyPr wrap="square" lIns="0" tIns="0" rIns="0" bIns="0" rtlCol="0" anchor="ctr"/>
          <a:lstStyle/>
          <a:p>
            <a:pPr marL="0" indent="0">
              <a:buNone/>
            </a:pPr>
            <a:r>
              <a:rPr lang="en-US" sz="2600" b="1" dirty="0">
                <a:solidFill>
                  <a:srgbClr val="17C3A2"/>
                </a:solidFill>
                <a:latin typeface="Times New Roman" pitchFamily="34" charset="0"/>
                <a:ea typeface="Times New Roman" pitchFamily="34" charset="-122"/>
                <a:cs typeface="Times New Roman" pitchFamily="34" charset="-120"/>
              </a:rPr>
              <a:t>O(n)</a:t>
            </a:r>
            <a:endParaRPr lang="en-US" sz="2600" dirty="0"/>
          </a:p>
        </p:txBody>
      </p:sp>
      <p:sp>
        <p:nvSpPr>
          <p:cNvPr id="18" name="Text 16"/>
          <p:cNvSpPr/>
          <p:nvPr/>
        </p:nvSpPr>
        <p:spPr>
          <a:xfrm>
            <a:off x="8549640" y="5440680"/>
            <a:ext cx="2834640" cy="274320"/>
          </a:xfrm>
          <a:prstGeom prst="rect">
            <a:avLst/>
          </a:prstGeom>
          <a:noFill/>
          <a:ln/>
        </p:spPr>
        <p:txBody>
          <a:bodyPr wrap="square" lIns="0" tIns="0" rIns="0" bIns="0" rtlCol="0" anchor="ctr"/>
          <a:lstStyle/>
          <a:p>
            <a:pPr marL="0" indent="0">
              <a:buNone/>
            </a:pPr>
            <a:r>
              <a:rPr lang="en-US" sz="1400" dirty="0">
                <a:solidFill>
                  <a:schemeClr val="accent6">
                    <a:lumMod val="60000"/>
                    <a:lumOff val="40000"/>
                  </a:schemeClr>
                </a:solidFill>
                <a:latin typeface="Times New Roman" pitchFamily="34" charset="0"/>
                <a:ea typeface="Times New Roman" pitchFamily="34" charset="-122"/>
                <a:cs typeface="Times New Roman" pitchFamily="34" charset="-120"/>
              </a:rPr>
              <a:t>Total Space</a:t>
            </a:r>
            <a:endParaRPr lang="en-US" sz="1400" dirty="0">
              <a:solidFill>
                <a:schemeClr val="accent6">
                  <a:lumMod val="60000"/>
                  <a:lumOff val="40000"/>
                </a:schemeClr>
              </a:solidFill>
            </a:endParaRPr>
          </a:p>
        </p:txBody>
      </p:sp>
      <p:sp>
        <p:nvSpPr>
          <p:cNvPr id="19" name="Shape 17"/>
          <p:cNvSpPr/>
          <p:nvPr/>
        </p:nvSpPr>
        <p:spPr>
          <a:xfrm>
            <a:off x="10561320" y="173736"/>
            <a:ext cx="1289304" cy="507676"/>
          </a:xfrm>
          <a:prstGeom prst="roundRect">
            <a:avLst>
              <a:gd name="adj" fmla="val 10807"/>
            </a:avLst>
          </a:prstGeom>
          <a:solidFill>
            <a:srgbClr val="FFFFFF">
              <a:alpha val="94000"/>
            </a:srgbClr>
          </a:solidFill>
          <a:ln/>
        </p:spPr>
      </p:sp>
      <p:pic>
        <p:nvPicPr>
          <p:cNvPr id="20" name="Image 0" descr="assets/simats_logo.png"/>
          <p:cNvPicPr>
            <a:picLocks noChangeAspect="1"/>
          </p:cNvPicPr>
          <p:nvPr/>
        </p:nvPicPr>
        <p:blipFill>
          <a:blip r:embed="rId3"/>
          <a:stretch>
            <a:fillRect/>
          </a:stretch>
        </p:blipFill>
        <p:spPr>
          <a:xfrm>
            <a:off x="10680192" y="292608"/>
            <a:ext cx="1051560" cy="269932"/>
          </a:xfrm>
          <a:prstGeom prst="rect">
            <a:avLst/>
          </a:prstGeom>
        </p:spPr>
      </p:pic>
      <p:sp>
        <p:nvSpPr>
          <p:cNvPr id="21" name="Text 18"/>
          <p:cNvSpPr/>
          <p:nvPr/>
        </p:nvSpPr>
        <p:spPr>
          <a:xfrm>
            <a:off x="457200" y="6441702"/>
            <a:ext cx="7772400" cy="274320"/>
          </a:xfrm>
          <a:prstGeom prst="rect">
            <a:avLst/>
          </a:prstGeom>
          <a:noFill/>
          <a:ln/>
        </p:spPr>
        <p:txBody>
          <a:bodyPr wrap="square" lIns="0" tIns="0" rIns="0" bIns="0" rtlCol="0" anchor="ctr"/>
          <a:lstStyle/>
          <a:p>
            <a:pPr marL="0" indent="0" algn="l">
              <a:buNone/>
            </a:pPr>
            <a:r>
              <a:rPr lang="en-US" sz="1200" dirty="0">
                <a:solidFill>
                  <a:srgbClr val="AFC6D8"/>
                </a:solidFill>
                <a:latin typeface="Times New Roman" pitchFamily="34" charset="0"/>
                <a:ea typeface="Times New Roman" pitchFamily="34" charset="-122"/>
                <a:cs typeface="Times New Roman" pitchFamily="34" charset="-120"/>
              </a:rPr>
              <a:t>CSA0306 | CO1 – AT3 | Variganji Sumanth Babu | Reg No: 192524447</a:t>
            </a:r>
            <a:endParaRPr lang="en-US" sz="1200" dirty="0"/>
          </a:p>
        </p:txBody>
      </p:sp>
      <p:sp>
        <p:nvSpPr>
          <p:cNvPr id="22" name="Text 19"/>
          <p:cNvSpPr/>
          <p:nvPr/>
        </p:nvSpPr>
        <p:spPr>
          <a:xfrm>
            <a:off x="10634472" y="6441702"/>
            <a:ext cx="1097280" cy="274320"/>
          </a:xfrm>
          <a:prstGeom prst="rect">
            <a:avLst/>
          </a:prstGeom>
          <a:noFill/>
          <a:ln/>
        </p:spPr>
        <p:txBody>
          <a:bodyPr wrap="square" lIns="0" tIns="0" rIns="0" bIns="0" rtlCol="0" anchor="ctr"/>
          <a:lstStyle/>
          <a:p>
            <a:pPr marL="0" indent="0" algn="r">
              <a:buNone/>
            </a:pPr>
            <a:r>
              <a:rPr lang="en-US" sz="1200" dirty="0">
                <a:solidFill>
                  <a:srgbClr val="AFC6D8"/>
                </a:solidFill>
                <a:latin typeface="Times New Roman" pitchFamily="34" charset="0"/>
                <a:ea typeface="Times New Roman" pitchFamily="34" charset="-122"/>
                <a:cs typeface="Times New Roman" pitchFamily="34" charset="-120"/>
              </a:rPr>
              <a:t>Slide 10 of 11</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65760"/>
            <a:ext cx="9144000" cy="320040"/>
          </a:xfrm>
          <a:prstGeom prst="rect">
            <a:avLst/>
          </a:prstGeom>
          <a:noFill/>
          <a:ln/>
        </p:spPr>
        <p:txBody>
          <a:bodyPr wrap="square" lIns="0" tIns="0" rIns="0" bIns="0" rtlCol="0" anchor="ctr"/>
          <a:lstStyle/>
          <a:p>
            <a:pPr marL="0" indent="0">
              <a:buNone/>
            </a:pPr>
            <a:r>
              <a:rPr lang="en-US" sz="1400" b="1" kern="0" spc="200" dirty="0">
                <a:solidFill>
                  <a:srgbClr val="0E9594"/>
                </a:solidFill>
                <a:latin typeface="Times New Roman" pitchFamily="34" charset="0"/>
                <a:ea typeface="Times New Roman" pitchFamily="34" charset="-122"/>
                <a:cs typeface="Times New Roman" pitchFamily="34" charset="-120"/>
              </a:rPr>
              <a:t>DECLARATION</a:t>
            </a:r>
            <a:endParaRPr lang="en-US" sz="1400" dirty="0"/>
          </a:p>
        </p:txBody>
      </p:sp>
      <p:sp>
        <p:nvSpPr>
          <p:cNvPr id="3" name="Text 1"/>
          <p:cNvSpPr/>
          <p:nvPr/>
        </p:nvSpPr>
        <p:spPr>
          <a:xfrm>
            <a:off x="548640" y="658368"/>
            <a:ext cx="9464040" cy="640080"/>
          </a:xfrm>
          <a:prstGeom prst="rect">
            <a:avLst/>
          </a:prstGeom>
          <a:noFill/>
          <a:ln/>
        </p:spPr>
        <p:txBody>
          <a:bodyPr wrap="square" lIns="0" tIns="0" rIns="0" bIns="0" rtlCol="0" anchor="ctr"/>
          <a:lstStyle/>
          <a:p>
            <a:pPr marL="0" indent="0">
              <a:buNone/>
            </a:pPr>
            <a:r>
              <a:rPr lang="en-US" sz="3000" b="1" dirty="0">
                <a:solidFill>
                  <a:srgbClr val="0B3D5C"/>
                </a:solidFill>
                <a:latin typeface="Times New Roman" pitchFamily="34" charset="0"/>
                <a:ea typeface="Times New Roman" pitchFamily="34" charset="-122"/>
                <a:cs typeface="Times New Roman" pitchFamily="34" charset="-120"/>
              </a:rPr>
              <a:t>Academic Integrity Declaration</a:t>
            </a:r>
            <a:endParaRPr lang="en-US" sz="3000" dirty="0"/>
          </a:p>
        </p:txBody>
      </p:sp>
      <p:sp>
        <p:nvSpPr>
          <p:cNvPr id="4" name="Shape 2"/>
          <p:cNvSpPr/>
          <p:nvPr/>
        </p:nvSpPr>
        <p:spPr>
          <a:xfrm>
            <a:off x="1280160" y="1828800"/>
            <a:ext cx="9601200" cy="3246120"/>
          </a:xfrm>
          <a:prstGeom prst="roundRect">
            <a:avLst>
              <a:gd name="adj" fmla="val 3944"/>
            </a:avLst>
          </a:prstGeom>
          <a:solidFill>
            <a:srgbClr val="EAF3FB"/>
          </a:solidFill>
          <a:ln/>
        </p:spPr>
      </p:sp>
      <p:sp>
        <p:nvSpPr>
          <p:cNvPr id="5" name="Shape 3"/>
          <p:cNvSpPr/>
          <p:nvPr/>
        </p:nvSpPr>
        <p:spPr>
          <a:xfrm>
            <a:off x="1600200" y="2103120"/>
            <a:ext cx="640080" cy="640080"/>
          </a:xfrm>
          <a:prstGeom prst="ellipse">
            <a:avLst/>
          </a:prstGeom>
          <a:solidFill>
            <a:srgbClr val="0B5FA5"/>
          </a:solidFill>
          <a:ln/>
        </p:spPr>
      </p:sp>
      <p:pic>
        <p:nvPicPr>
          <p:cNvPr id="6" name="Image 0" descr="icons/clipboard_white.png"/>
          <p:cNvPicPr>
            <a:picLocks noChangeAspect="1"/>
          </p:cNvPicPr>
          <p:nvPr/>
        </p:nvPicPr>
        <p:blipFill>
          <a:blip r:embed="rId3"/>
          <a:stretch>
            <a:fillRect/>
          </a:stretch>
        </p:blipFill>
        <p:spPr>
          <a:xfrm>
            <a:off x="1677010" y="2179930"/>
            <a:ext cx="486461" cy="486461"/>
          </a:xfrm>
          <a:prstGeom prst="rect">
            <a:avLst/>
          </a:prstGeom>
        </p:spPr>
      </p:pic>
      <p:sp>
        <p:nvSpPr>
          <p:cNvPr id="7" name="Text 4"/>
          <p:cNvSpPr/>
          <p:nvPr/>
        </p:nvSpPr>
        <p:spPr>
          <a:xfrm>
            <a:off x="2468880" y="2006799"/>
            <a:ext cx="8138160" cy="1234440"/>
          </a:xfrm>
          <a:prstGeom prst="rect">
            <a:avLst/>
          </a:prstGeom>
          <a:noFill/>
          <a:ln/>
        </p:spPr>
        <p:txBody>
          <a:bodyPr wrap="square" lIns="0" tIns="0" rIns="0" bIns="0" rtlCol="0" anchor="ctr"/>
          <a:lstStyle/>
          <a:p>
            <a:pPr marL="0" indent="0">
              <a:lnSpc>
                <a:spcPts val="2400"/>
              </a:lnSpc>
              <a:buNone/>
            </a:pPr>
            <a:r>
              <a:rPr lang="en-US" sz="1600" i="1" dirty="0">
                <a:solidFill>
                  <a:srgbClr val="1F2A37"/>
                </a:solidFill>
                <a:latin typeface="Times New Roman" pitchFamily="34" charset="0"/>
                <a:ea typeface="Times New Roman" pitchFamily="34" charset="-122"/>
                <a:cs typeface="Times New Roman" pitchFamily="34" charset="-120"/>
              </a:rPr>
              <a:t>I, Variganji Sumanth Babu (Reg No: 192524447), certify that this presentation is my original work and has been prepared according to the assessment guidelines provided by SIMATS.</a:t>
            </a:r>
            <a:endParaRPr lang="en-US" sz="1600" dirty="0"/>
          </a:p>
        </p:txBody>
      </p:sp>
      <p:sp>
        <p:nvSpPr>
          <p:cNvPr id="8" name="Shape 5"/>
          <p:cNvSpPr/>
          <p:nvPr/>
        </p:nvSpPr>
        <p:spPr>
          <a:xfrm>
            <a:off x="2468880" y="3424119"/>
            <a:ext cx="8138160" cy="0"/>
          </a:xfrm>
          <a:prstGeom prst="line">
            <a:avLst/>
          </a:prstGeom>
          <a:noFill/>
          <a:ln w="12700">
            <a:solidFill>
              <a:srgbClr val="BCD4E6"/>
            </a:solidFill>
            <a:prstDash val="solid"/>
          </a:ln>
        </p:spPr>
      </p:sp>
      <p:sp>
        <p:nvSpPr>
          <p:cNvPr id="9" name="Text 6"/>
          <p:cNvSpPr/>
          <p:nvPr/>
        </p:nvSpPr>
        <p:spPr>
          <a:xfrm>
            <a:off x="2468880" y="3652719"/>
            <a:ext cx="3200400" cy="274320"/>
          </a:xfrm>
          <a:prstGeom prst="rect">
            <a:avLst/>
          </a:prstGeom>
          <a:noFill/>
          <a:ln/>
        </p:spPr>
        <p:txBody>
          <a:bodyPr wrap="square" lIns="0" tIns="0" rIns="0" bIns="0" rtlCol="0" anchor="ctr"/>
          <a:lstStyle/>
          <a:p>
            <a:pPr marL="0" indent="0">
              <a:buNone/>
            </a:pPr>
            <a:r>
              <a:rPr lang="en-US" sz="1250" dirty="0">
                <a:solidFill>
                  <a:srgbClr val="5B6B79"/>
                </a:solidFill>
                <a:latin typeface="Times New Roman" pitchFamily="34" charset="0"/>
                <a:ea typeface="Times New Roman" pitchFamily="34" charset="-122"/>
                <a:cs typeface="Times New Roman" pitchFamily="34" charset="-120"/>
              </a:rPr>
              <a:t>Student Signature</a:t>
            </a:r>
            <a:endParaRPr lang="en-US" sz="1250" dirty="0"/>
          </a:p>
        </p:txBody>
      </p:sp>
      <p:sp>
        <p:nvSpPr>
          <p:cNvPr id="10" name="Shape 7"/>
          <p:cNvSpPr/>
          <p:nvPr/>
        </p:nvSpPr>
        <p:spPr>
          <a:xfrm>
            <a:off x="2468880" y="4343400"/>
            <a:ext cx="3108960" cy="0"/>
          </a:xfrm>
          <a:prstGeom prst="line">
            <a:avLst/>
          </a:prstGeom>
          <a:noFill/>
          <a:ln w="12700">
            <a:solidFill>
              <a:srgbClr val="5B6B79"/>
            </a:solidFill>
            <a:prstDash val="solid"/>
          </a:ln>
        </p:spPr>
      </p:sp>
      <p:sp>
        <p:nvSpPr>
          <p:cNvPr id="11" name="Text 8"/>
          <p:cNvSpPr/>
          <p:nvPr/>
        </p:nvSpPr>
        <p:spPr>
          <a:xfrm>
            <a:off x="6400800" y="3652719"/>
            <a:ext cx="2286000" cy="274320"/>
          </a:xfrm>
          <a:prstGeom prst="rect">
            <a:avLst/>
          </a:prstGeom>
          <a:noFill/>
          <a:ln/>
        </p:spPr>
        <p:txBody>
          <a:bodyPr wrap="square" lIns="0" tIns="0" rIns="0" bIns="0" rtlCol="0" anchor="ctr"/>
          <a:lstStyle/>
          <a:p>
            <a:pPr marL="0" indent="0">
              <a:buNone/>
            </a:pPr>
            <a:r>
              <a:rPr lang="en-US" sz="1250" dirty="0">
                <a:solidFill>
                  <a:srgbClr val="5B6B79"/>
                </a:solidFill>
                <a:latin typeface="Times New Roman" pitchFamily="34" charset="0"/>
                <a:ea typeface="Times New Roman" pitchFamily="34" charset="-122"/>
                <a:cs typeface="Times New Roman" pitchFamily="34" charset="-120"/>
              </a:rPr>
              <a:t>Date</a:t>
            </a:r>
            <a:endParaRPr lang="en-US" sz="1250" dirty="0"/>
          </a:p>
        </p:txBody>
      </p:sp>
      <p:sp>
        <p:nvSpPr>
          <p:cNvPr id="12" name="Shape 9"/>
          <p:cNvSpPr/>
          <p:nvPr/>
        </p:nvSpPr>
        <p:spPr>
          <a:xfrm>
            <a:off x="6400800" y="4343400"/>
            <a:ext cx="2286000" cy="0"/>
          </a:xfrm>
          <a:prstGeom prst="line">
            <a:avLst/>
          </a:prstGeom>
          <a:noFill/>
          <a:ln w="12700">
            <a:solidFill>
              <a:srgbClr val="5B6B79"/>
            </a:solidFill>
            <a:prstDash val="solid"/>
          </a:ln>
        </p:spPr>
      </p:sp>
      <p:sp>
        <p:nvSpPr>
          <p:cNvPr id="13" name="Text 10"/>
          <p:cNvSpPr/>
          <p:nvPr/>
        </p:nvSpPr>
        <p:spPr>
          <a:xfrm>
            <a:off x="2468880" y="4429959"/>
            <a:ext cx="8138160" cy="320040"/>
          </a:xfrm>
          <a:prstGeom prst="rect">
            <a:avLst/>
          </a:prstGeom>
          <a:noFill/>
          <a:ln/>
        </p:spPr>
        <p:txBody>
          <a:bodyPr wrap="square" lIns="0" tIns="0" rIns="0" bIns="0" rtlCol="0" anchor="ctr"/>
          <a:lstStyle/>
          <a:p>
            <a:pPr marL="0" indent="0">
              <a:buNone/>
            </a:pPr>
            <a:r>
              <a:rPr lang="en-US" sz="1400" b="1" dirty="0">
                <a:solidFill>
                  <a:srgbClr val="0B3D5C"/>
                </a:solidFill>
                <a:latin typeface="Times New Roman" pitchFamily="34" charset="0"/>
                <a:ea typeface="Times New Roman" pitchFamily="34" charset="-122"/>
                <a:cs typeface="Times New Roman" pitchFamily="34" charset="-120"/>
              </a:rPr>
              <a:t>Variganji Sumanth Babu</a:t>
            </a:r>
            <a:r>
              <a:rPr lang="en-US" sz="1400" dirty="0">
                <a:solidFill>
                  <a:srgbClr val="5B6B79"/>
                </a:solidFill>
                <a:latin typeface="Times New Roman" pitchFamily="34" charset="0"/>
                <a:ea typeface="Times New Roman" pitchFamily="34" charset="-122"/>
                <a:cs typeface="Times New Roman" pitchFamily="34" charset="-120"/>
              </a:rPr>
              <a:t>   |   Reg No: 192524447   |   CSA0306 – Data Structures</a:t>
            </a:r>
            <a:endParaRPr lang="en-US" sz="1400" dirty="0"/>
          </a:p>
        </p:txBody>
      </p:sp>
      <p:pic>
        <p:nvPicPr>
          <p:cNvPr id="14" name="Image 1" descr="assets/simats_logo.png"/>
          <p:cNvPicPr>
            <a:picLocks noChangeAspect="1"/>
          </p:cNvPicPr>
          <p:nvPr/>
        </p:nvPicPr>
        <p:blipFill>
          <a:blip r:embed="rId4"/>
          <a:stretch>
            <a:fillRect/>
          </a:stretch>
        </p:blipFill>
        <p:spPr>
          <a:xfrm>
            <a:off x="10680192" y="292608"/>
            <a:ext cx="1051560" cy="269932"/>
          </a:xfrm>
          <a:prstGeom prst="rect">
            <a:avLst/>
          </a:prstGeom>
        </p:spPr>
      </p:pic>
      <p:pic>
        <p:nvPicPr>
          <p:cNvPr id="18" name="Picture 17">
            <a:extLst>
              <a:ext uri="{FF2B5EF4-FFF2-40B4-BE49-F238E27FC236}">
                <a16:creationId xmlns:a16="http://schemas.microsoft.com/office/drawing/2014/main" id="{9F5A8868-45C6-F30D-9D50-917052E22F2C}"/>
              </a:ext>
            </a:extLst>
          </p:cNvPr>
          <p:cNvPicPr>
            <a:picLocks noChangeAspect="1"/>
          </p:cNvPicPr>
          <p:nvPr/>
        </p:nvPicPr>
        <p:blipFill>
          <a:blip r:embed="rId5"/>
          <a:stretch>
            <a:fillRect/>
          </a:stretch>
        </p:blipFill>
        <p:spPr>
          <a:xfrm>
            <a:off x="3573698" y="3778450"/>
            <a:ext cx="1539403" cy="614978"/>
          </a:xfrm>
          <a:prstGeom prst="rect">
            <a:avLst/>
          </a:prstGeom>
        </p:spPr>
      </p:pic>
      <p:sp>
        <p:nvSpPr>
          <p:cNvPr id="19" name="TextBox 18">
            <a:extLst>
              <a:ext uri="{FF2B5EF4-FFF2-40B4-BE49-F238E27FC236}">
                <a16:creationId xmlns:a16="http://schemas.microsoft.com/office/drawing/2014/main" id="{1EED07C8-4D94-DF11-5413-30C996E4AD92}"/>
              </a:ext>
            </a:extLst>
          </p:cNvPr>
          <p:cNvSpPr txBox="1"/>
          <p:nvPr/>
        </p:nvSpPr>
        <p:spPr>
          <a:xfrm>
            <a:off x="6774098" y="3943083"/>
            <a:ext cx="1382110" cy="338554"/>
          </a:xfrm>
          <a:prstGeom prst="rect">
            <a:avLst/>
          </a:prstGeom>
          <a:noFill/>
        </p:spPr>
        <p:txBody>
          <a:bodyPr wrap="none" rtlCol="0">
            <a:spAutoFit/>
          </a:bodyPr>
          <a:lstStyle/>
          <a:p>
            <a:r>
              <a:rPr lang="en-US" sz="1600" b="1" i="1" dirty="0">
                <a:solidFill>
                  <a:schemeClr val="tx1">
                    <a:lumMod val="85000"/>
                    <a:lumOff val="15000"/>
                  </a:schemeClr>
                </a:solidFill>
                <a:latin typeface="Times New Roman" panose="02020603050405020304" pitchFamily="18" charset="0"/>
                <a:cs typeface="Times New Roman" panose="02020603050405020304" pitchFamily="18" charset="0"/>
              </a:rPr>
              <a:t>15</a:t>
            </a:r>
            <a:r>
              <a:rPr lang="en-US" sz="1600" b="1" i="1" baseline="30000" dirty="0">
                <a:solidFill>
                  <a:schemeClr val="tx1">
                    <a:lumMod val="85000"/>
                    <a:lumOff val="15000"/>
                  </a:schemeClr>
                </a:solidFill>
                <a:latin typeface="Times New Roman" panose="02020603050405020304" pitchFamily="18" charset="0"/>
                <a:cs typeface="Times New Roman" panose="02020603050405020304" pitchFamily="18" charset="0"/>
              </a:rPr>
              <a:t>th</a:t>
            </a:r>
            <a:r>
              <a:rPr lang="en-US" sz="1600" b="1" i="1" dirty="0">
                <a:solidFill>
                  <a:schemeClr val="tx1">
                    <a:lumMod val="85000"/>
                    <a:lumOff val="15000"/>
                  </a:schemeClr>
                </a:solidFill>
                <a:latin typeface="Times New Roman" panose="02020603050405020304" pitchFamily="18" charset="0"/>
                <a:cs typeface="Times New Roman" panose="02020603050405020304" pitchFamily="18" charset="0"/>
              </a:rPr>
              <a:t> July 2026</a:t>
            </a:r>
          </a:p>
        </p:txBody>
      </p:sp>
      <p:sp>
        <p:nvSpPr>
          <p:cNvPr id="23" name="Text 39">
            <a:extLst>
              <a:ext uri="{FF2B5EF4-FFF2-40B4-BE49-F238E27FC236}">
                <a16:creationId xmlns:a16="http://schemas.microsoft.com/office/drawing/2014/main" id="{74897E49-585D-BB42-47C5-D85F131AD8FC}"/>
              </a:ext>
            </a:extLst>
          </p:cNvPr>
          <p:cNvSpPr/>
          <p:nvPr/>
        </p:nvSpPr>
        <p:spPr>
          <a:xfrm>
            <a:off x="502920" y="6419973"/>
            <a:ext cx="7772400" cy="274320"/>
          </a:xfrm>
          <a:prstGeom prst="rect">
            <a:avLst/>
          </a:prstGeom>
          <a:noFill/>
          <a:ln/>
        </p:spPr>
        <p:txBody>
          <a:bodyPr wrap="square" lIns="0" tIns="0" rIns="0" bIns="0" rtlCol="0" anchor="ctr"/>
          <a:lstStyle/>
          <a:p>
            <a:pPr marL="0" indent="0" algn="l">
              <a:buNone/>
            </a:pPr>
            <a:r>
              <a:rPr lang="en-US" sz="1200" dirty="0">
                <a:solidFill>
                  <a:srgbClr val="5B6B79"/>
                </a:solidFill>
                <a:latin typeface="Times New Roman" pitchFamily="34" charset="0"/>
                <a:ea typeface="Times New Roman" pitchFamily="34" charset="-122"/>
                <a:cs typeface="Times New Roman" pitchFamily="34" charset="-120"/>
              </a:rPr>
              <a:t>CSA0306 | CO1 – AT3 | Variganji Sumanth Babu | Reg No: 192524447</a:t>
            </a:r>
            <a:endParaRPr lang="en-US" sz="1200" dirty="0"/>
          </a:p>
        </p:txBody>
      </p:sp>
      <p:sp>
        <p:nvSpPr>
          <p:cNvPr id="25" name="Text 40">
            <a:extLst>
              <a:ext uri="{FF2B5EF4-FFF2-40B4-BE49-F238E27FC236}">
                <a16:creationId xmlns:a16="http://schemas.microsoft.com/office/drawing/2014/main" id="{1ED19AFB-452E-CBD2-F600-91E6604F3D4B}"/>
              </a:ext>
            </a:extLst>
          </p:cNvPr>
          <p:cNvSpPr/>
          <p:nvPr/>
        </p:nvSpPr>
        <p:spPr>
          <a:xfrm>
            <a:off x="10680192" y="6419973"/>
            <a:ext cx="1097280" cy="274320"/>
          </a:xfrm>
          <a:prstGeom prst="rect">
            <a:avLst/>
          </a:prstGeom>
          <a:noFill/>
          <a:ln/>
        </p:spPr>
        <p:txBody>
          <a:bodyPr wrap="square" lIns="0" tIns="0" rIns="0" bIns="0" rtlCol="0" anchor="ctr"/>
          <a:lstStyle/>
          <a:p>
            <a:pPr marL="0" indent="0" algn="r">
              <a:buNone/>
            </a:pPr>
            <a:r>
              <a:rPr lang="en-US" sz="1200" dirty="0">
                <a:solidFill>
                  <a:srgbClr val="5B6B79"/>
                </a:solidFill>
                <a:latin typeface="Times New Roman" pitchFamily="34" charset="0"/>
                <a:ea typeface="Times New Roman" pitchFamily="34" charset="-122"/>
                <a:cs typeface="Times New Roman" pitchFamily="34" charset="-120"/>
              </a:rPr>
              <a:t>Slide 11 of 11</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slow" p14:dur="800">
        <p:fad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2630</Words>
  <Application>Microsoft Office PowerPoint</Application>
  <PresentationFormat>Widescreen</PresentationFormat>
  <Paragraphs>262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Variganji Sumanth Babu</dc:creator>
  <cp:lastModifiedBy>Prameela V</cp:lastModifiedBy>
  <cp:revision>4</cp:revision>
  <dcterms:created xsi:type="dcterms:W3CDTF">2026-07-20T03:45:19Z</dcterms:created>
  <dcterms:modified xsi:type="dcterms:W3CDTF">2026-07-20T04:16:28Z</dcterms:modified>
</cp:coreProperties>
</file>